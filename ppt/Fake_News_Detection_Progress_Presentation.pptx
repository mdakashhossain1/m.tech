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5" r:id="rId4"/>
    <p:sldId id="271" r:id="rId5"/>
    <p:sldId id="266" r:id="rId6"/>
    <p:sldId id="259" r:id="rId7"/>
    <p:sldId id="27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23" autoAdjust="0"/>
  </p:normalViewPr>
  <p:slideViewPr>
    <p:cSldViewPr snapToGrid="0" snapToObjects="1">
      <p:cViewPr varScale="1">
        <p:scale>
          <a:sx n="75" d="100"/>
          <a:sy n="75" d="100"/>
        </p:scale>
        <p:origin x="94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1325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C9D6E8"/>
                </a:solidFill>
                <a:latin typeface="Calibri"/>
              </a:rPr>
              <a:t>TRIPURA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>
                <a:solidFill>
                  <a:srgbClr val="C9D6E8"/>
                </a:solidFill>
                <a:latin typeface="Calibri"/>
              </a:rPr>
              <a:t>Department of Information Technology (IT)</a:t>
            </a:r>
          </a:p>
        </p:txBody>
      </p:sp>
      <p:pic>
        <p:nvPicPr>
          <p:cNvPr id="6" name="Picture 5" descr="slide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359" y="1036397"/>
            <a:ext cx="1025121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423160"/>
            <a:ext cx="10698480" cy="1105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 dirty="0">
                <a:solidFill>
                  <a:srgbClr val="FFFFFF"/>
                </a:solidFill>
                <a:latin typeface="Calibri"/>
              </a:rPr>
              <a:t>Fake News Detection Using Deep Learning</a:t>
            </a:r>
            <a:r>
              <a:rPr lang="en-US" sz="3200" b="1" dirty="0">
                <a:solidFill>
                  <a:srgbClr val="FFFFFF"/>
                </a:solidFill>
                <a:latin typeface="Calibri"/>
              </a:rPr>
              <a:t> &amp; LLM</a:t>
            </a:r>
            <a:r>
              <a:rPr sz="3200" b="1" i="0" dirty="0">
                <a:solidFill>
                  <a:srgbClr val="FFFFFF"/>
                </a:solidFill>
                <a:latin typeface="Calibri"/>
              </a:rPr>
              <a:t>-Hybrid Architectures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86200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 dirty="0" err="1">
                <a:solidFill>
                  <a:srgbClr val="E8B98A"/>
                </a:solidFill>
                <a:latin typeface="Calibri"/>
              </a:rPr>
              <a:t>M.Tech</a:t>
            </a:r>
            <a:r>
              <a:rPr sz="1500" b="0" i="1" dirty="0">
                <a:solidFill>
                  <a:srgbClr val="E8B98A"/>
                </a:solidFill>
                <a:latin typeface="Calibri"/>
              </a:rPr>
              <a:t> Project Progress Presentation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B3CE"/>
                </a:solidFill>
                <a:latin typeface="Calibr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4709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MD Akash Hossain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932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B3CE"/>
                </a:solidFill>
                <a:latin typeface="Calibri"/>
              </a:rPr>
              <a:t>Roll 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509320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250652005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772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B3CE"/>
                </a:solidFill>
                <a:latin typeface="Calibri"/>
              </a:rPr>
              <a:t>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5477256"/>
            <a:ext cx="7772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Calibri"/>
              </a:rPr>
              <a:t>2</a:t>
            </a:r>
            <a:r>
              <a:rPr lang="en-US" sz="1300" baseline="30000" dirty="0">
                <a:solidFill>
                  <a:srgbClr val="FFFFFF"/>
                </a:solidFill>
                <a:latin typeface="Calibri"/>
              </a:rPr>
              <a:t>nd</a:t>
            </a:r>
            <a:r>
              <a:rPr lang="en-US" sz="130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Year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M.Tech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,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6130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FB3CE"/>
                </a:solidFill>
                <a:latin typeface="Calibri"/>
              </a:rPr>
              <a:t>Guided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586130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Dr. Parijata Majumdar, Asst. Professor, Tripura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92430" y="624200"/>
            <a:ext cx="2007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i="0" u="sng" dirty="0">
                <a:solidFill>
                  <a:schemeClr val="tx2">
                    <a:lumMod val="75000"/>
                  </a:schemeClr>
                </a:solidFill>
                <a:latin typeface="Calibri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813" y="1392557"/>
            <a:ext cx="11452374" cy="4707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sz="2800" dirty="0">
                <a:solidFill>
                  <a:srgbClr val="242B36"/>
                </a:solidFill>
                <a:latin typeface="Calibri"/>
              </a:rPr>
              <a:t>• Build an automated system that detects fake news from raw textual data.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sz="2800" dirty="0">
                <a:solidFill>
                  <a:srgbClr val="242B36"/>
                </a:solidFill>
                <a:latin typeface="Calibri"/>
              </a:rPr>
              <a:t>• Study and compare classical ML, deep learning (RNN family) and transformer-based approaches on the same task.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sz="2800" dirty="0">
                <a:solidFill>
                  <a:srgbClr val="242B36"/>
                </a:solidFill>
                <a:latin typeface="Calibri"/>
              </a:rPr>
              <a:t>• Classify news content into Real / Fake with a measurable confidence score.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sz="2800" dirty="0">
                <a:solidFill>
                  <a:srgbClr val="242B36"/>
                </a:solidFill>
                <a:latin typeface="Calibri"/>
              </a:rPr>
              <a:t>• Continuously improve accuracy and reliability by experimenting with new architectures each semester.</a:t>
            </a:r>
          </a:p>
          <a:p>
            <a:pPr algn="just">
              <a:lnSpc>
                <a:spcPct val="120000"/>
              </a:lnSpc>
              <a:spcAft>
                <a:spcPts val="1000"/>
              </a:spcAft>
            </a:pPr>
            <a:r>
              <a:rPr sz="2800" dirty="0">
                <a:solidFill>
                  <a:srgbClr val="242B36"/>
                </a:solidFill>
                <a:latin typeface="Calibri"/>
              </a:rPr>
              <a:t>• Reduce the real-world spread of misinformation on digital platforms through a deployable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8697" y="286742"/>
            <a:ext cx="21142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WORK DONE</a:t>
            </a:r>
            <a:endParaRPr lang="en-US"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37C9D3-F057-66D9-14DC-8FADF46EE45C}"/>
              </a:ext>
            </a:extLst>
          </p:cNvPr>
          <p:cNvSpPr txBox="1"/>
          <p:nvPr/>
        </p:nvSpPr>
        <p:spPr>
          <a:xfrm>
            <a:off x="233463" y="2736502"/>
            <a:ext cx="116440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Implemented </a:t>
            </a:r>
            <a:r>
              <a:rPr lang="en-US" sz="2800" b="1" dirty="0"/>
              <a:t>Fake and Real News Detection</a:t>
            </a:r>
            <a:r>
              <a:rPr lang="en-US" sz="2800" dirty="0"/>
              <a:t> using a </a:t>
            </a:r>
            <a:r>
              <a:rPr lang="en-US" sz="2800" b="1" dirty="0"/>
              <a:t>Local LLM</a:t>
            </a:r>
            <a:r>
              <a:rPr lang="en-US" sz="2800" dirty="0"/>
              <a:t>. The LLM acts as a </a:t>
            </a:r>
            <a:r>
              <a:rPr lang="en-US" sz="2800" b="1" dirty="0"/>
              <a:t>validation layer and guardrail</a:t>
            </a:r>
            <a:r>
              <a:rPr lang="en-US" sz="2800" dirty="0"/>
              <a:t>, significantly improving the system’s accuracy, reliability, and overall detection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580CAC1-5FF2-5E06-5899-30EE70A27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0710943"/>
              </p:ext>
            </p:extLst>
          </p:nvPr>
        </p:nvGraphicFramePr>
        <p:xfrm>
          <a:off x="294640" y="314960"/>
          <a:ext cx="11541760" cy="61163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8352">
                  <a:extLst>
                    <a:ext uri="{9D8B030D-6E8A-4147-A177-3AD203B41FA5}">
                      <a16:colId xmlns:a16="http://schemas.microsoft.com/office/drawing/2014/main" val="1084969851"/>
                    </a:ext>
                  </a:extLst>
                </a:gridCol>
                <a:gridCol w="2308352">
                  <a:extLst>
                    <a:ext uri="{9D8B030D-6E8A-4147-A177-3AD203B41FA5}">
                      <a16:colId xmlns:a16="http://schemas.microsoft.com/office/drawing/2014/main" val="1218746826"/>
                    </a:ext>
                  </a:extLst>
                </a:gridCol>
                <a:gridCol w="2308352">
                  <a:extLst>
                    <a:ext uri="{9D8B030D-6E8A-4147-A177-3AD203B41FA5}">
                      <a16:colId xmlns:a16="http://schemas.microsoft.com/office/drawing/2014/main" val="3605980027"/>
                    </a:ext>
                  </a:extLst>
                </a:gridCol>
                <a:gridCol w="2308352">
                  <a:extLst>
                    <a:ext uri="{9D8B030D-6E8A-4147-A177-3AD203B41FA5}">
                      <a16:colId xmlns:a16="http://schemas.microsoft.com/office/drawing/2014/main" val="3058338568"/>
                    </a:ext>
                  </a:extLst>
                </a:gridCol>
                <a:gridCol w="2308352">
                  <a:extLst>
                    <a:ext uri="{9D8B030D-6E8A-4147-A177-3AD203B41FA5}">
                      <a16:colId xmlns:a16="http://schemas.microsoft.com/office/drawing/2014/main" val="149526454"/>
                    </a:ext>
                  </a:extLst>
                </a:gridCol>
              </a:tblGrid>
              <a:tr h="5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F1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0070774"/>
                  </a:ext>
                </a:extLst>
              </a:tr>
              <a:tr h="5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GRU + </a:t>
                      </a:r>
                      <a:r>
                        <a:rPr lang="en-US" dirty="0" err="1"/>
                        <a:t>BiLSTM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0.9546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0.9694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0.9429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0.9560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0156238"/>
                  </a:ext>
                </a:extLst>
              </a:tr>
              <a:tr h="5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0.9531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0.9596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0.9503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0.9549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462806"/>
                  </a:ext>
                </a:extLst>
              </a:tr>
              <a:tr h="859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GRU +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0.9534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0.9415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0.9548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112193"/>
                  </a:ext>
                </a:extLst>
              </a:tr>
              <a:tr h="530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GRU +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0.9520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0.9454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0.9640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0.9546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482843"/>
                  </a:ext>
                </a:extLst>
              </a:tr>
              <a:tr h="1413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GRU + ResNet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0.9513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0.9672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0.9387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0.9528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715418"/>
                  </a:ext>
                </a:extLst>
              </a:tr>
              <a:tr h="1722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Local 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0.7233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0.9136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0.4933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0.6407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9665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373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28732" y="175241"/>
            <a:ext cx="2529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NEXT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316" y="2103120"/>
            <a:ext cx="1009374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Integrate </a:t>
            </a:r>
            <a:r>
              <a:rPr lang="en-US" sz="2800" b="1" dirty="0"/>
              <a:t>Real-Time Web Search &amp; Fact Verification</a:t>
            </a:r>
            <a:r>
              <a:rPr lang="en-US" sz="2800" dirty="0"/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Support </a:t>
            </a:r>
            <a:r>
              <a:rPr lang="en-US" sz="2800" b="1" dirty="0"/>
              <a:t>Articles, Videos, Images &amp; Text</a:t>
            </a:r>
            <a:r>
              <a:rPr lang="en-US" sz="2800" dirty="0"/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Cross-check claims with </a:t>
            </a:r>
            <a:r>
              <a:rPr lang="en-US" sz="2800" b="1" dirty="0"/>
              <a:t>Online Sources</a:t>
            </a:r>
            <a:r>
              <a:rPr lang="en-US" sz="2800" dirty="0"/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Use the </a:t>
            </a:r>
            <a:r>
              <a:rPr lang="en-US" sz="2800" b="1" dirty="0"/>
              <a:t>Local LLM for Final Verification</a:t>
            </a:r>
            <a:r>
              <a:rPr lang="en-US" sz="2800" dirty="0"/>
              <a:t>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Improve </a:t>
            </a:r>
            <a:r>
              <a:rPr lang="en-US" sz="2800" b="1" dirty="0"/>
              <a:t>Accuracy &amp; Reliability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78971" y="264170"/>
            <a:ext cx="20337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dirty="0"/>
              <a:t>REFERENCES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7EE77B-3E3E-5CDF-0CB2-48786344EABA}"/>
              </a:ext>
            </a:extLst>
          </p:cNvPr>
          <p:cNvSpPr txBox="1"/>
          <p:nvPr/>
        </p:nvSpPr>
        <p:spPr>
          <a:xfrm>
            <a:off x="162712" y="1429978"/>
            <a:ext cx="1186657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1. </a:t>
            </a:r>
            <a:r>
              <a:rPr lang="en-US" sz="2000" dirty="0" err="1"/>
              <a:t>Aphiwongsophon</a:t>
            </a:r>
            <a:r>
              <a:rPr lang="en-US" sz="2000" dirty="0"/>
              <a:t>, S., </a:t>
            </a:r>
            <a:r>
              <a:rPr lang="en-US" sz="2000" dirty="0" err="1"/>
              <a:t>Chongstitvatana</a:t>
            </a:r>
            <a:r>
              <a:rPr lang="en-US" sz="2000" dirty="0"/>
              <a:t>, P.: Detecting fake news with machine learning methods. International Journal of Machine Learning and Computing 11(3), 178–183 (2021)</a:t>
            </a:r>
          </a:p>
          <a:p>
            <a:pPr algn="just"/>
            <a:r>
              <a:rPr lang="en-US" sz="2000" dirty="0"/>
              <a:t>2. Carrasco-</a:t>
            </a:r>
            <a:r>
              <a:rPr lang="en-US" sz="2000" dirty="0" err="1"/>
              <a:t>Farr´e</a:t>
            </a:r>
            <a:r>
              <a:rPr lang="en-US" sz="2000" dirty="0"/>
              <a:t>, C.: The fingerprints of misinformation: How deceptive content differs from accurate information in terms of cognitive biases. Humanities and Social Sciences Communications 9(1), 1–14 (2022)</a:t>
            </a:r>
          </a:p>
          <a:p>
            <a:pPr algn="just"/>
            <a:r>
              <a:rPr lang="en-US" sz="2000" dirty="0"/>
              <a:t>3. Huang, Y.F., Chen, P.H.: Fake news detection using an ensemble learning model based on self-adaptive harmony search algorithms. Expert Systems with Applications 159, 113584 (2020)</a:t>
            </a:r>
          </a:p>
          <a:p>
            <a:pPr algn="just"/>
            <a:r>
              <a:rPr lang="en-US" sz="2000" dirty="0"/>
              <a:t>4. </a:t>
            </a:r>
            <a:r>
              <a:rPr lang="en-US" sz="2000" dirty="0" err="1"/>
              <a:t>Kaliyar</a:t>
            </a:r>
            <a:r>
              <a:rPr lang="en-US" sz="2000" dirty="0"/>
              <a:t>, R.K., Goswami, A., Narang, P., Sinha, S.: </a:t>
            </a:r>
            <a:r>
              <a:rPr lang="en-US" sz="2000" dirty="0" err="1"/>
              <a:t>Fakebert</a:t>
            </a:r>
            <a:r>
              <a:rPr lang="en-US" sz="2000" dirty="0"/>
              <a:t>: Fake news detection in social media with a </a:t>
            </a:r>
            <a:r>
              <a:rPr lang="en-US" sz="2000" dirty="0" err="1"/>
              <a:t>bert</a:t>
            </a:r>
            <a:r>
              <a:rPr lang="en-US" sz="2000" dirty="0"/>
              <a:t>-based deep learning approach. Multimedia Tools and Applications 80(8), 11765–11788 (2021)</a:t>
            </a:r>
          </a:p>
          <a:p>
            <a:pPr algn="just"/>
            <a:r>
              <a:rPr lang="en-US" sz="2000" dirty="0"/>
              <a:t>5. </a:t>
            </a:r>
            <a:r>
              <a:rPr lang="en-US" sz="2000" dirty="0" err="1"/>
              <a:t>Kaliyar</a:t>
            </a:r>
            <a:r>
              <a:rPr lang="en-US" sz="2000" dirty="0"/>
              <a:t>, R.K., Goswami, A., Narang, P., Sinha, S.: </a:t>
            </a:r>
            <a:r>
              <a:rPr lang="en-US" sz="2000" dirty="0" err="1"/>
              <a:t>Fakebert</a:t>
            </a:r>
            <a:r>
              <a:rPr lang="en-US" sz="2000" dirty="0"/>
              <a:t>: Fake news detection in social media with a </a:t>
            </a:r>
            <a:r>
              <a:rPr lang="en-US" sz="2000" dirty="0" err="1"/>
              <a:t>bert</a:t>
            </a:r>
            <a:r>
              <a:rPr lang="en-US" sz="2000" dirty="0"/>
              <a:t>-based deep learning approach. Multimedia Tools and Applications 80(8), 11765–11788 (2021)</a:t>
            </a:r>
          </a:p>
          <a:p>
            <a:pPr algn="just"/>
            <a:r>
              <a:rPr lang="en-US" sz="2000" dirty="0"/>
              <a:t>6. Lewis, P., Perez, E., </a:t>
            </a:r>
            <a:r>
              <a:rPr lang="en-US" sz="2000" dirty="0" err="1"/>
              <a:t>Piktus</a:t>
            </a:r>
            <a:r>
              <a:rPr lang="en-US" sz="2000" dirty="0"/>
              <a:t>, A., Petroni, F., </a:t>
            </a:r>
            <a:r>
              <a:rPr lang="en-US" sz="2000" dirty="0" err="1"/>
              <a:t>Karpukhin</a:t>
            </a:r>
            <a:r>
              <a:rPr lang="en-US" sz="2000" dirty="0"/>
              <a:t>, V., Goyal, N., </a:t>
            </a:r>
            <a:r>
              <a:rPr lang="en-US" sz="2000" dirty="0" err="1"/>
              <a:t>K¨uttler</a:t>
            </a:r>
            <a:r>
              <a:rPr lang="en-US" sz="2000" dirty="0"/>
              <a:t>, H., Lewis, M., Yih, </a:t>
            </a:r>
            <a:r>
              <a:rPr lang="en-US" sz="2000" dirty="0" err="1"/>
              <a:t>W.t.</a:t>
            </a:r>
            <a:r>
              <a:rPr lang="en-US" sz="2000" dirty="0"/>
              <a:t>, </a:t>
            </a:r>
            <a:r>
              <a:rPr lang="en-US" sz="2000" dirty="0" err="1"/>
              <a:t>Rockt¨aschel</a:t>
            </a:r>
            <a:r>
              <a:rPr lang="en-US" sz="2000" dirty="0"/>
              <a:t>, T., et al.: Retrieval-augmented generation for knowledge-intensive </a:t>
            </a:r>
            <a:r>
              <a:rPr lang="en-US" sz="2000" dirty="0" err="1"/>
              <a:t>nlp</a:t>
            </a:r>
            <a:r>
              <a:rPr lang="en-US" sz="2000" dirty="0"/>
              <a:t> tasks. Advances in Neural Information Processing Systems 33, 9459–9474 (2020)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 dirty="0">
                <a:solidFill>
                  <a:srgbClr val="E87A1E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517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ARKNOX</cp:lastModifiedBy>
  <cp:revision>5</cp:revision>
  <dcterms:created xsi:type="dcterms:W3CDTF">2013-01-27T09:14:16Z</dcterms:created>
  <dcterms:modified xsi:type="dcterms:W3CDTF">2026-09-07T04:14:37Z</dcterms:modified>
  <cp:category/>
</cp:coreProperties>
</file>