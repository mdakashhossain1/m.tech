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0"/>
  </p:notesMasterIdLst>
  <p:sldIdLst>
    <p:sldId id="256" r:id="rId2"/>
    <p:sldId id="257" r:id="rId3"/>
    <p:sldId id="258" r:id="rId4"/>
    <p:sldId id="259" r:id="rId5"/>
    <p:sldId id="267" r:id="rId6"/>
    <p:sldId id="268" r:id="rId7"/>
    <p:sldId id="265" r:id="rId8"/>
    <p:sldId id="266" r:id="rId9"/>
    <p:sldId id="269" r:id="rId10"/>
    <p:sldId id="270" r:id="rId11"/>
    <p:sldId id="271" r:id="rId12"/>
    <p:sldId id="272" r:id="rId13"/>
    <p:sldId id="273" r:id="rId14"/>
    <p:sldId id="274" r:id="rId15"/>
    <p:sldId id="277" r:id="rId16"/>
    <p:sldId id="275" r:id="rId17"/>
    <p:sldId id="276" r:id="rId18"/>
    <p:sldId id="264" r:id="rId19"/>
  </p:sldIdLst>
  <p:sldSz cx="12188825" cy="6858000"/>
  <p:notesSz cx="6858000" cy="9144000"/>
  <p:embeddedFontLst>
    <p:embeddedFont>
      <p:font typeface="Cambria Math" panose="02040503050406030204" pitchFamily="18" charset="0"/>
      <p:regular r:id="rId21"/>
    </p:embeddedFont>
    <p:embeddedFont>
      <p:font typeface="Garamond" panose="02020404030301010803" pitchFamily="18" charset="0"/>
      <p:regular r:id="rId22"/>
      <p:bold r:id="rId23"/>
      <p:italic r:id="rId24"/>
    </p:embeddedFont>
    <p:embeddedFont>
      <p:font typeface="Pacifico" panose="00000500000000000000" pitchFamily="2" charset="0"/>
      <p:regular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E396361-EF2A-4117-90E1-9A5ED76B8976}">
          <p14:sldIdLst>
            <p14:sldId id="256"/>
            <p14:sldId id="257"/>
            <p14:sldId id="258"/>
            <p14:sldId id="259"/>
          </p14:sldIdLst>
        </p14:section>
        <p14:section name="Untitled Section" id="{B6C07FD4-1771-4381-B53A-4073FCBEE086}">
          <p14:sldIdLst>
            <p14:sldId id="267"/>
          </p14:sldIdLst>
        </p14:section>
        <p14:section name="Untitled Section" id="{C0C8B153-9016-4912-AC4E-6B23CCDDD065}">
          <p14:sldIdLst>
            <p14:sldId id="268"/>
            <p14:sldId id="265"/>
            <p14:sldId id="266"/>
            <p14:sldId id="269"/>
            <p14:sldId id="270"/>
            <p14:sldId id="271"/>
            <p14:sldId id="272"/>
            <p14:sldId id="273"/>
            <p14:sldId id="274"/>
            <p14:sldId id="277"/>
            <p14:sldId id="275"/>
            <p14:sldId id="276"/>
            <p14:sldId id="264"/>
          </p14:sldIdLst>
        </p14:section>
      </p14:sectionLst>
    </p:ex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gtM8XJjM8zdr6bYdf5TclQ60lPI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5CAF45-495E-4290-BA0B-D302A5A92D60}" v="1" dt="2026-03-11T17:57:32.453"/>
  </p1510:revLst>
</p1510:revInfo>
</file>

<file path=ppt/tableStyles.xml><?xml version="1.0" encoding="utf-8"?>
<a:tblStyleLst xmlns:a="http://schemas.openxmlformats.org/drawingml/2006/main" def="{BD54F26B-3E28-4110-90A1-850C00B8E97F}">
  <a:tblStyle styleId="{BD54F26B-3E28-4110-90A1-850C00B8E97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234" y="21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c58536ff43_0_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c58536ff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c58536ff43_0_8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c58536ff43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58536ff43_0_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c58536ff4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c58536ff43_0_1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c58536ff4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B411328-8CDA-6EB0-C260-F9A569E3023E}"/>
            </a:ext>
          </a:extLst>
        </p:cNvPr>
        <p:cNvGrpSpPr/>
        <p:nvPr/>
      </p:nvGrpSpPr>
      <p:grpSpPr>
        <a:xfrm>
          <a:off x="0" y="0"/>
          <a:ext cx="0" cy="0"/>
          <a:chOff x="0" y="0"/>
          <a:chExt cx="0" cy="0"/>
        </a:xfrm>
      </p:grpSpPr>
      <p:sp>
        <p:nvSpPr>
          <p:cNvPr id="111" name="Google Shape;111;g3c58536ff43_0_10:notes">
            <a:extLst>
              <a:ext uri="{FF2B5EF4-FFF2-40B4-BE49-F238E27FC236}">
                <a16:creationId xmlns:a16="http://schemas.microsoft.com/office/drawing/2014/main" id="{ECAD02ED-2272-E957-3D54-BB409CF625E0}"/>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c58536ff43_0_10:notes">
            <a:extLst>
              <a:ext uri="{FF2B5EF4-FFF2-40B4-BE49-F238E27FC236}">
                <a16:creationId xmlns:a16="http://schemas.microsoft.com/office/drawing/2014/main" id="{DA0F884A-58AE-EE1F-F90F-C235364FA5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6655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c58536ff43_0_6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c58536ff43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0" y="0"/>
            <a:ext cx="12227975"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1697" y="1871132"/>
            <a:ext cx="6813894" cy="1515533"/>
          </a:xfrm>
        </p:spPr>
        <p:txBody>
          <a:bodyPr anchor="b">
            <a:noAutofit/>
          </a:bodyPr>
          <a:lstStyle>
            <a:lvl1pPr algn="ctr">
              <a:defRPr sz="5398">
                <a:effectLst/>
              </a:defRPr>
            </a:lvl1pPr>
          </a:lstStyle>
          <a:p>
            <a:r>
              <a:rPr lang="en-US"/>
              <a:t>Click to edit Master title style</a:t>
            </a:r>
            <a:endParaRPr lang="en-US" dirty="0"/>
          </a:p>
        </p:txBody>
      </p:sp>
      <p:sp>
        <p:nvSpPr>
          <p:cNvPr id="3" name="Subtitle 2"/>
          <p:cNvSpPr>
            <a:spLocks noGrp="1"/>
          </p:cNvSpPr>
          <p:nvPr>
            <p:ph type="subTitle" idx="1"/>
          </p:nvPr>
        </p:nvSpPr>
        <p:spPr>
          <a:xfrm>
            <a:off x="2691697" y="3657597"/>
            <a:ext cx="6813894" cy="1320802"/>
          </a:xfrm>
        </p:spPr>
        <p:txBody>
          <a:bodyPr anchor="t">
            <a:normAutofit/>
          </a:bodyPr>
          <a:lstStyle>
            <a:lvl1pPr marL="0" indent="0" algn="ctr">
              <a:buNone/>
              <a:defRPr sz="2099">
                <a:solidFill>
                  <a:schemeClr val="tx1"/>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1154" y="5037663"/>
            <a:ext cx="897233" cy="279400"/>
          </a:xfrm>
        </p:spPr>
        <p:txBody>
          <a:bodyPr/>
          <a:lstStyle/>
          <a:p>
            <a:endParaRPr lang="en-US"/>
          </a:p>
        </p:txBody>
      </p:sp>
      <p:sp>
        <p:nvSpPr>
          <p:cNvPr id="5" name="Footer Placeholder 4"/>
          <p:cNvSpPr>
            <a:spLocks noGrp="1"/>
          </p:cNvSpPr>
          <p:nvPr>
            <p:ph type="ftr" sz="quarter" idx="11"/>
          </p:nvPr>
        </p:nvSpPr>
        <p:spPr>
          <a:xfrm>
            <a:off x="2691696" y="5037663"/>
            <a:ext cx="5213277" cy="279400"/>
          </a:xfrm>
        </p:spPr>
        <p:txBody>
          <a:bodyPr/>
          <a:lstStyle/>
          <a:p>
            <a:endParaRPr lang="en-US"/>
          </a:p>
        </p:txBody>
      </p:sp>
      <p:sp>
        <p:nvSpPr>
          <p:cNvPr id="6" name="Slide Number Placeholder 5"/>
          <p:cNvSpPr>
            <a:spLocks noGrp="1"/>
          </p:cNvSpPr>
          <p:nvPr>
            <p:ph type="sldNum" sz="quarter" idx="12"/>
          </p:nvPr>
        </p:nvSpPr>
        <p:spPr>
          <a:xfrm>
            <a:off x="8954568" y="5037663"/>
            <a:ext cx="551023" cy="279400"/>
          </a:xfrm>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5" name="Straight Connector 14"/>
          <p:cNvCxnSpPr/>
          <p:nvPr/>
        </p:nvCxnSpPr>
        <p:spPr>
          <a:xfrm>
            <a:off x="2691698" y="3522131"/>
            <a:ext cx="6813893"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4080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5806" y="2421466"/>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31710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4544" y="1752606"/>
            <a:ext cx="8156563" cy="1822514"/>
          </a:xfrm>
        </p:spPr>
        <p:txBody>
          <a:bodyPr anchor="b">
            <a:normAutofit/>
          </a:bodyPr>
          <a:lstStyle>
            <a:lvl1pPr algn="ctr">
              <a:defRPr sz="4399" b="0" cap="none"/>
            </a:lvl1pPr>
          </a:lstStyle>
          <a:p>
            <a:r>
              <a:rPr lang="en-US"/>
              <a:t>Click to edit Master title style</a:t>
            </a:r>
            <a:endParaRPr lang="en-US" dirty="0"/>
          </a:p>
        </p:txBody>
      </p:sp>
      <p:sp>
        <p:nvSpPr>
          <p:cNvPr id="3" name="Text Placeholder 2"/>
          <p:cNvSpPr>
            <a:spLocks noGrp="1"/>
          </p:cNvSpPr>
          <p:nvPr>
            <p:ph type="body" idx="1"/>
          </p:nvPr>
        </p:nvSpPr>
        <p:spPr>
          <a:xfrm>
            <a:off x="2014542" y="3846052"/>
            <a:ext cx="8156565" cy="954547"/>
          </a:xfrm>
        </p:spPr>
        <p:txBody>
          <a:bodyPr anchor="t">
            <a:normAutofit/>
          </a:bodyPr>
          <a:lstStyle>
            <a:lvl1pPr marL="0" indent="0" algn="ctr">
              <a:buNone/>
              <a:defRPr sz="23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6" name="Straight Connector 15"/>
          <p:cNvCxnSpPr/>
          <p:nvPr/>
        </p:nvCxnSpPr>
        <p:spPr>
          <a:xfrm>
            <a:off x="2012199" y="3710585"/>
            <a:ext cx="816125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0838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5806" y="2421466"/>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110" y="2560320"/>
            <a:ext cx="4717075"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9734" y="2560320"/>
            <a:ext cx="4717075"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78320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063" y="2658533"/>
            <a:ext cx="4717075" cy="576262"/>
          </a:xfrm>
        </p:spPr>
        <p:txBody>
          <a:bodyPr anchor="b">
            <a:noAutofit/>
          </a:bodyPr>
          <a:lstStyle>
            <a:lvl1pPr marL="0" indent="0">
              <a:spcBef>
                <a:spcPts val="672"/>
              </a:spcBef>
              <a:spcAft>
                <a:spcPts val="600"/>
              </a:spcAft>
              <a:buNone/>
              <a:defRPr sz="2799" b="0">
                <a:solidFill>
                  <a:schemeClr val="accent1"/>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063" y="3243263"/>
            <a:ext cx="4717075"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9061" y="2658533"/>
            <a:ext cx="4717075" cy="576262"/>
          </a:xfrm>
        </p:spPr>
        <p:txBody>
          <a:bodyPr anchor="b">
            <a:noAutofit/>
          </a:bodyPr>
          <a:lstStyle>
            <a:lvl1pPr marL="0" indent="0">
              <a:spcBef>
                <a:spcPts val="672"/>
              </a:spcBef>
              <a:spcAft>
                <a:spcPts val="600"/>
              </a:spcAft>
              <a:buNone/>
              <a:defRPr sz="2799" b="0">
                <a:solidFill>
                  <a:schemeClr val="accent1"/>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9061" y="3243263"/>
            <a:ext cx="4717075"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8" name="Straight Connector 17"/>
          <p:cNvCxnSpPr/>
          <p:nvPr/>
        </p:nvCxnSpPr>
        <p:spPr>
          <a:xfrm>
            <a:off x="1395806" y="2421466"/>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8266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4" name="Straight Connector 13"/>
          <p:cNvCxnSpPr/>
          <p:nvPr/>
        </p:nvCxnSpPr>
        <p:spPr>
          <a:xfrm>
            <a:off x="1395806" y="2421466"/>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8475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37869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474" y="1388534"/>
            <a:ext cx="3717487" cy="1371600"/>
          </a:xfrm>
        </p:spPr>
        <p:txBody>
          <a:bodyPr anchor="b">
            <a:normAutofit/>
          </a:bodyPr>
          <a:lstStyle>
            <a:lvl1pPr algn="ctr">
              <a:defRPr sz="2399" b="0"/>
            </a:lvl1pPr>
          </a:lstStyle>
          <a:p>
            <a:r>
              <a:rPr lang="en-US"/>
              <a:t>Click to edit Master title style</a:t>
            </a:r>
            <a:endParaRPr lang="en-US" dirty="0"/>
          </a:p>
        </p:txBody>
      </p:sp>
      <p:sp>
        <p:nvSpPr>
          <p:cNvPr id="3" name="Content Placeholder 2"/>
          <p:cNvSpPr>
            <a:spLocks noGrp="1"/>
          </p:cNvSpPr>
          <p:nvPr>
            <p:ph idx="1"/>
          </p:nvPr>
        </p:nvSpPr>
        <p:spPr>
          <a:xfrm>
            <a:off x="5417257" y="982132"/>
            <a:ext cx="5468042"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474" y="3031065"/>
            <a:ext cx="3717487" cy="2438404"/>
          </a:xfrm>
        </p:spPr>
        <p:txBody>
          <a:bodyPr anchor="t">
            <a:normAutofit/>
          </a:bodyPr>
          <a:lstStyle>
            <a:lvl1pPr marL="0" indent="0" algn="ctr">
              <a:buNone/>
              <a:defRPr sz="16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6" name="Straight Connector 15"/>
          <p:cNvCxnSpPr/>
          <p:nvPr/>
        </p:nvCxnSpPr>
        <p:spPr>
          <a:xfrm>
            <a:off x="1395805" y="2912533"/>
            <a:ext cx="35135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7201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061" y="1883832"/>
            <a:ext cx="6240191" cy="1371600"/>
          </a:xfrm>
        </p:spPr>
        <p:txBody>
          <a:bodyPr anchor="b">
            <a:normAutofit/>
          </a:bodyPr>
          <a:lstStyle>
            <a:lvl1pPr algn="ctr">
              <a:defRPr sz="2799"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2724" y="1041400"/>
            <a:ext cx="3062549"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061" y="3255432"/>
            <a:ext cx="6240191" cy="1828800"/>
          </a:xfrm>
        </p:spPr>
        <p:txBody>
          <a:bodyPr anchor="t">
            <a:normAutofit/>
          </a:bodyPr>
          <a:lstStyle>
            <a:lvl1pPr marL="0" indent="0" algn="ctr">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7036044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064" y="4815415"/>
            <a:ext cx="9607163" cy="566738"/>
          </a:xfrm>
        </p:spPr>
        <p:txBody>
          <a:bodyPr anchor="b">
            <a:normAutofit/>
          </a:bodyPr>
          <a:lstStyle>
            <a:lvl1pPr algn="ctr">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156" y="1041400"/>
            <a:ext cx="10103340"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064" y="5382153"/>
            <a:ext cx="9607163" cy="493712"/>
          </a:xfrm>
        </p:spPr>
        <p:txBody>
          <a:bodyPr>
            <a:normAutofit/>
          </a:bodyPr>
          <a:lstStyle>
            <a:lvl1pPr marL="0" indent="0" algn="ctr">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2978497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528" y="982132"/>
            <a:ext cx="9590234" cy="2954868"/>
          </a:xfrm>
        </p:spPr>
        <p:txBody>
          <a:bodyPr anchor="ctr">
            <a:normAutofit/>
          </a:bodyPr>
          <a:lstStyle>
            <a:lvl1pPr algn="ctr">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1303528" y="4343400"/>
            <a:ext cx="9590234" cy="1532467"/>
          </a:xfrm>
        </p:spPr>
        <p:txBody>
          <a:bodyPr anchor="ctr">
            <a:normAutofit/>
          </a:bodyPr>
          <a:lstStyle>
            <a:lvl1pPr marL="0" indent="0" algn="ct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5" name="Straight Connector 14"/>
          <p:cNvCxnSpPr/>
          <p:nvPr/>
        </p:nvCxnSpPr>
        <p:spPr>
          <a:xfrm>
            <a:off x="1395806" y="4140199"/>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372765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5836" y="982132"/>
            <a:ext cx="9293977" cy="2370668"/>
          </a:xfrm>
        </p:spPr>
        <p:txBody>
          <a:bodyPr anchor="ctr">
            <a:normAutofit/>
          </a:bodyPr>
          <a:lstStyle>
            <a:lvl1pPr algn="ctr">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376" y="3352800"/>
            <a:ext cx="8836900" cy="584200"/>
          </a:xfrm>
        </p:spPr>
        <p:txBody>
          <a:bodyPr anchor="ctr">
            <a:normAutofit/>
          </a:bodyPr>
          <a:lstStyle>
            <a:lvl1pPr marL="0" indent="0" algn="r">
              <a:buFontTx/>
              <a:buNone/>
              <a:defRPr sz="1999"/>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1295064" y="4343400"/>
            <a:ext cx="9607163" cy="1532467"/>
          </a:xfrm>
        </p:spPr>
        <p:txBody>
          <a:bodyPr anchor="ctr">
            <a:normAutofit/>
          </a:bodyPr>
          <a:lstStyle>
            <a:lvl1pPr marL="0" indent="0" algn="ct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4" name="TextBox 13"/>
          <p:cNvSpPr txBox="1"/>
          <p:nvPr/>
        </p:nvSpPr>
        <p:spPr>
          <a:xfrm>
            <a:off x="861789" y="879961"/>
            <a:ext cx="609441" cy="584776"/>
          </a:xfrm>
          <a:prstGeom prst="rect">
            <a:avLst/>
          </a:prstGeom>
        </p:spPr>
        <p:txBody>
          <a:bodyPr vert="horz" lIns="91416" tIns="45708" rIns="91416" bIns="45708" rtlCol="0" anchor="ctr">
            <a:noAutofit/>
          </a:bodyPr>
          <a:lstStyle/>
          <a:p>
            <a:pPr lvl="0"/>
            <a:r>
              <a:rPr lang="en-US" sz="7998" dirty="0">
                <a:solidFill>
                  <a:schemeClr val="tx1"/>
                </a:solidFill>
                <a:effectLst/>
              </a:rPr>
              <a:t>“</a:t>
            </a:r>
          </a:p>
        </p:txBody>
      </p:sp>
      <p:sp>
        <p:nvSpPr>
          <p:cNvPr id="15" name="TextBox 14"/>
          <p:cNvSpPr txBox="1"/>
          <p:nvPr/>
        </p:nvSpPr>
        <p:spPr>
          <a:xfrm>
            <a:off x="10597507" y="2827870"/>
            <a:ext cx="609441" cy="584776"/>
          </a:xfrm>
          <a:prstGeom prst="rect">
            <a:avLst/>
          </a:prstGeom>
        </p:spPr>
        <p:txBody>
          <a:bodyPr vert="horz" lIns="91416" tIns="45708" rIns="91416" bIns="45708" rtlCol="0" anchor="ctr">
            <a:noAutofit/>
          </a:bodyPr>
          <a:lstStyle/>
          <a:p>
            <a:pPr lvl="0" algn="r"/>
            <a:r>
              <a:rPr lang="en-US" sz="7998" dirty="0">
                <a:solidFill>
                  <a:schemeClr val="tx1"/>
                </a:solidFill>
                <a:effectLst/>
              </a:rPr>
              <a:t>”</a:t>
            </a:r>
          </a:p>
        </p:txBody>
      </p:sp>
      <p:cxnSp>
        <p:nvCxnSpPr>
          <p:cNvPr id="19" name="Straight Connector 18"/>
          <p:cNvCxnSpPr/>
          <p:nvPr/>
        </p:nvCxnSpPr>
        <p:spPr>
          <a:xfrm>
            <a:off x="1395806" y="4140199"/>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1345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065" y="3308581"/>
            <a:ext cx="9607165" cy="1468800"/>
          </a:xfrm>
        </p:spPr>
        <p:txBody>
          <a:bodyPr anchor="b">
            <a:normAutofit/>
          </a:bodyPr>
          <a:lstStyle>
            <a:lvl1pPr algn="l">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1295064" y="4777381"/>
            <a:ext cx="9607165" cy="860400"/>
          </a:xfrm>
        </p:spPr>
        <p:txBody>
          <a:bodyPr anchor="t">
            <a:normAutofit/>
          </a:bodyPr>
          <a:lstStyle>
            <a:lvl1pPr marL="0" indent="0" algn="l">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0342502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5836" y="982132"/>
            <a:ext cx="9293977" cy="2243668"/>
          </a:xfrm>
        </p:spPr>
        <p:txBody>
          <a:bodyPr anchor="ctr">
            <a:normAutofit/>
          </a:bodyPr>
          <a:lstStyle>
            <a:lvl1pPr algn="ctr">
              <a:defRPr sz="3199"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064" y="3639312"/>
            <a:ext cx="9607165" cy="886968"/>
          </a:xfrm>
        </p:spPr>
        <p:txBody>
          <a:bodyPr anchor="b">
            <a:normAutofit/>
          </a:bodyPr>
          <a:lstStyle>
            <a:lvl1pPr marL="0" indent="0" algn="l">
              <a:spcBef>
                <a:spcPts val="0"/>
              </a:spcBef>
              <a:buNone/>
              <a:defRPr sz="23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064" y="4529667"/>
            <a:ext cx="9607165" cy="1346200"/>
          </a:xfrm>
        </p:spPr>
        <p:txBody>
          <a:bodyPr anchor="t">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2" name="TextBox 11"/>
          <p:cNvSpPr txBox="1"/>
          <p:nvPr/>
        </p:nvSpPr>
        <p:spPr>
          <a:xfrm>
            <a:off x="861789" y="879961"/>
            <a:ext cx="609441" cy="584776"/>
          </a:xfrm>
          <a:prstGeom prst="rect">
            <a:avLst/>
          </a:prstGeom>
        </p:spPr>
        <p:txBody>
          <a:bodyPr vert="horz" lIns="91416" tIns="45708" rIns="91416" bIns="45708" rtlCol="0" anchor="ctr">
            <a:noAutofit/>
          </a:bodyPr>
          <a:lstStyle/>
          <a:p>
            <a:pPr lvl="0"/>
            <a:r>
              <a:rPr lang="en-US" sz="7998" dirty="0">
                <a:solidFill>
                  <a:schemeClr val="tx1"/>
                </a:solidFill>
                <a:effectLst/>
              </a:rPr>
              <a:t>“</a:t>
            </a:r>
          </a:p>
        </p:txBody>
      </p:sp>
      <p:sp>
        <p:nvSpPr>
          <p:cNvPr id="13" name="TextBox 12"/>
          <p:cNvSpPr txBox="1"/>
          <p:nvPr/>
        </p:nvSpPr>
        <p:spPr>
          <a:xfrm>
            <a:off x="10597507" y="2599261"/>
            <a:ext cx="609441" cy="584776"/>
          </a:xfrm>
          <a:prstGeom prst="rect">
            <a:avLst/>
          </a:prstGeom>
        </p:spPr>
        <p:txBody>
          <a:bodyPr vert="horz" lIns="91416" tIns="45708" rIns="91416" bIns="45708" rtlCol="0" anchor="ctr">
            <a:noAutofit/>
          </a:bodyPr>
          <a:lstStyle/>
          <a:p>
            <a:pPr lvl="0" algn="r"/>
            <a:r>
              <a:rPr lang="en-US" sz="7998" dirty="0">
                <a:solidFill>
                  <a:schemeClr val="tx1"/>
                </a:solidFill>
                <a:effectLst/>
              </a:rPr>
              <a:t>”</a:t>
            </a:r>
          </a:p>
        </p:txBody>
      </p:sp>
      <p:cxnSp>
        <p:nvCxnSpPr>
          <p:cNvPr id="26" name="Straight Connector 25"/>
          <p:cNvCxnSpPr/>
          <p:nvPr/>
        </p:nvCxnSpPr>
        <p:spPr>
          <a:xfrm>
            <a:off x="1395806" y="3429000"/>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869664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064" y="982132"/>
            <a:ext cx="9607163"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064" y="3630168"/>
            <a:ext cx="9607165" cy="841248"/>
          </a:xfrm>
        </p:spPr>
        <p:txBody>
          <a:bodyPr anchor="b">
            <a:normAutofit/>
          </a:bodyPr>
          <a:lstStyle>
            <a:lvl1pPr marL="0" indent="0" algn="l">
              <a:spcBef>
                <a:spcPts val="0"/>
              </a:spcBef>
              <a:buNone/>
              <a:defRPr sz="2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063" y="4470400"/>
            <a:ext cx="9607167" cy="1405467"/>
          </a:xfrm>
        </p:spPr>
        <p:txBody>
          <a:bodyPr anchor="t">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5" name="Straight Connector 14"/>
          <p:cNvCxnSpPr/>
          <p:nvPr/>
        </p:nvCxnSpPr>
        <p:spPr>
          <a:xfrm>
            <a:off x="1395806" y="3429000"/>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007446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4" name="Straight Connector 13"/>
          <p:cNvCxnSpPr/>
          <p:nvPr/>
        </p:nvCxnSpPr>
        <p:spPr>
          <a:xfrm>
            <a:off x="1395806" y="2421466"/>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49659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7013" y="982132"/>
            <a:ext cx="1890403"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061" y="982132"/>
            <a:ext cx="7431089"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4" name="Straight Connector 13"/>
          <p:cNvCxnSpPr/>
          <p:nvPr/>
        </p:nvCxnSpPr>
        <p:spPr>
          <a:xfrm>
            <a:off x="8861582"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6145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2" y="0"/>
            <a:ext cx="12226777"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065" y="982133"/>
            <a:ext cx="95986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064" y="2556932"/>
            <a:ext cx="95986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5241" y="5969000"/>
            <a:ext cx="15997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endParaRPr lang="en-US"/>
          </a:p>
        </p:txBody>
      </p:sp>
      <p:sp>
        <p:nvSpPr>
          <p:cNvPr id="5" name="Footer Placeholder 4"/>
          <p:cNvSpPr>
            <a:spLocks noGrp="1"/>
          </p:cNvSpPr>
          <p:nvPr>
            <p:ph type="ftr" sz="quarter" idx="3"/>
          </p:nvPr>
        </p:nvSpPr>
        <p:spPr>
          <a:xfrm>
            <a:off x="1295064" y="5969000"/>
            <a:ext cx="730399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1205" y="5969000"/>
            <a:ext cx="542556"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778558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ftr="0" dt="0"/>
  <p:txStyles>
    <p:titleStyle>
      <a:lvl1pPr algn="ctr" defTabSz="457063" rtl="0" eaLnBrk="1" latinLnBrk="0" hangingPunct="1">
        <a:spcBef>
          <a:spcPct val="0"/>
        </a:spcBef>
        <a:buNone/>
        <a:defRPr sz="4399"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664" indent="-285664" algn="l" defTabSz="457063" rtl="0" eaLnBrk="1" latinLnBrk="0" hangingPunct="1">
        <a:spcBef>
          <a:spcPct val="20000"/>
        </a:spcBef>
        <a:spcAft>
          <a:spcPts val="600"/>
        </a:spcAft>
        <a:buClr>
          <a:schemeClr val="accent1"/>
        </a:buClr>
        <a:buSzPct val="115000"/>
        <a:buFont typeface="Arial"/>
        <a:buChar char="•"/>
        <a:defRPr sz="2399" kern="1200" cap="none">
          <a:solidFill>
            <a:schemeClr val="tx1">
              <a:lumMod val="85000"/>
              <a:lumOff val="15000"/>
            </a:schemeClr>
          </a:solidFill>
          <a:effectLst/>
          <a:latin typeface="+mn-lt"/>
          <a:ea typeface="+mn-ea"/>
          <a:cs typeface="+mn-cs"/>
        </a:defRPr>
      </a:lvl1pPr>
      <a:lvl2pPr marL="742727" indent="-285664" algn="l" defTabSz="457063" rtl="0" eaLnBrk="1" latinLnBrk="0" hangingPunct="1">
        <a:spcBef>
          <a:spcPct val="20000"/>
        </a:spcBef>
        <a:spcAft>
          <a:spcPts val="600"/>
        </a:spcAft>
        <a:buClr>
          <a:schemeClr val="accent1"/>
        </a:buClr>
        <a:buSzPct val="115000"/>
        <a:buFont typeface="Arial"/>
        <a:buChar char="•"/>
        <a:defRPr sz="1999" kern="1200" cap="none">
          <a:solidFill>
            <a:schemeClr val="tx1">
              <a:lumMod val="85000"/>
              <a:lumOff val="15000"/>
            </a:schemeClr>
          </a:solidFill>
          <a:effectLst/>
          <a:latin typeface="+mn-lt"/>
          <a:ea typeface="+mn-ea"/>
          <a:cs typeface="+mn-cs"/>
        </a:defRPr>
      </a:lvl2pPr>
      <a:lvl3pPr marL="1199790" indent="-285664" algn="l" defTabSz="457063" rtl="0" eaLnBrk="1" latinLnBrk="0" hangingPunct="1">
        <a:spcBef>
          <a:spcPct val="20000"/>
        </a:spcBef>
        <a:spcAft>
          <a:spcPts val="600"/>
        </a:spcAft>
        <a:buClr>
          <a:schemeClr val="accent1"/>
        </a:buClr>
        <a:buSzPct val="115000"/>
        <a:buFont typeface="Arial"/>
        <a:buChar char="•"/>
        <a:defRPr sz="1799" kern="1200" cap="none">
          <a:solidFill>
            <a:schemeClr val="tx1">
              <a:lumMod val="85000"/>
              <a:lumOff val="15000"/>
            </a:schemeClr>
          </a:solidFill>
          <a:effectLst/>
          <a:latin typeface="+mn-lt"/>
          <a:ea typeface="+mn-ea"/>
          <a:cs typeface="+mn-cs"/>
        </a:defRPr>
      </a:lvl3pPr>
      <a:lvl4pPr marL="1542587" indent="-171399" algn="l" defTabSz="457063"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1999650" indent="-171399"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3846" indent="-228531"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0908" indent="-228531"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7971" indent="-228531"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5034" indent="-228531"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g3c58536ff43_0_0"/>
          <p:cNvSpPr txBox="1"/>
          <p:nvPr/>
        </p:nvSpPr>
        <p:spPr>
          <a:xfrm>
            <a:off x="2902176" y="696044"/>
            <a:ext cx="6607200" cy="87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4500" b="1" dirty="0">
                <a:solidFill>
                  <a:schemeClr val="dk1"/>
                </a:solidFill>
                <a:latin typeface="Times New Roman"/>
                <a:ea typeface="Times New Roman"/>
                <a:cs typeface="Times New Roman"/>
                <a:sym typeface="Times New Roman"/>
              </a:rPr>
              <a:t>TRIPURA UNIVERSITY</a:t>
            </a:r>
            <a:endParaRPr sz="4500" b="1" dirty="0">
              <a:solidFill>
                <a:schemeClr val="dk1"/>
              </a:solidFill>
              <a:latin typeface="Times New Roman"/>
              <a:ea typeface="Times New Roman"/>
              <a:cs typeface="Times New Roman"/>
              <a:sym typeface="Times New Roman"/>
            </a:endParaRPr>
          </a:p>
        </p:txBody>
      </p:sp>
      <p:pic>
        <p:nvPicPr>
          <p:cNvPr id="85" name="Google Shape;85;g3c58536ff43_0_0" title="Tripura_University_Logo.png"/>
          <p:cNvPicPr preferRelativeResize="0"/>
          <p:nvPr/>
        </p:nvPicPr>
        <p:blipFill>
          <a:blip r:embed="rId3">
            <a:alphaModFix/>
          </a:blip>
          <a:stretch>
            <a:fillRect/>
          </a:stretch>
        </p:blipFill>
        <p:spPr>
          <a:xfrm>
            <a:off x="5656656" y="1525272"/>
            <a:ext cx="790462" cy="680200"/>
          </a:xfrm>
          <a:prstGeom prst="rect">
            <a:avLst/>
          </a:prstGeom>
          <a:noFill/>
          <a:ln>
            <a:noFill/>
          </a:ln>
        </p:spPr>
      </p:pic>
      <p:sp>
        <p:nvSpPr>
          <p:cNvPr id="86" name="Google Shape;86;g3c58536ff43_0_0"/>
          <p:cNvSpPr txBox="1"/>
          <p:nvPr/>
        </p:nvSpPr>
        <p:spPr>
          <a:xfrm>
            <a:off x="3295540" y="2678503"/>
            <a:ext cx="5820472" cy="44624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b="1" dirty="0">
                <a:solidFill>
                  <a:schemeClr val="dk1"/>
                </a:solidFill>
                <a:latin typeface="Times New Roman" panose="02020603050405020304" pitchFamily="18" charset="0"/>
                <a:cs typeface="Times New Roman" panose="02020603050405020304" pitchFamily="18" charset="0"/>
              </a:rPr>
              <a:t>DEPARTMENT OF INFORMATION TECHNOLOGY (IT)</a:t>
            </a:r>
            <a:endParaRPr sz="2000" dirty="0">
              <a:latin typeface="Times New Roman" panose="02020603050405020304" pitchFamily="18" charset="0"/>
              <a:cs typeface="Times New Roman" panose="02020603050405020304" pitchFamily="18" charset="0"/>
            </a:endParaRPr>
          </a:p>
        </p:txBody>
      </p:sp>
      <p:sp>
        <p:nvSpPr>
          <p:cNvPr id="87" name="Google Shape;87;g3c58536ff43_0_0"/>
          <p:cNvSpPr txBox="1"/>
          <p:nvPr/>
        </p:nvSpPr>
        <p:spPr>
          <a:xfrm>
            <a:off x="1570049" y="3144925"/>
            <a:ext cx="9727726" cy="800189"/>
          </a:xfrm>
          <a:prstGeom prst="rect">
            <a:avLst/>
          </a:prstGeom>
          <a:noFill/>
          <a:ln>
            <a:noFill/>
          </a:ln>
        </p:spPr>
        <p:txBody>
          <a:bodyPr spcFirstLastPara="1" wrap="square" lIns="91425" tIns="91425" rIns="91425" bIns="91425" anchor="t" anchorCtr="0">
            <a:spAutoFit/>
          </a:bodyPr>
          <a:lstStyle/>
          <a:p>
            <a:pPr lvl="0"/>
            <a:r>
              <a:rPr lang="en-US" sz="2000" b="1" dirty="0">
                <a:solidFill>
                  <a:schemeClr val="dk1"/>
                </a:solidFill>
                <a:latin typeface="Times New Roman"/>
                <a:ea typeface="Times New Roman"/>
                <a:cs typeface="Times New Roman"/>
                <a:sym typeface="Times New Roman"/>
              </a:rPr>
              <a:t>Topic: Transformer-Based Fake News Detection: </a:t>
            </a:r>
            <a:r>
              <a:rPr lang="en-US" sz="2000" b="1" dirty="0" err="1">
                <a:solidFill>
                  <a:schemeClr val="dk1"/>
                </a:solidFill>
                <a:latin typeface="Times New Roman"/>
                <a:ea typeface="Times New Roman"/>
                <a:cs typeface="Times New Roman"/>
                <a:sym typeface="Times New Roman"/>
              </a:rPr>
              <a:t>AComparative</a:t>
            </a:r>
            <a:r>
              <a:rPr lang="en-US" sz="2000" b="1" dirty="0">
                <a:solidFill>
                  <a:schemeClr val="dk1"/>
                </a:solidFill>
                <a:latin typeface="Times New Roman"/>
                <a:ea typeface="Times New Roman"/>
                <a:cs typeface="Times New Roman"/>
                <a:sym typeface="Times New Roman"/>
              </a:rPr>
              <a:t> Analysis of BERT, </a:t>
            </a:r>
            <a:r>
              <a:rPr lang="en-US" sz="2000" b="1" dirty="0" err="1">
                <a:solidFill>
                  <a:schemeClr val="dk1"/>
                </a:solidFill>
                <a:latin typeface="Times New Roman"/>
                <a:ea typeface="Times New Roman"/>
                <a:cs typeface="Times New Roman"/>
                <a:sym typeface="Times New Roman"/>
              </a:rPr>
              <a:t>BiLSTM</a:t>
            </a:r>
            <a:r>
              <a:rPr lang="en-US" sz="2000" b="1" dirty="0">
                <a:solidFill>
                  <a:schemeClr val="dk1"/>
                </a:solidFill>
                <a:latin typeface="Times New Roman"/>
                <a:ea typeface="Times New Roman"/>
                <a:cs typeface="Times New Roman"/>
                <a:sym typeface="Times New Roman"/>
              </a:rPr>
              <a:t>, </a:t>
            </a:r>
            <a:r>
              <a:rPr lang="en-US" sz="2000" b="1" dirty="0" err="1">
                <a:solidFill>
                  <a:schemeClr val="dk1"/>
                </a:solidFill>
                <a:latin typeface="Times New Roman"/>
                <a:ea typeface="Times New Roman"/>
                <a:cs typeface="Times New Roman"/>
                <a:sym typeface="Times New Roman"/>
              </a:rPr>
              <a:t>andHybrid</a:t>
            </a:r>
            <a:r>
              <a:rPr lang="en-US" sz="2000" b="1" dirty="0">
                <a:solidFill>
                  <a:schemeClr val="dk1"/>
                </a:solidFill>
                <a:latin typeface="Times New Roman"/>
                <a:ea typeface="Times New Roman"/>
                <a:cs typeface="Times New Roman"/>
                <a:sym typeface="Times New Roman"/>
              </a:rPr>
              <a:t> Architectures Across Multiple Datasets</a:t>
            </a:r>
            <a:endParaRPr sz="2000" dirty="0">
              <a:latin typeface="Times New Roman"/>
              <a:ea typeface="Times New Roman"/>
              <a:cs typeface="Times New Roman"/>
              <a:sym typeface="Times New Roman"/>
            </a:endParaRPr>
          </a:p>
        </p:txBody>
      </p:sp>
      <p:sp>
        <p:nvSpPr>
          <p:cNvPr id="88" name="Google Shape;88;g3c58536ff43_0_0"/>
          <p:cNvSpPr txBox="1"/>
          <p:nvPr/>
        </p:nvSpPr>
        <p:spPr>
          <a:xfrm>
            <a:off x="1693100" y="5367589"/>
            <a:ext cx="19818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00" dirty="0">
                <a:solidFill>
                  <a:schemeClr val="dk1"/>
                </a:solidFill>
              </a:rPr>
              <a:t>MD Akash Hossain</a:t>
            </a:r>
            <a:endParaRPr sz="1500" dirty="0">
              <a:solidFill>
                <a:schemeClr val="dk1"/>
              </a:solidFill>
            </a:endParaRPr>
          </a:p>
        </p:txBody>
      </p:sp>
      <p:sp>
        <p:nvSpPr>
          <p:cNvPr id="89" name="Google Shape;89;g3c58536ff43_0_0"/>
          <p:cNvSpPr txBox="1"/>
          <p:nvPr/>
        </p:nvSpPr>
        <p:spPr>
          <a:xfrm>
            <a:off x="1676950" y="4593071"/>
            <a:ext cx="2045125"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u="sng" dirty="0">
                <a:solidFill>
                  <a:schemeClr val="dk1"/>
                </a:solidFill>
                <a:latin typeface="Times New Roman" panose="02020603050405020304" pitchFamily="18" charset="0"/>
                <a:ea typeface="Calibri"/>
                <a:cs typeface="Times New Roman" panose="02020603050405020304" pitchFamily="18" charset="0"/>
                <a:sym typeface="Calibri"/>
              </a:rPr>
              <a:t>PRESENTED BY</a:t>
            </a:r>
          </a:p>
        </p:txBody>
      </p:sp>
      <p:sp>
        <p:nvSpPr>
          <p:cNvPr id="90" name="Google Shape;90;g3c58536ff43_0_0"/>
          <p:cNvSpPr txBox="1"/>
          <p:nvPr/>
        </p:nvSpPr>
        <p:spPr>
          <a:xfrm>
            <a:off x="1693100" y="5051419"/>
            <a:ext cx="2359973"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dirty="0">
                <a:solidFill>
                  <a:schemeClr val="dk1"/>
                </a:solidFill>
                <a:latin typeface="Times New Roman" panose="02020603050405020304" pitchFamily="18" charset="0"/>
                <a:ea typeface="Calibri"/>
                <a:cs typeface="Times New Roman" panose="02020603050405020304" pitchFamily="18" charset="0"/>
                <a:sym typeface="Calibri"/>
              </a:rPr>
              <a:t>First Year </a:t>
            </a:r>
            <a:r>
              <a:rPr lang="en-US" sz="1800" dirty="0" err="1">
                <a:solidFill>
                  <a:schemeClr val="dk1"/>
                </a:solidFill>
                <a:latin typeface="Times New Roman" panose="02020603050405020304" pitchFamily="18" charset="0"/>
                <a:ea typeface="Calibri"/>
                <a:cs typeface="Times New Roman" panose="02020603050405020304" pitchFamily="18" charset="0"/>
                <a:sym typeface="Calibri"/>
              </a:rPr>
              <a:t>M.Tech</a:t>
            </a:r>
            <a:r>
              <a:rPr lang="en-US" sz="1800" dirty="0">
                <a:solidFill>
                  <a:schemeClr val="dk1"/>
                </a:solidFill>
                <a:latin typeface="Times New Roman" panose="02020603050405020304" pitchFamily="18" charset="0"/>
                <a:ea typeface="Calibri"/>
                <a:cs typeface="Times New Roman" panose="02020603050405020304" pitchFamily="18" charset="0"/>
                <a:sym typeface="Calibri"/>
              </a:rPr>
              <a:t> IT</a:t>
            </a: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91" name="Google Shape;91;g3c58536ff43_0_0"/>
          <p:cNvSpPr txBox="1"/>
          <p:nvPr/>
        </p:nvSpPr>
        <p:spPr>
          <a:xfrm>
            <a:off x="8598025" y="4559007"/>
            <a:ext cx="17826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u="sng" dirty="0">
                <a:solidFill>
                  <a:schemeClr val="dk1"/>
                </a:solidFill>
                <a:latin typeface="Times New Roman" panose="02020603050405020304" pitchFamily="18" charset="0"/>
                <a:ea typeface="Calibri"/>
                <a:cs typeface="Times New Roman" panose="02020603050405020304" pitchFamily="18" charset="0"/>
                <a:sym typeface="Calibri"/>
              </a:rPr>
              <a:t>GUIDED BY</a:t>
            </a:r>
          </a:p>
        </p:txBody>
      </p:sp>
      <p:sp>
        <p:nvSpPr>
          <p:cNvPr id="92" name="Google Shape;92;g3c58536ff43_0_0"/>
          <p:cNvSpPr txBox="1"/>
          <p:nvPr/>
        </p:nvSpPr>
        <p:spPr>
          <a:xfrm>
            <a:off x="8598025" y="4975363"/>
            <a:ext cx="2201257"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solidFill>
                  <a:schemeClr val="dk1"/>
                </a:solidFill>
                <a:latin typeface="Times New Roman" panose="02020603050405020304" pitchFamily="18" charset="0"/>
                <a:cs typeface="Times New Roman" panose="02020603050405020304" pitchFamily="18" charset="0"/>
              </a:rPr>
              <a:t>Dr Parijata Majumdar</a:t>
            </a:r>
            <a:endParaRPr sz="2900" dirty="0">
              <a:solidFill>
                <a:schemeClr val="dk1"/>
              </a:solidFill>
              <a:latin typeface="Times New Roman" panose="02020603050405020304" pitchFamily="18" charset="0"/>
              <a:cs typeface="Times New Roman" panose="02020603050405020304" pitchFamily="18" charset="0"/>
            </a:endParaRPr>
          </a:p>
        </p:txBody>
      </p:sp>
      <p:sp>
        <p:nvSpPr>
          <p:cNvPr id="93" name="Google Shape;93;g3c58536ff43_0_0"/>
          <p:cNvSpPr txBox="1"/>
          <p:nvPr/>
        </p:nvSpPr>
        <p:spPr>
          <a:xfrm>
            <a:off x="8598025" y="5296372"/>
            <a:ext cx="18246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dirty="0">
                <a:solidFill>
                  <a:schemeClr val="dk1"/>
                </a:solidFill>
                <a:latin typeface="Times New Roman" panose="02020603050405020304" pitchFamily="18" charset="0"/>
                <a:cs typeface="Times New Roman" panose="02020603050405020304" pitchFamily="18" charset="0"/>
              </a:rPr>
              <a:t>Asst</a:t>
            </a:r>
            <a:r>
              <a:rPr lang="en-US" sz="1700" dirty="0">
                <a:solidFill>
                  <a:schemeClr val="dk1"/>
                </a:solidFill>
              </a:rPr>
              <a:t>. </a:t>
            </a:r>
            <a:r>
              <a:rPr lang="en-US" sz="1500" dirty="0">
                <a:solidFill>
                  <a:schemeClr val="dk1"/>
                </a:solidFill>
                <a:latin typeface="Times New Roman" panose="02020603050405020304" pitchFamily="18" charset="0"/>
                <a:cs typeface="Times New Roman" panose="02020603050405020304" pitchFamily="18" charset="0"/>
              </a:rPr>
              <a:t>Professor</a:t>
            </a:r>
            <a:r>
              <a:rPr lang="en-US" sz="1700" dirty="0">
                <a:solidFill>
                  <a:schemeClr val="dk1"/>
                </a:solidFill>
              </a:rPr>
              <a:t> </a:t>
            </a:r>
            <a:endParaRPr sz="3200" dirty="0">
              <a:solidFill>
                <a:schemeClr val="dk1"/>
              </a:solidFill>
            </a:endParaRPr>
          </a:p>
        </p:txBody>
      </p:sp>
      <p:sp>
        <p:nvSpPr>
          <p:cNvPr id="94" name="Google Shape;94;g3c58536ff43_0_0"/>
          <p:cNvSpPr txBox="1"/>
          <p:nvPr/>
        </p:nvSpPr>
        <p:spPr>
          <a:xfrm>
            <a:off x="8597076" y="5637625"/>
            <a:ext cx="18246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00" dirty="0">
                <a:solidFill>
                  <a:schemeClr val="dk1"/>
                </a:solidFill>
              </a:rPr>
              <a:t>Tripura University</a:t>
            </a:r>
            <a:endParaRPr sz="3200" dirty="0">
              <a:solidFill>
                <a:schemeClr val="dk1"/>
              </a:solidFill>
              <a:latin typeface="Calibri"/>
              <a:ea typeface="Calibri"/>
              <a:cs typeface="Calibri"/>
              <a:sym typeface="Calibri"/>
            </a:endParaRPr>
          </a:p>
        </p:txBody>
      </p:sp>
      <p:sp>
        <p:nvSpPr>
          <p:cNvPr id="95" name="Google Shape;95;g3c58536ff43_0_0"/>
          <p:cNvSpPr txBox="1"/>
          <p:nvPr/>
        </p:nvSpPr>
        <p:spPr>
          <a:xfrm>
            <a:off x="4534637" y="3926682"/>
            <a:ext cx="30345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dirty="0" err="1">
                <a:solidFill>
                  <a:schemeClr val="dk1"/>
                </a:solidFill>
                <a:latin typeface="Times New Roman" panose="02020603050405020304" pitchFamily="18" charset="0"/>
                <a:ea typeface="Calibri"/>
                <a:cs typeface="Times New Roman" panose="02020603050405020304" pitchFamily="18" charset="0"/>
                <a:sym typeface="Calibri"/>
              </a:rPr>
              <a:t>M.Tech</a:t>
            </a:r>
            <a:r>
              <a:rPr lang="en-US" sz="1900" dirty="0">
                <a:solidFill>
                  <a:schemeClr val="dk1"/>
                </a:solidFill>
                <a:latin typeface="Times New Roman" panose="02020603050405020304" pitchFamily="18" charset="0"/>
                <a:ea typeface="Calibri"/>
                <a:cs typeface="Times New Roman" panose="02020603050405020304" pitchFamily="18" charset="0"/>
                <a:sym typeface="Calibri"/>
              </a:rPr>
              <a:t> Project Presentation</a:t>
            </a:r>
            <a:endParaRPr sz="1900"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96" name="Google Shape;96;g3c58536ff43_0_0"/>
          <p:cNvSpPr txBox="1"/>
          <p:nvPr/>
        </p:nvSpPr>
        <p:spPr>
          <a:xfrm>
            <a:off x="1693100" y="5637625"/>
            <a:ext cx="19818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1500" dirty="0">
                <a:solidFill>
                  <a:schemeClr val="dk1"/>
                </a:solidFill>
              </a:rPr>
              <a:t>Roll No - 250652005</a:t>
            </a:r>
            <a:endParaRPr sz="3200"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g3c58536ff43_0_85"/>
          <p:cNvSpPr txBox="1"/>
          <p:nvPr/>
        </p:nvSpPr>
        <p:spPr>
          <a:xfrm>
            <a:off x="4720109" y="757217"/>
            <a:ext cx="2748606"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600" b="1" u="sng" dirty="0">
                <a:solidFill>
                  <a:schemeClr val="dk1"/>
                </a:solidFill>
                <a:latin typeface="Times New Roman" panose="02020603050405020304" pitchFamily="18" charset="0"/>
                <a:ea typeface="Calibri"/>
                <a:cs typeface="Times New Roman" panose="02020603050405020304" pitchFamily="18" charset="0"/>
                <a:sym typeface="Calibri"/>
              </a:rPr>
              <a:t>CONTENTS</a:t>
            </a:r>
            <a:endParaRPr sz="3600" b="1" u="sng"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02" name="Google Shape;102;g3c58536ff43_0_85"/>
          <p:cNvSpPr txBox="1"/>
          <p:nvPr/>
        </p:nvSpPr>
        <p:spPr>
          <a:xfrm>
            <a:off x="1137982" y="1876095"/>
            <a:ext cx="4956430" cy="2031295"/>
          </a:xfrm>
          <a:prstGeom prst="rect">
            <a:avLst/>
          </a:prstGeom>
          <a:noFill/>
          <a:ln>
            <a:noFill/>
          </a:ln>
        </p:spPr>
        <p:txBody>
          <a:bodyPr spcFirstLastPara="1" wrap="square" lIns="91425" tIns="91425" rIns="91425" bIns="91425" anchor="t" anchorCtr="0">
            <a:spAutoFit/>
          </a:bodyPr>
          <a:lstStyle/>
          <a:p>
            <a:pPr marL="495300" lvl="0" indent="-457200" algn="l" rtl="0">
              <a:spcBef>
                <a:spcPts val="0"/>
              </a:spcBef>
              <a:spcAft>
                <a:spcPts val="0"/>
              </a:spcAft>
              <a:buClr>
                <a:schemeClr val="dk1"/>
              </a:buClr>
              <a:buSzPts val="3000"/>
              <a:buFont typeface="Arial" panose="020B0604020202020204" pitchFamily="34" charset="0"/>
              <a:buChar char="•"/>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 INTRODUCTION</a:t>
            </a:r>
          </a:p>
          <a:p>
            <a:pPr marL="495300" lvl="0" indent="-457200" algn="l" rtl="0">
              <a:spcBef>
                <a:spcPts val="0"/>
              </a:spcBef>
              <a:spcAft>
                <a:spcPts val="0"/>
              </a:spcAft>
              <a:buClr>
                <a:schemeClr val="dk1"/>
              </a:buClr>
              <a:buSzPts val="3000"/>
              <a:buFont typeface="Arial" panose="020B0604020202020204" pitchFamily="34" charset="0"/>
              <a:buChar char="•"/>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 MOTIVATION AND OBJECTIVE</a:t>
            </a:r>
          </a:p>
          <a:p>
            <a:pPr marL="495300" lvl="0" indent="-457200" algn="l" rtl="0">
              <a:spcBef>
                <a:spcPts val="0"/>
              </a:spcBef>
              <a:spcAft>
                <a:spcPts val="0"/>
              </a:spcAft>
              <a:buClr>
                <a:schemeClr val="dk1"/>
              </a:buClr>
              <a:buSzPts val="3000"/>
              <a:buFont typeface="Arial" panose="020B0604020202020204" pitchFamily="34" charset="0"/>
              <a:buChar char="•"/>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 LITERATURE REVIEW</a:t>
            </a:r>
          </a:p>
          <a:p>
            <a:pPr marL="495300" lvl="0" indent="-457200" algn="l" rtl="0">
              <a:spcBef>
                <a:spcPts val="0"/>
              </a:spcBef>
              <a:spcAft>
                <a:spcPts val="0"/>
              </a:spcAft>
              <a:buClr>
                <a:schemeClr val="dk1"/>
              </a:buClr>
              <a:buSzPts val="3000"/>
              <a:buFont typeface="Arial" panose="020B0604020202020204" pitchFamily="34" charset="0"/>
              <a:buChar char="•"/>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 PROBLEM STATEMENTS</a:t>
            </a:r>
          </a:p>
          <a:p>
            <a:pPr marL="495300" lvl="0" indent="-457200" algn="l" rtl="0">
              <a:spcBef>
                <a:spcPts val="0"/>
              </a:spcBef>
              <a:spcAft>
                <a:spcPts val="0"/>
              </a:spcAft>
              <a:buClr>
                <a:schemeClr val="dk1"/>
              </a:buClr>
              <a:buSzPts val="3000"/>
              <a:buFont typeface="Arial" panose="020B0604020202020204" pitchFamily="34" charset="0"/>
              <a:buChar char="•"/>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 PROPOSED METHODOLOGY</a:t>
            </a:r>
          </a:p>
          <a:p>
            <a:pPr marL="495300" lvl="0" indent="-457200" algn="l" rtl="0">
              <a:spcBef>
                <a:spcPts val="0"/>
              </a:spcBef>
              <a:spcAft>
                <a:spcPts val="0"/>
              </a:spcAft>
              <a:buClr>
                <a:schemeClr val="dk1"/>
              </a:buClr>
              <a:buSzPts val="3000"/>
              <a:buFont typeface="Arial" panose="020B0604020202020204" pitchFamily="34" charset="0"/>
              <a:buChar char="•"/>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TIMELINE AND PLAN OF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3c58536ff43_0_3"/>
          <p:cNvSpPr txBox="1"/>
          <p:nvPr/>
        </p:nvSpPr>
        <p:spPr>
          <a:xfrm>
            <a:off x="4995284" y="710074"/>
            <a:ext cx="2258769" cy="49241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u="sng" dirty="0">
                <a:solidFill>
                  <a:schemeClr val="dk1"/>
                </a:solidFill>
                <a:latin typeface="Times New Roman"/>
                <a:ea typeface="Times New Roman"/>
                <a:cs typeface="Times New Roman"/>
                <a:sym typeface="Times New Roman"/>
              </a:rPr>
              <a:t>INTRODUCTION</a:t>
            </a:r>
            <a:endParaRPr sz="2000" b="1" u="sng" dirty="0">
              <a:solidFill>
                <a:schemeClr val="dk1"/>
              </a:solidFill>
              <a:latin typeface="Times New Roman"/>
              <a:ea typeface="Times New Roman"/>
              <a:cs typeface="Times New Roman"/>
              <a:sym typeface="Times New Roman"/>
            </a:endParaRPr>
          </a:p>
        </p:txBody>
      </p:sp>
      <p:sp>
        <p:nvSpPr>
          <p:cNvPr id="108" name="Google Shape;108;g3c58536ff43_0_3"/>
          <p:cNvSpPr txBox="1"/>
          <p:nvPr/>
        </p:nvSpPr>
        <p:spPr>
          <a:xfrm>
            <a:off x="823864" y="1202486"/>
            <a:ext cx="10601608" cy="1046410"/>
          </a:xfrm>
          <a:prstGeom prst="rect">
            <a:avLst/>
          </a:prstGeom>
          <a:noFill/>
          <a:ln>
            <a:noFill/>
          </a:ln>
        </p:spPr>
        <p:txBody>
          <a:bodyPr spcFirstLastPara="1" wrap="square" lIns="91425" tIns="91425" rIns="91425" bIns="91425" anchor="t" anchorCtr="0">
            <a:spAutoFit/>
          </a:bodyPr>
          <a:lstStyle/>
          <a:p>
            <a:pPr marL="101600" lvl="0" algn="just">
              <a:buClr>
                <a:schemeClr val="dk1"/>
              </a:buClr>
              <a:buSzPts val="2000"/>
            </a:pPr>
            <a:r>
              <a:rPr lang="en-US" sz="1400" dirty="0">
                <a:latin typeface="Times New Roman" panose="02020603050405020304" pitchFamily="18" charset="0"/>
                <a:cs typeface="Times New Roman" panose="02020603050405020304" pitchFamily="18" charset="0"/>
              </a:rPr>
              <a:t>Fake news detection is an automated process that uses advanced techniques like Natural Language Processing (NLP) and Machine Learning (ML) to identify false or misleading information presented as real news. With the rapid growth of digital and social media platforms, fake news spreads faster than true information, making manual verification difficult. This creates serious social, political, and economic challenges, increasing the need for effective automated fake news detection systems.</a:t>
            </a:r>
            <a:endParaRPr sz="1400" dirty="0">
              <a:solidFill>
                <a:schemeClr val="dk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59BD333-6656-DF93-7DF0-5F03A7EE5433}"/>
              </a:ext>
            </a:extLst>
          </p:cNvPr>
          <p:cNvSpPr txBox="1"/>
          <p:nvPr/>
        </p:nvSpPr>
        <p:spPr>
          <a:xfrm>
            <a:off x="1195056" y="2500285"/>
            <a:ext cx="2136619" cy="1384995"/>
          </a:xfrm>
          <a:prstGeom prst="rect">
            <a:avLst/>
          </a:prstGeom>
          <a:noFill/>
        </p:spPr>
        <p:txBody>
          <a:bodyPr wrap="square" rtlCol="0">
            <a:spAutoFit/>
          </a:bodyPr>
          <a:lstStyle/>
          <a:p>
            <a:r>
              <a:rPr lang="en-US" sz="1400" b="1" i="1" dirty="0">
                <a:latin typeface="Times New Roman" panose="02020603050405020304" pitchFamily="18" charset="0"/>
                <a:cs typeface="Times New Roman" panose="02020603050405020304" pitchFamily="18" charset="0"/>
              </a:rPr>
              <a:t>Types of Fake News</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False News Stories</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Manipulated News</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Satirical News</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Clickbait</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Propaganda</a:t>
            </a:r>
          </a:p>
        </p:txBody>
      </p:sp>
      <p:sp>
        <p:nvSpPr>
          <p:cNvPr id="5" name="TextBox 4">
            <a:extLst>
              <a:ext uri="{FF2B5EF4-FFF2-40B4-BE49-F238E27FC236}">
                <a16:creationId xmlns:a16="http://schemas.microsoft.com/office/drawing/2014/main" id="{6A1AF980-FF6B-B4C4-7A19-2DD4F9273481}"/>
              </a:ext>
            </a:extLst>
          </p:cNvPr>
          <p:cNvSpPr txBox="1"/>
          <p:nvPr/>
        </p:nvSpPr>
        <p:spPr>
          <a:xfrm>
            <a:off x="823864" y="4136669"/>
            <a:ext cx="10601608" cy="1384995"/>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Machine Learning and Deep Learning techniques play a major role in fake news detection by identifying hidden patterns from large amounts of textual data. Traditional Machine Learning algorithms such as Logistic Regression, </a:t>
            </a:r>
            <a:r>
              <a:rPr lang="en-US" sz="1400" b="1" dirty="0">
                <a:latin typeface="Times New Roman" panose="02020603050405020304" pitchFamily="18" charset="0"/>
                <a:cs typeface="Times New Roman" panose="02020603050405020304" pitchFamily="18" charset="0"/>
              </a:rPr>
              <a:t>SVM</a:t>
            </a:r>
            <a:r>
              <a:rPr lang="en-US" sz="1400" dirty="0">
                <a:latin typeface="Times New Roman" panose="02020603050405020304" pitchFamily="18" charset="0"/>
                <a:cs typeface="Times New Roman" panose="02020603050405020304" pitchFamily="18" charset="0"/>
              </a:rPr>
              <a:t>, Naive Bayes, and Random Forest are widely used for classification tasks. Deep Learning models like </a:t>
            </a:r>
            <a:r>
              <a:rPr lang="en-US" sz="1400" b="1" dirty="0">
                <a:latin typeface="Times New Roman" panose="02020603050405020304" pitchFamily="18" charset="0"/>
                <a:cs typeface="Times New Roman" panose="02020603050405020304" pitchFamily="18" charset="0"/>
              </a:rPr>
              <a:t>LSTM</a:t>
            </a:r>
            <a:r>
              <a:rPr lang="en-US" sz="1400" dirty="0">
                <a:latin typeface="Times New Roman" panose="02020603050405020304" pitchFamily="18" charset="0"/>
                <a:cs typeface="Times New Roman" panose="02020603050405020304" pitchFamily="18" charset="0"/>
              </a:rPr>
              <a:t> and </a:t>
            </a:r>
            <a:r>
              <a:rPr lang="en-US" sz="1400" b="1" dirty="0" err="1">
                <a:latin typeface="Times New Roman" panose="02020603050405020304" pitchFamily="18" charset="0"/>
                <a:cs typeface="Times New Roman" panose="02020603050405020304" pitchFamily="18" charset="0"/>
              </a:rPr>
              <a:t>BiLSTM</a:t>
            </a:r>
            <a:r>
              <a:rPr lang="en-US" sz="1400" dirty="0">
                <a:latin typeface="Times New Roman" panose="02020603050405020304" pitchFamily="18" charset="0"/>
                <a:cs typeface="Times New Roman" panose="02020603050405020304" pitchFamily="18" charset="0"/>
              </a:rPr>
              <a:t> further improve detection by analyzing sequential relationships in text data.</a:t>
            </a:r>
          </a:p>
          <a:p>
            <a:r>
              <a:rPr lang="en-US" sz="1400" dirty="0">
                <a:latin typeface="Times New Roman" panose="02020603050405020304" pitchFamily="18" charset="0"/>
                <a:cs typeface="Times New Roman" panose="02020603050405020304" pitchFamily="18" charset="0"/>
              </a:rPr>
              <a:t>Modern transformer-based models such as BERT provide higher accuracy by understanding the complete context of a sentence instead of processing words sequentially. To help these models understand textual information, techniques like </a:t>
            </a:r>
            <a:r>
              <a:rPr lang="en-US" sz="1400" b="1" dirty="0">
                <a:latin typeface="Times New Roman" panose="02020603050405020304" pitchFamily="18" charset="0"/>
                <a:cs typeface="Times New Roman" panose="02020603050405020304" pitchFamily="18" charset="0"/>
              </a:rPr>
              <a:t>TF-IDF</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Bag-of-Words, Word2Vec, </a:t>
            </a:r>
            <a:r>
              <a:rPr lang="en-US" sz="1400" b="1" dirty="0" err="1">
                <a:latin typeface="Times New Roman" panose="02020603050405020304" pitchFamily="18" charset="0"/>
                <a:cs typeface="Times New Roman" panose="02020603050405020304" pitchFamily="18" charset="0"/>
              </a:rPr>
              <a:t>GloVe</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BERT</a:t>
            </a:r>
            <a:r>
              <a:rPr lang="en-US" sz="1400" dirty="0">
                <a:latin typeface="Times New Roman" panose="02020603050405020304" pitchFamily="18" charset="0"/>
                <a:cs typeface="Times New Roman" panose="02020603050405020304" pitchFamily="18" charset="0"/>
              </a:rPr>
              <a:t> embeddings convert text into numerical representations for effective classification of fake and real news.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5" name="Google Shape;115;g3c58536ff43_0_10"/>
          <p:cNvSpPr txBox="1"/>
          <p:nvPr/>
        </p:nvSpPr>
        <p:spPr>
          <a:xfrm>
            <a:off x="4144295" y="684651"/>
            <a:ext cx="3900233"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sng" strike="noStrike" cap="none" dirty="0">
                <a:solidFill>
                  <a:schemeClr val="dk1"/>
                </a:solidFill>
                <a:latin typeface="Times New Roman" panose="02020603050405020304" pitchFamily="18" charset="0"/>
                <a:ea typeface="Calibri"/>
                <a:cs typeface="Times New Roman" panose="02020603050405020304" pitchFamily="18" charset="0"/>
                <a:sym typeface="Calibri"/>
              </a:rPr>
              <a:t>MOTIVATION &amp; OBJECTIVES</a:t>
            </a:r>
            <a:endParaRPr sz="2000" u="sng" dirty="0">
              <a:solidFill>
                <a:schemeClr val="dk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1C29446-FC99-FD88-DC99-18D16B0ECA52}"/>
              </a:ext>
            </a:extLst>
          </p:cNvPr>
          <p:cNvSpPr txBox="1"/>
          <p:nvPr/>
        </p:nvSpPr>
        <p:spPr>
          <a:xfrm>
            <a:off x="796705" y="1448554"/>
            <a:ext cx="9197839" cy="1384995"/>
          </a:xfrm>
          <a:prstGeom prst="rect">
            <a:avLst/>
          </a:prstGeom>
          <a:noFill/>
        </p:spPr>
        <p:txBody>
          <a:bodyPr wrap="none" rtlCol="0">
            <a:spAutoFit/>
          </a:bodyPr>
          <a:lstStyle/>
          <a:p>
            <a:r>
              <a:rPr lang="en-US" sz="1400" b="1" i="1" dirty="0">
                <a:latin typeface="Times New Roman" panose="02020603050405020304" pitchFamily="18" charset="0"/>
                <a:cs typeface="Times New Roman" panose="02020603050405020304" pitchFamily="18" charset="0"/>
              </a:rPr>
              <a:t>Motivation</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rapid growth of social media has increased the spread of fake and misleading news.</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Fake news can influence public opinion, politics, and social stability.</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It is difficult for humans to manually verify every piece of information available online.</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There is a need for an automated system that can quickly identify false information.</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Using technologies like Machine Learning and Natural Language Processing, fake news can be detected more efficiently.</a:t>
            </a:r>
          </a:p>
        </p:txBody>
      </p:sp>
      <p:sp>
        <p:nvSpPr>
          <p:cNvPr id="3" name="TextBox 2">
            <a:extLst>
              <a:ext uri="{FF2B5EF4-FFF2-40B4-BE49-F238E27FC236}">
                <a16:creationId xmlns:a16="http://schemas.microsoft.com/office/drawing/2014/main" id="{A1CEF31B-E639-24AF-9A1C-DD4B06413806}"/>
              </a:ext>
            </a:extLst>
          </p:cNvPr>
          <p:cNvSpPr txBox="1"/>
          <p:nvPr/>
        </p:nvSpPr>
        <p:spPr>
          <a:xfrm>
            <a:off x="796705" y="3534705"/>
            <a:ext cx="6135269" cy="1384995"/>
          </a:xfrm>
          <a:prstGeom prst="rect">
            <a:avLst/>
          </a:prstGeom>
          <a:noFill/>
        </p:spPr>
        <p:txBody>
          <a:bodyPr wrap="none" rtlCol="0">
            <a:spAutoFit/>
          </a:bodyPr>
          <a:lstStyle/>
          <a:p>
            <a:r>
              <a:rPr lang="en-US" sz="1400" b="1" i="1" dirty="0">
                <a:latin typeface="Times New Roman" panose="02020603050405020304" pitchFamily="18" charset="0"/>
                <a:cs typeface="Times New Roman" panose="02020603050405020304" pitchFamily="18" charset="0"/>
              </a:rPr>
              <a:t>Objectives</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develop a system that can automatically detect fake news from textual data.</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analyze news articles using machine learning algorithms.</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classify news content into Real or Fake categories.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To improve the accuracy and reliability of fake news detection.</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reduce the spread of misinformation on digital platforms.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BD8C1A06-5E89-59FB-0323-39431836A150}"/>
            </a:ext>
          </a:extLst>
        </p:cNvPr>
        <p:cNvGrpSpPr/>
        <p:nvPr/>
      </p:nvGrpSpPr>
      <p:grpSpPr>
        <a:xfrm>
          <a:off x="0" y="0"/>
          <a:ext cx="0" cy="0"/>
          <a:chOff x="0" y="0"/>
          <a:chExt cx="0" cy="0"/>
        </a:xfrm>
      </p:grpSpPr>
      <p:sp>
        <p:nvSpPr>
          <p:cNvPr id="115" name="Google Shape;115;g3c58536ff43_0_10">
            <a:extLst>
              <a:ext uri="{FF2B5EF4-FFF2-40B4-BE49-F238E27FC236}">
                <a16:creationId xmlns:a16="http://schemas.microsoft.com/office/drawing/2014/main" id="{A0093A12-0D1F-A2B3-BD41-3AB1EC28D599}"/>
              </a:ext>
            </a:extLst>
          </p:cNvPr>
          <p:cNvSpPr txBox="1"/>
          <p:nvPr/>
        </p:nvSpPr>
        <p:spPr>
          <a:xfrm>
            <a:off x="4994734" y="601936"/>
            <a:ext cx="2320466" cy="400069"/>
          </a:xfrm>
          <a:prstGeom prst="rect">
            <a:avLst/>
          </a:prstGeom>
          <a:noFill/>
          <a:ln>
            <a:noFill/>
          </a:ln>
        </p:spPr>
        <p:txBody>
          <a:bodyPr spcFirstLastPara="1" wrap="square" lIns="91425" tIns="45700" rIns="91425" bIns="45700" anchor="t" anchorCtr="0">
            <a:spAutoFit/>
          </a:bodyPr>
          <a:lstStyle/>
          <a:p>
            <a:pPr lvl="0"/>
            <a:r>
              <a:rPr lang="en-US" sz="2000" b="1" u="sng" dirty="0">
                <a:solidFill>
                  <a:schemeClr val="dk1"/>
                </a:solidFill>
                <a:latin typeface="Times New Roman" panose="02020603050405020304" pitchFamily="18" charset="0"/>
                <a:cs typeface="Times New Roman" panose="02020603050405020304" pitchFamily="18" charset="0"/>
              </a:rPr>
              <a:t>RELATED WORD</a:t>
            </a:r>
          </a:p>
        </p:txBody>
      </p:sp>
      <p:graphicFrame>
        <p:nvGraphicFramePr>
          <p:cNvPr id="6" name="Table 0">
            <a:extLst>
              <a:ext uri="{FF2B5EF4-FFF2-40B4-BE49-F238E27FC236}">
                <a16:creationId xmlns:a16="http://schemas.microsoft.com/office/drawing/2014/main" id="{579A3221-BD96-FB8D-23E9-8114D5548038}"/>
              </a:ext>
            </a:extLst>
          </p:cNvPr>
          <p:cNvGraphicFramePr>
            <a:graphicFrameLocks noGrp="1"/>
          </p:cNvGraphicFramePr>
          <p:nvPr>
            <p:extLst>
              <p:ext uri="{D42A27DB-BD31-4B8C-83A1-F6EECF244321}">
                <p14:modId xmlns:p14="http://schemas.microsoft.com/office/powerpoint/2010/main" val="299339597"/>
              </p:ext>
            </p:extLst>
          </p:nvPr>
        </p:nvGraphicFramePr>
        <p:xfrm>
          <a:off x="752475" y="1083230"/>
          <a:ext cx="10753725" cy="4498418"/>
        </p:xfrm>
        <a:graphic>
          <a:graphicData uri="http://schemas.openxmlformats.org/drawingml/2006/table">
            <a:tbl>
              <a:tblPr/>
              <a:tblGrid>
                <a:gridCol w="2369464">
                  <a:extLst>
                    <a:ext uri="{9D8B030D-6E8A-4147-A177-3AD203B41FA5}">
                      <a16:colId xmlns:a16="http://schemas.microsoft.com/office/drawing/2014/main" val="20000"/>
                    </a:ext>
                  </a:extLst>
                </a:gridCol>
                <a:gridCol w="2278332">
                  <a:extLst>
                    <a:ext uri="{9D8B030D-6E8A-4147-A177-3AD203B41FA5}">
                      <a16:colId xmlns:a16="http://schemas.microsoft.com/office/drawing/2014/main" val="20001"/>
                    </a:ext>
                  </a:extLst>
                </a:gridCol>
                <a:gridCol w="2004932">
                  <a:extLst>
                    <a:ext uri="{9D8B030D-6E8A-4147-A177-3AD203B41FA5}">
                      <a16:colId xmlns:a16="http://schemas.microsoft.com/office/drawing/2014/main" val="20002"/>
                    </a:ext>
                  </a:extLst>
                </a:gridCol>
                <a:gridCol w="2004932">
                  <a:extLst>
                    <a:ext uri="{9D8B030D-6E8A-4147-A177-3AD203B41FA5}">
                      <a16:colId xmlns:a16="http://schemas.microsoft.com/office/drawing/2014/main" val="20003"/>
                    </a:ext>
                  </a:extLst>
                </a:gridCol>
                <a:gridCol w="2096065">
                  <a:extLst>
                    <a:ext uri="{9D8B030D-6E8A-4147-A177-3AD203B41FA5}">
                      <a16:colId xmlns:a16="http://schemas.microsoft.com/office/drawing/2014/main" val="20004"/>
                    </a:ext>
                  </a:extLst>
                </a:gridCol>
              </a:tblGrid>
              <a:tr h="434261">
                <a:tc>
                  <a:txBody>
                    <a:bodyP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Contribution</a:t>
                      </a:r>
                      <a:endParaRPr lang="en-US" sz="800" dirty="0">
                        <a:latin typeface="Times New Roman" panose="02020603050405020304" pitchFamily="18" charset="0"/>
                        <a:cs typeface="Times New Roman" panose="02020603050405020304" pitchFamily="18" charset="0"/>
                      </a:endParaRPr>
                    </a:p>
                  </a:txBody>
                  <a:tcPr anchor="ctr">
                    <a:lnL w="6350" cap="flat" cmpd="sng" algn="ctr">
                      <a:solidFill>
                        <a:srgbClr val="3A5FA0"/>
                      </a:solidFill>
                      <a:prstDash val="solid"/>
                      <a:round/>
                      <a:headEnd type="none" w="med" len="med"/>
                      <a:tailEnd type="none" w="med" len="med"/>
                    </a:lnL>
                    <a:lnR w="6350" cap="flat" cmpd="sng" algn="ctr">
                      <a:solidFill>
                        <a:srgbClr val="3A5FA0"/>
                      </a:solidFill>
                      <a:prstDash val="solid"/>
                      <a:round/>
                      <a:headEnd type="none" w="med" len="med"/>
                      <a:tailEnd type="none" w="med" len="med"/>
                    </a:lnR>
                    <a:lnT w="6350" cap="flat" cmpd="sng" algn="ctr">
                      <a:solidFill>
                        <a:srgbClr val="3A5FA0"/>
                      </a:solidFill>
                      <a:prstDash val="solid"/>
                      <a:round/>
                      <a:headEnd type="none" w="med" len="med"/>
                      <a:tailEnd type="none" w="med" len="med"/>
                    </a:lnT>
                    <a:lnB w="19050" cap="flat" cmpd="sng" algn="ctr">
                      <a:solidFill>
                        <a:srgbClr val="4A90D9"/>
                      </a:solidFill>
                      <a:prstDash val="solid"/>
                      <a:round/>
                      <a:headEnd type="none" w="med" len="med"/>
                      <a:tailEnd type="none" w="med" len="med"/>
                    </a:lnB>
                    <a:solidFill>
                      <a:srgbClr val="1A2C5B"/>
                    </a:solidFill>
                  </a:tcPr>
                </a:tc>
                <a:tc>
                  <a:txBody>
                    <a:bodyP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Method</a:t>
                      </a:r>
                      <a:endParaRPr lang="en-US" sz="800" dirty="0">
                        <a:latin typeface="Times New Roman" panose="02020603050405020304" pitchFamily="18" charset="0"/>
                        <a:cs typeface="Times New Roman" panose="02020603050405020304" pitchFamily="18" charset="0"/>
                      </a:endParaRPr>
                    </a:p>
                  </a:txBody>
                  <a:tcPr anchor="ctr">
                    <a:lnL w="6350" cap="flat" cmpd="sng" algn="ctr">
                      <a:solidFill>
                        <a:srgbClr val="3A5FA0"/>
                      </a:solidFill>
                      <a:prstDash val="solid"/>
                      <a:round/>
                      <a:headEnd type="none" w="med" len="med"/>
                      <a:tailEnd type="none" w="med" len="med"/>
                    </a:lnL>
                    <a:lnR w="6350" cap="flat" cmpd="sng" algn="ctr">
                      <a:solidFill>
                        <a:srgbClr val="3A5FA0"/>
                      </a:solidFill>
                      <a:prstDash val="solid"/>
                      <a:round/>
                      <a:headEnd type="none" w="med" len="med"/>
                      <a:tailEnd type="none" w="med" len="med"/>
                    </a:lnR>
                    <a:lnT w="6350" cap="flat" cmpd="sng" algn="ctr">
                      <a:solidFill>
                        <a:srgbClr val="3A5FA0"/>
                      </a:solidFill>
                      <a:prstDash val="solid"/>
                      <a:round/>
                      <a:headEnd type="none" w="med" len="med"/>
                      <a:tailEnd type="none" w="med" len="med"/>
                    </a:lnT>
                    <a:lnB w="19050" cap="flat" cmpd="sng" algn="ctr">
                      <a:solidFill>
                        <a:srgbClr val="4A90D9"/>
                      </a:solidFill>
                      <a:prstDash val="solid"/>
                      <a:round/>
                      <a:headEnd type="none" w="med" len="med"/>
                      <a:tailEnd type="none" w="med" len="med"/>
                    </a:lnB>
                    <a:solidFill>
                      <a:srgbClr val="1A2C5B"/>
                    </a:solidFill>
                  </a:tcPr>
                </a:tc>
                <a:tc>
                  <a:txBody>
                    <a:bodyP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Advantage</a:t>
                      </a:r>
                      <a:endParaRPr lang="en-US" sz="800" dirty="0">
                        <a:latin typeface="Times New Roman" panose="02020603050405020304" pitchFamily="18" charset="0"/>
                        <a:cs typeface="Times New Roman" panose="02020603050405020304" pitchFamily="18" charset="0"/>
                      </a:endParaRPr>
                    </a:p>
                  </a:txBody>
                  <a:tcPr anchor="ctr">
                    <a:lnL w="6350" cap="flat" cmpd="sng" algn="ctr">
                      <a:solidFill>
                        <a:srgbClr val="3A5FA0"/>
                      </a:solidFill>
                      <a:prstDash val="solid"/>
                      <a:round/>
                      <a:headEnd type="none" w="med" len="med"/>
                      <a:tailEnd type="none" w="med" len="med"/>
                    </a:lnL>
                    <a:lnR w="6350" cap="flat" cmpd="sng" algn="ctr">
                      <a:solidFill>
                        <a:srgbClr val="3A5FA0"/>
                      </a:solidFill>
                      <a:prstDash val="solid"/>
                      <a:round/>
                      <a:headEnd type="none" w="med" len="med"/>
                      <a:tailEnd type="none" w="med" len="med"/>
                    </a:lnR>
                    <a:lnT w="6350" cap="flat" cmpd="sng" algn="ctr">
                      <a:solidFill>
                        <a:srgbClr val="3A5FA0"/>
                      </a:solidFill>
                      <a:prstDash val="solid"/>
                      <a:round/>
                      <a:headEnd type="none" w="med" len="med"/>
                      <a:tailEnd type="none" w="med" len="med"/>
                    </a:lnT>
                    <a:lnB w="19050" cap="flat" cmpd="sng" algn="ctr">
                      <a:solidFill>
                        <a:srgbClr val="4A90D9"/>
                      </a:solidFill>
                      <a:prstDash val="solid"/>
                      <a:round/>
                      <a:headEnd type="none" w="med" len="med"/>
                      <a:tailEnd type="none" w="med" len="med"/>
                    </a:lnB>
                    <a:solidFill>
                      <a:srgbClr val="1A2C5B"/>
                    </a:solidFill>
                  </a:tcPr>
                </a:tc>
                <a:tc>
                  <a:txBody>
                    <a:bodyP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Disadvantage</a:t>
                      </a:r>
                      <a:endParaRPr lang="en-US" sz="800" dirty="0">
                        <a:latin typeface="Times New Roman" panose="02020603050405020304" pitchFamily="18" charset="0"/>
                        <a:cs typeface="Times New Roman" panose="02020603050405020304" pitchFamily="18" charset="0"/>
                      </a:endParaRPr>
                    </a:p>
                  </a:txBody>
                  <a:tcPr anchor="ctr">
                    <a:lnL w="6350" cap="flat" cmpd="sng" algn="ctr">
                      <a:solidFill>
                        <a:srgbClr val="3A5FA0"/>
                      </a:solidFill>
                      <a:prstDash val="solid"/>
                      <a:round/>
                      <a:headEnd type="none" w="med" len="med"/>
                      <a:tailEnd type="none" w="med" len="med"/>
                    </a:lnL>
                    <a:lnR w="6350" cap="flat" cmpd="sng" algn="ctr">
                      <a:solidFill>
                        <a:srgbClr val="3A5FA0"/>
                      </a:solidFill>
                      <a:prstDash val="solid"/>
                      <a:round/>
                      <a:headEnd type="none" w="med" len="med"/>
                      <a:tailEnd type="none" w="med" len="med"/>
                    </a:lnR>
                    <a:lnT w="6350" cap="flat" cmpd="sng" algn="ctr">
                      <a:solidFill>
                        <a:srgbClr val="3A5FA0"/>
                      </a:solidFill>
                      <a:prstDash val="solid"/>
                      <a:round/>
                      <a:headEnd type="none" w="med" len="med"/>
                      <a:tailEnd type="none" w="med" len="med"/>
                    </a:lnT>
                    <a:lnB w="19050" cap="flat" cmpd="sng" algn="ctr">
                      <a:solidFill>
                        <a:srgbClr val="4A90D9"/>
                      </a:solidFill>
                      <a:prstDash val="solid"/>
                      <a:round/>
                      <a:headEnd type="none" w="med" len="med"/>
                      <a:tailEnd type="none" w="med" len="med"/>
                    </a:lnB>
                    <a:solidFill>
                      <a:srgbClr val="1A2C5B"/>
                    </a:solidFill>
                  </a:tcPr>
                </a:tc>
                <a:tc>
                  <a:txBody>
                    <a:bodyP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Future Scope</a:t>
                      </a:r>
                      <a:endParaRPr lang="en-US" sz="800" dirty="0">
                        <a:latin typeface="Times New Roman" panose="02020603050405020304" pitchFamily="18" charset="0"/>
                        <a:cs typeface="Times New Roman" panose="02020603050405020304" pitchFamily="18" charset="0"/>
                      </a:endParaRPr>
                    </a:p>
                  </a:txBody>
                  <a:tcPr anchor="ctr">
                    <a:lnL w="6350" cap="flat" cmpd="sng" algn="ctr">
                      <a:solidFill>
                        <a:srgbClr val="3A5FA0"/>
                      </a:solidFill>
                      <a:prstDash val="solid"/>
                      <a:round/>
                      <a:headEnd type="none" w="med" len="med"/>
                      <a:tailEnd type="none" w="med" len="med"/>
                    </a:lnL>
                    <a:lnR w="6350" cap="flat" cmpd="sng" algn="ctr">
                      <a:solidFill>
                        <a:srgbClr val="3A5FA0"/>
                      </a:solidFill>
                      <a:prstDash val="solid"/>
                      <a:round/>
                      <a:headEnd type="none" w="med" len="med"/>
                      <a:tailEnd type="none" w="med" len="med"/>
                    </a:lnR>
                    <a:lnT w="6350" cap="flat" cmpd="sng" algn="ctr">
                      <a:solidFill>
                        <a:srgbClr val="3A5FA0"/>
                      </a:solidFill>
                      <a:prstDash val="solid"/>
                      <a:round/>
                      <a:headEnd type="none" w="med" len="med"/>
                      <a:tailEnd type="none" w="med" len="med"/>
                    </a:lnT>
                    <a:lnB w="19050" cap="flat" cmpd="sng" algn="ctr">
                      <a:solidFill>
                        <a:srgbClr val="4A90D9"/>
                      </a:solidFill>
                      <a:prstDash val="solid"/>
                      <a:round/>
                      <a:headEnd type="none" w="med" len="med"/>
                      <a:tailEnd type="none" w="med" len="med"/>
                    </a:lnB>
                    <a:solidFill>
                      <a:srgbClr val="1A2C5B"/>
                    </a:solidFill>
                  </a:tcPr>
                </a:tc>
                <a:extLst>
                  <a:ext uri="{0D108BD9-81ED-4DB2-BD59-A6C34878D82A}">
                    <a16:rowId xmlns:a16="http://schemas.microsoft.com/office/drawing/2014/main" val="10000"/>
                  </a:ext>
                </a:extLst>
              </a:tr>
              <a:tr h="644625">
                <a:tc>
                  <a:txBody>
                    <a:bodyPr/>
                    <a:lstStyle/>
                    <a:p>
                      <a:pPr marL="0" indent="0" algn="l">
                        <a:buNone/>
                      </a:pPr>
                      <a:r>
                        <a:rPr lang="en-US" sz="800" b="1" dirty="0">
                          <a:solidFill>
                            <a:srgbClr val="2E4FA3"/>
                          </a:solidFill>
                          <a:latin typeface="Times New Roman" panose="02020603050405020304" pitchFamily="18" charset="0"/>
                          <a:ea typeface="Calibri" pitchFamily="34" charset="-122"/>
                          <a:cs typeface="Times New Roman" panose="02020603050405020304" pitchFamily="18" charset="0"/>
                        </a:rPr>
                        <a:t>[Kaliyar et al. (2021)]</a:t>
                      </a:r>
                      <a:endParaRPr lang="en-US" sz="800" dirty="0">
                        <a:latin typeface="Times New Roman" panose="02020603050405020304" pitchFamily="18" charset="0"/>
                        <a:ea typeface="Calibri" charset="0"/>
                        <a:cs typeface="Times New Roman" panose="02020603050405020304" pitchFamily="18" charset="0"/>
                      </a:endParaRPr>
                    </a:p>
                    <a:p>
                      <a:pPr marL="0" indent="0" algn="l">
                        <a:buNone/>
                      </a:pPr>
                      <a:r>
                        <a:rPr lang="en-US" sz="800" dirty="0">
                          <a:solidFill>
                            <a:srgbClr val="1C2340"/>
                          </a:solidFill>
                          <a:latin typeface="Times New Roman" panose="02020603050405020304" pitchFamily="18" charset="0"/>
                          <a:ea typeface="Calibri" pitchFamily="34" charset="-122"/>
                          <a:cs typeface="Times New Roman" panose="02020603050405020304" pitchFamily="18" charset="0"/>
                        </a:rPr>
                        <a:t>Introduced FakeBERT, a BERT-based deep learning model with parallel CNN layers for fake news detection on social media.</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19050" cap="flat" cmpd="sng" algn="ctr">
                      <a:solidFill>
                        <a:srgbClr val="4A90D9"/>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EF3FB"/>
                    </a:solidFill>
                  </a:tcPr>
                </a:tc>
                <a:tc>
                  <a:txBody>
                    <a:bodyPr/>
                    <a:lstStyle/>
                    <a:p>
                      <a:pPr marL="0" indent="0" algn="l">
                        <a:buNone/>
                      </a:pPr>
                      <a:r>
                        <a:rPr lang="en-US" sz="800" dirty="0">
                          <a:solidFill>
                            <a:srgbClr val="1C2340"/>
                          </a:solidFill>
                          <a:latin typeface="Times New Roman" panose="02020603050405020304" pitchFamily="18" charset="0"/>
                          <a:ea typeface="Calibri" pitchFamily="34" charset="-122"/>
                          <a:cs typeface="Times New Roman" panose="02020603050405020304" pitchFamily="18" charset="0"/>
                        </a:rPr>
                        <a:t>BERT + Parallel CNN on LIAR and ISOT datasets</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19050" cap="flat" cmpd="sng" algn="ctr">
                      <a:solidFill>
                        <a:srgbClr val="4A90D9"/>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EF3FB"/>
                    </a:solidFill>
                  </a:tcPr>
                </a:tc>
                <a:tc>
                  <a:txBody>
                    <a:bodyPr/>
                    <a:lstStyle/>
                    <a:p>
                      <a:pPr marL="0" indent="0" algn="l">
                        <a:buNone/>
                      </a:pPr>
                      <a:r>
                        <a:rPr lang="en-US" sz="800" dirty="0">
                          <a:solidFill>
                            <a:srgbClr val="1A5C2E"/>
                          </a:solidFill>
                          <a:latin typeface="Times New Roman" panose="02020603050405020304" pitchFamily="18" charset="0"/>
                          <a:ea typeface="Calibri" pitchFamily="34" charset="-122"/>
                          <a:cs typeface="Times New Roman" panose="02020603050405020304" pitchFamily="18" charset="0"/>
                        </a:rPr>
                        <a:t>98.90% accuracy; captures contextual semantics; outperforms traditional ML</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19050" cap="flat" cmpd="sng" algn="ctr">
                      <a:solidFill>
                        <a:srgbClr val="4A90D9"/>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BF5EC"/>
                    </a:solidFill>
                  </a:tcPr>
                </a:tc>
                <a:tc>
                  <a:txBody>
                    <a:bodyPr/>
                    <a:lstStyle/>
                    <a:p>
                      <a:pPr marL="0" indent="0" algn="l">
                        <a:buNone/>
                      </a:pPr>
                      <a:r>
                        <a:rPr lang="en-US" sz="800" dirty="0">
                          <a:solidFill>
                            <a:srgbClr val="7A1A1A"/>
                          </a:solidFill>
                          <a:latin typeface="Times New Roman" panose="02020603050405020304" pitchFamily="18" charset="0"/>
                          <a:ea typeface="Calibri" pitchFamily="34" charset="-122"/>
                          <a:cs typeface="Times New Roman" panose="02020603050405020304" pitchFamily="18" charset="0"/>
                        </a:rPr>
                        <a:t>Computationally expensive; large GPU memory; English-only</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19050" cap="flat" cmpd="sng" algn="ctr">
                      <a:solidFill>
                        <a:srgbClr val="4A90D9"/>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DF0EE"/>
                    </a:solidFill>
                  </a:tcPr>
                </a:tc>
                <a:tc>
                  <a:txBody>
                    <a:bodyPr/>
                    <a:lstStyle/>
                    <a:p>
                      <a:pPr marL="0" indent="0" algn="l">
                        <a:buNone/>
                      </a:pPr>
                      <a:r>
                        <a:rPr lang="en-US" sz="800" dirty="0">
                          <a:solidFill>
                            <a:srgbClr val="5A3A00"/>
                          </a:solidFill>
                          <a:latin typeface="Times New Roman" panose="02020603050405020304" pitchFamily="18" charset="0"/>
                          <a:ea typeface="Calibri" pitchFamily="34" charset="-122"/>
                          <a:cs typeface="Times New Roman" panose="02020603050405020304" pitchFamily="18" charset="0"/>
                        </a:rPr>
                        <a:t>Multilingual detection; model distillation to reduce cost</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19050" cap="flat" cmpd="sng" algn="ctr">
                      <a:solidFill>
                        <a:srgbClr val="4A90D9"/>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EF8E8"/>
                    </a:solidFill>
                  </a:tcPr>
                </a:tc>
                <a:extLst>
                  <a:ext uri="{0D108BD9-81ED-4DB2-BD59-A6C34878D82A}">
                    <a16:rowId xmlns:a16="http://schemas.microsoft.com/office/drawing/2014/main" val="10001"/>
                  </a:ext>
                </a:extLst>
              </a:tr>
              <a:tr h="604271">
                <a:tc>
                  <a:txBody>
                    <a:bodyPr/>
                    <a:lstStyle/>
                    <a:p>
                      <a:pPr marL="0" indent="0" algn="l">
                        <a:buNone/>
                      </a:pPr>
                      <a:r>
                        <a:rPr lang="en-US" sz="800" b="1" dirty="0">
                          <a:solidFill>
                            <a:srgbClr val="2E4FA3"/>
                          </a:solidFill>
                          <a:latin typeface="Times New Roman" panose="02020603050405020304" pitchFamily="18" charset="0"/>
                          <a:ea typeface="Calibri" pitchFamily="34" charset="-122"/>
                          <a:cs typeface="Times New Roman" panose="02020603050405020304" pitchFamily="18" charset="0"/>
                        </a:rPr>
                        <a:t>[Aphiwongsophon (2021)]</a:t>
                      </a:r>
                      <a:endParaRPr lang="en-US" sz="800" dirty="0">
                        <a:latin typeface="Times New Roman" panose="02020603050405020304" pitchFamily="18" charset="0"/>
                        <a:ea typeface="Calibri" charset="0"/>
                        <a:cs typeface="Times New Roman" panose="02020603050405020304" pitchFamily="18" charset="0"/>
                      </a:endParaRPr>
                    </a:p>
                    <a:p>
                      <a:pPr marL="0" indent="0" algn="l">
                        <a:buNone/>
                      </a:pPr>
                      <a:r>
                        <a:rPr lang="en-US" sz="800" dirty="0">
                          <a:solidFill>
                            <a:srgbClr val="1C2340"/>
                          </a:solidFill>
                          <a:latin typeface="Times New Roman" panose="02020603050405020304" pitchFamily="18" charset="0"/>
                          <a:ea typeface="Calibri" pitchFamily="34" charset="-122"/>
                          <a:cs typeface="Times New Roman" panose="02020603050405020304" pitchFamily="18" charset="0"/>
                        </a:rPr>
                        <a:t>Compared classical ML classifiers for fake news using TF-IDF linguistic and statistical features.</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2340"/>
                          </a:solidFill>
                          <a:latin typeface="Times New Roman" panose="02020603050405020304" pitchFamily="18" charset="0"/>
                          <a:ea typeface="Calibri" pitchFamily="34" charset="-122"/>
                          <a:cs typeface="Times New Roman" panose="02020603050405020304" pitchFamily="18" charset="0"/>
                        </a:rPr>
                        <a:t>Logistic Regression, SVM, Naive Bayes, Random Forest + TF-IDF</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5C2E"/>
                          </a:solidFill>
                          <a:latin typeface="Times New Roman" panose="02020603050405020304" pitchFamily="18" charset="0"/>
                          <a:ea typeface="Calibri" pitchFamily="34" charset="-122"/>
                          <a:cs typeface="Times New Roman" panose="02020603050405020304" pitchFamily="18" charset="0"/>
                        </a:rPr>
                        <a:t>Simple; low cost; interpretable; resource-constrained friendly</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3FAF4"/>
                    </a:solidFill>
                  </a:tcPr>
                </a:tc>
                <a:tc>
                  <a:txBody>
                    <a:bodyPr/>
                    <a:lstStyle/>
                    <a:p>
                      <a:pPr marL="0" indent="0" algn="l">
                        <a:buNone/>
                      </a:pPr>
                      <a:r>
                        <a:rPr lang="en-US" sz="800" dirty="0">
                          <a:solidFill>
                            <a:srgbClr val="7A1A1A"/>
                          </a:solidFill>
                          <a:latin typeface="Times New Roman" panose="02020603050405020304" pitchFamily="18" charset="0"/>
                          <a:ea typeface="Calibri" pitchFamily="34" charset="-122"/>
                          <a:cs typeface="Times New Roman" panose="02020603050405020304" pitchFamily="18" charset="0"/>
                        </a:rPr>
                        <a:t>Lower accuracy; cannot capture semantic context or word order</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EF6F5"/>
                    </a:solidFill>
                  </a:tcPr>
                </a:tc>
                <a:tc>
                  <a:txBody>
                    <a:bodyPr/>
                    <a:lstStyle/>
                    <a:p>
                      <a:pPr marL="0" indent="0" algn="l">
                        <a:buNone/>
                      </a:pPr>
                      <a:r>
                        <a:rPr lang="en-US" sz="800" dirty="0">
                          <a:solidFill>
                            <a:srgbClr val="5A3A00"/>
                          </a:solidFill>
                          <a:latin typeface="Times New Roman" panose="02020603050405020304" pitchFamily="18" charset="0"/>
                          <a:ea typeface="Calibri" pitchFamily="34" charset="-122"/>
                          <a:cs typeface="Times New Roman" panose="02020603050405020304" pitchFamily="18" charset="0"/>
                        </a:rPr>
                        <a:t>Combine classical ML with deep learning; add metadata signals</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FFCF2"/>
                    </a:solidFill>
                  </a:tcPr>
                </a:tc>
                <a:extLst>
                  <a:ext uri="{0D108BD9-81ED-4DB2-BD59-A6C34878D82A}">
                    <a16:rowId xmlns:a16="http://schemas.microsoft.com/office/drawing/2014/main" val="10002"/>
                  </a:ext>
                </a:extLst>
              </a:tr>
              <a:tr h="681004">
                <a:tc>
                  <a:txBody>
                    <a:bodyPr/>
                    <a:lstStyle/>
                    <a:p>
                      <a:pPr marL="0" indent="0" algn="l">
                        <a:buNone/>
                      </a:pPr>
                      <a:r>
                        <a:rPr lang="en-US" sz="800" b="1" dirty="0">
                          <a:solidFill>
                            <a:srgbClr val="2E4FA3"/>
                          </a:solidFill>
                          <a:latin typeface="Times New Roman" panose="02020603050405020304" pitchFamily="18" charset="0"/>
                          <a:ea typeface="Calibri" pitchFamily="34" charset="-122"/>
                          <a:cs typeface="Times New Roman" panose="02020603050405020304" pitchFamily="18" charset="0"/>
                        </a:rPr>
                        <a:t>[Nasir et al. (2021)]</a:t>
                      </a:r>
                      <a:endParaRPr lang="en-US" sz="800" dirty="0">
                        <a:latin typeface="Times New Roman" panose="02020603050405020304" pitchFamily="18" charset="0"/>
                        <a:ea typeface="Calibri" charset="0"/>
                        <a:cs typeface="Times New Roman" panose="02020603050405020304" pitchFamily="18" charset="0"/>
                      </a:endParaRPr>
                    </a:p>
                    <a:p>
                      <a:pPr marL="0" indent="0" algn="l">
                        <a:buNone/>
                      </a:pPr>
                      <a:r>
                        <a:rPr lang="en-US" sz="800" dirty="0">
                          <a:solidFill>
                            <a:srgbClr val="1C2340"/>
                          </a:solidFill>
                          <a:latin typeface="Times New Roman" panose="02020603050405020304" pitchFamily="18" charset="0"/>
                          <a:ea typeface="Calibri" pitchFamily="34" charset="-122"/>
                          <a:cs typeface="Times New Roman" panose="02020603050405020304" pitchFamily="18" charset="0"/>
                        </a:rPr>
                        <a:t>Proposed hybrid CNN-RNN architecture for local and sequential feature learning in news text.</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EF3FB"/>
                    </a:solidFill>
                  </a:tcPr>
                </a:tc>
                <a:tc>
                  <a:txBody>
                    <a:bodyPr/>
                    <a:lstStyle/>
                    <a:p>
                      <a:pPr marL="0" indent="0" algn="l">
                        <a:buNone/>
                      </a:pPr>
                      <a:r>
                        <a:rPr lang="en-US" sz="800" dirty="0">
                          <a:solidFill>
                            <a:srgbClr val="1C2340"/>
                          </a:solidFill>
                          <a:latin typeface="Times New Roman" panose="02020603050405020304" pitchFamily="18" charset="0"/>
                          <a:ea typeface="Calibri" pitchFamily="34" charset="-122"/>
                          <a:cs typeface="Times New Roman" panose="02020603050405020304" pitchFamily="18" charset="0"/>
                        </a:rPr>
                        <a:t>CNN-RNN hybrid + GloVe embeddings on ISOT and FA-KES</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EF3FB"/>
                    </a:solidFill>
                  </a:tcPr>
                </a:tc>
                <a:tc>
                  <a:txBody>
                    <a:bodyPr/>
                    <a:lstStyle/>
                    <a:p>
                      <a:pPr marL="0" indent="0" algn="l">
                        <a:buNone/>
                      </a:pPr>
                      <a:r>
                        <a:rPr lang="en-US" sz="800" dirty="0">
                          <a:solidFill>
                            <a:srgbClr val="1A5C2E"/>
                          </a:solidFill>
                          <a:latin typeface="Times New Roman" panose="02020603050405020304" pitchFamily="18" charset="0"/>
                          <a:ea typeface="Calibri" pitchFamily="34" charset="-122"/>
                          <a:cs typeface="Times New Roman" panose="02020603050405020304" pitchFamily="18" charset="0"/>
                        </a:rPr>
                        <a:t>Captures both local and sequential features; better generalization</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BF5EC"/>
                    </a:solidFill>
                  </a:tcPr>
                </a:tc>
                <a:tc>
                  <a:txBody>
                    <a:bodyPr/>
                    <a:lstStyle/>
                    <a:p>
                      <a:pPr marL="0" indent="0" algn="l">
                        <a:buNone/>
                      </a:pPr>
                      <a:r>
                        <a:rPr lang="en-US" sz="800" dirty="0">
                          <a:solidFill>
                            <a:srgbClr val="7A1A1A"/>
                          </a:solidFill>
                          <a:latin typeface="Times New Roman" panose="02020603050405020304" pitchFamily="18" charset="0"/>
                          <a:ea typeface="Calibri" pitchFamily="34" charset="-122"/>
                          <a:cs typeface="Times New Roman" panose="02020603050405020304" pitchFamily="18" charset="0"/>
                        </a:rPr>
                        <a:t>Needs large training data; slow inference; struggles with short text</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DF0EE"/>
                    </a:solidFill>
                  </a:tcPr>
                </a:tc>
                <a:tc>
                  <a:txBody>
                    <a:bodyPr/>
                    <a:lstStyle/>
                    <a:p>
                      <a:pPr marL="0" indent="0" algn="l">
                        <a:buNone/>
                      </a:pPr>
                      <a:r>
                        <a:rPr lang="en-US" sz="800" dirty="0">
                          <a:solidFill>
                            <a:srgbClr val="5A3A00"/>
                          </a:solidFill>
                          <a:latin typeface="Times New Roman" panose="02020603050405020304" pitchFamily="18" charset="0"/>
                          <a:ea typeface="Calibri" pitchFamily="34" charset="-122"/>
                          <a:cs typeface="Times New Roman" panose="02020603050405020304" pitchFamily="18" charset="0"/>
                        </a:rPr>
                        <a:t>Real-time social media streams; attention for interpretability</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EF8E8"/>
                    </a:solidFill>
                  </a:tcPr>
                </a:tc>
                <a:extLst>
                  <a:ext uri="{0D108BD9-81ED-4DB2-BD59-A6C34878D82A}">
                    <a16:rowId xmlns:a16="http://schemas.microsoft.com/office/drawing/2014/main" val="10003"/>
                  </a:ext>
                </a:extLst>
              </a:tr>
              <a:tr h="681004">
                <a:tc>
                  <a:txBody>
                    <a:bodyPr/>
                    <a:lstStyle/>
                    <a:p>
                      <a:pPr marL="0" indent="0" algn="l">
                        <a:buNone/>
                      </a:pPr>
                      <a:r>
                        <a:rPr lang="en-US" sz="800" b="1" dirty="0">
                          <a:solidFill>
                            <a:srgbClr val="2E4FA3"/>
                          </a:solidFill>
                          <a:latin typeface="Calibri" pitchFamily="34" charset="0"/>
                          <a:ea typeface="Calibri" pitchFamily="34" charset="-122"/>
                          <a:cs typeface="Calibri" pitchFamily="34" charset="-120"/>
                        </a:rPr>
                        <a:t>[Shu et al. (2017)]</a:t>
                      </a:r>
                      <a:endParaRPr lang="en-US" sz="900" dirty="0">
                        <a:latin typeface="Calibri" charset="0"/>
                        <a:ea typeface="Calibri" charset="0"/>
                        <a:cs typeface="Calibri" charset="0"/>
                      </a:endParaRPr>
                    </a:p>
                    <a:p>
                      <a:pPr marL="0" indent="0" algn="l">
                        <a:buNone/>
                      </a:pPr>
                      <a:r>
                        <a:rPr lang="en-US" sz="900" dirty="0">
                          <a:solidFill>
                            <a:srgbClr val="1C2340"/>
                          </a:solidFill>
                          <a:latin typeface="Calibri" pitchFamily="34" charset="0"/>
                          <a:ea typeface="Calibri" pitchFamily="34" charset="-122"/>
                          <a:cs typeface="Calibri" pitchFamily="34" charset="-120"/>
                        </a:rPr>
                        <a:t>Foundational taxonomy of fake news detection: knowledge, style, propagation, credibility approaches.</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EF3FB"/>
                    </a:solidFill>
                  </a:tcPr>
                </a:tc>
                <a:tc>
                  <a:txBody>
                    <a:bodyPr/>
                    <a:lstStyle/>
                    <a:p>
                      <a:pPr marL="0" indent="0" algn="l">
                        <a:buNone/>
                      </a:pPr>
                      <a:r>
                        <a:rPr lang="en-US" sz="900" dirty="0">
                          <a:solidFill>
                            <a:srgbClr val="1C2340"/>
                          </a:solidFill>
                          <a:latin typeface="Calibri" pitchFamily="34" charset="0"/>
                          <a:ea typeface="Calibri" pitchFamily="34" charset="-122"/>
                          <a:cs typeface="Calibri" pitchFamily="34" charset="-120"/>
                        </a:rPr>
                        <a:t>Survey of linguistic, visual, and social context features on social media</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noFill/>
                  </a:tcPr>
                </a:tc>
                <a:tc>
                  <a:txBody>
                    <a:bodyPr/>
                    <a:lstStyle/>
                    <a:p>
                      <a:pPr marL="0" indent="0" algn="l">
                        <a:buNone/>
                      </a:pPr>
                      <a:r>
                        <a:rPr lang="en-US" sz="900" dirty="0">
                          <a:solidFill>
                            <a:srgbClr val="1A5C2E"/>
                          </a:solidFill>
                          <a:latin typeface="Calibri" pitchFamily="34" charset="0"/>
                          <a:ea typeface="Calibri" pitchFamily="34" charset="-122"/>
                          <a:cs typeface="Calibri" pitchFamily="34" charset="-120"/>
                        </a:rPr>
                        <a:t>Comprehensive taxonomy; covers diverse paradigms; foundational reference</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BF5EC"/>
                    </a:solidFill>
                  </a:tcPr>
                </a:tc>
                <a:tc>
                  <a:txBody>
                    <a:bodyPr/>
                    <a:lstStyle/>
                    <a:p>
                      <a:pPr marL="0" indent="0" algn="l">
                        <a:buNone/>
                      </a:pPr>
                      <a:r>
                        <a:rPr lang="en-US" sz="900" dirty="0">
                          <a:solidFill>
                            <a:srgbClr val="7A1A1A"/>
                          </a:solidFill>
                          <a:latin typeface="Calibri" pitchFamily="34" charset="0"/>
                          <a:ea typeface="Calibri" pitchFamily="34" charset="-122"/>
                          <a:cs typeface="Calibri" pitchFamily="34" charset="-120"/>
                        </a:rPr>
                        <a:t>Survey only; no experiments; limited deep learning coverage</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DF0EE"/>
                    </a:solidFill>
                  </a:tcPr>
                </a:tc>
                <a:tc>
                  <a:txBody>
                    <a:bodyPr/>
                    <a:lstStyle/>
                    <a:p>
                      <a:pPr marL="0" indent="0" algn="l">
                        <a:buNone/>
                      </a:pPr>
                      <a:r>
                        <a:rPr lang="en-US" sz="900" dirty="0">
                          <a:solidFill>
                            <a:srgbClr val="5A3A00"/>
                          </a:solidFill>
                          <a:latin typeface="Calibri" pitchFamily="34" charset="0"/>
                          <a:ea typeface="Calibri" pitchFamily="34" charset="-122"/>
                          <a:cs typeface="Calibri" pitchFamily="34" charset="-120"/>
                        </a:rPr>
                        <a:t>End-to-end multi-modal systems combining all four paradigms</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EF8E8"/>
                    </a:solidFill>
                  </a:tcPr>
                </a:tc>
                <a:extLst>
                  <a:ext uri="{0D108BD9-81ED-4DB2-BD59-A6C34878D82A}">
                    <a16:rowId xmlns:a16="http://schemas.microsoft.com/office/drawing/2014/main" val="2847878619"/>
                  </a:ext>
                </a:extLst>
              </a:tr>
              <a:tr h="613862">
                <a:tc>
                  <a:txBody>
                    <a:bodyPr/>
                    <a:lstStyle/>
                    <a:p>
                      <a:pPr marL="0" indent="0" algn="l">
                        <a:buNone/>
                      </a:pPr>
                      <a:r>
                        <a:rPr lang="en-US" sz="800" b="1" dirty="0">
                          <a:solidFill>
                            <a:srgbClr val="2E4FA3"/>
                          </a:solidFill>
                          <a:latin typeface="Times New Roman" panose="02020603050405020304" pitchFamily="18" charset="0"/>
                          <a:ea typeface="Calibri" pitchFamily="34" charset="-122"/>
                          <a:cs typeface="Times New Roman" panose="02020603050405020304" pitchFamily="18" charset="0"/>
                        </a:rPr>
                        <a:t>[Przybyla (2020)]</a:t>
                      </a:r>
                      <a:endParaRPr lang="en-US" sz="800" dirty="0">
                        <a:latin typeface="Times New Roman" panose="02020603050405020304" pitchFamily="18" charset="0"/>
                        <a:ea typeface="Calibri" charset="0"/>
                        <a:cs typeface="Times New Roman" panose="02020603050405020304" pitchFamily="18" charset="0"/>
                      </a:endParaRPr>
                    </a:p>
                    <a:p>
                      <a:pPr marL="0" indent="0" algn="l">
                        <a:buNone/>
                      </a:pPr>
                      <a:r>
                        <a:rPr lang="en-US" sz="800" dirty="0">
                          <a:solidFill>
                            <a:srgbClr val="1C2340"/>
                          </a:solidFill>
                          <a:latin typeface="Times New Roman" panose="02020603050405020304" pitchFamily="18" charset="0"/>
                          <a:ea typeface="Calibri" pitchFamily="34" charset="-122"/>
                          <a:cs typeface="Times New Roman" panose="02020603050405020304" pitchFamily="18" charset="0"/>
                        </a:rPr>
                        <a:t>Analyzed stylometric and linguistic style features distinguishing fake from real news.</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2340"/>
                          </a:solidFill>
                          <a:latin typeface="Times New Roman" panose="02020603050405020304" pitchFamily="18" charset="0"/>
                          <a:ea typeface="Calibri" pitchFamily="34" charset="-122"/>
                          <a:cs typeface="Times New Roman" panose="02020603050405020304" pitchFamily="18" charset="0"/>
                        </a:rPr>
                        <a:t>Stylometric analysis + SVM; sentence length, punctuation, readability</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FFFFF"/>
                    </a:solidFill>
                  </a:tcPr>
                </a:tc>
                <a:tc>
                  <a:txBody>
                    <a:bodyPr/>
                    <a:lstStyle/>
                    <a:p>
                      <a:pPr marL="0" indent="0" algn="l">
                        <a:buNone/>
                      </a:pPr>
                      <a:r>
                        <a:rPr lang="en-US" sz="800" dirty="0">
                          <a:solidFill>
                            <a:srgbClr val="1A5C2E"/>
                          </a:solidFill>
                          <a:latin typeface="Times New Roman" panose="02020603050405020304" pitchFamily="18" charset="0"/>
                          <a:ea typeface="Calibri" pitchFamily="34" charset="-122"/>
                          <a:cs typeface="Times New Roman" panose="02020603050405020304" pitchFamily="18" charset="0"/>
                        </a:rPr>
                        <a:t>No external knowledge base needed; lightweight and fast</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3FAF4"/>
                    </a:solidFill>
                  </a:tcPr>
                </a:tc>
                <a:tc>
                  <a:txBody>
                    <a:bodyPr/>
                    <a:lstStyle/>
                    <a:p>
                      <a:pPr marL="0" indent="0" algn="l">
                        <a:buNone/>
                      </a:pPr>
                      <a:r>
                        <a:rPr lang="en-US" sz="800" dirty="0">
                          <a:solidFill>
                            <a:srgbClr val="7A1A1A"/>
                          </a:solidFill>
                          <a:latin typeface="Times New Roman" panose="02020603050405020304" pitchFamily="18" charset="0"/>
                          <a:ea typeface="Calibri" pitchFamily="34" charset="-122"/>
                          <a:cs typeface="Times New Roman" panose="02020603050405020304" pitchFamily="18" charset="0"/>
                        </a:rPr>
                        <a:t>Easily mimicked; low robustness against adversarial content</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EF6F5"/>
                    </a:solidFill>
                  </a:tcPr>
                </a:tc>
                <a:tc>
                  <a:txBody>
                    <a:bodyPr/>
                    <a:lstStyle/>
                    <a:p>
                      <a:pPr marL="0" indent="0" algn="l">
                        <a:buNone/>
                      </a:pPr>
                      <a:r>
                        <a:rPr lang="en-US" sz="800" dirty="0">
                          <a:solidFill>
                            <a:srgbClr val="5A3A00"/>
                          </a:solidFill>
                          <a:latin typeface="Times New Roman" panose="02020603050405020304" pitchFamily="18" charset="0"/>
                          <a:ea typeface="Calibri" pitchFamily="34" charset="-122"/>
                          <a:cs typeface="Times New Roman" panose="02020603050405020304" pitchFamily="18" charset="0"/>
                        </a:rPr>
                        <a:t>Combine style features with semantic embeddings</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FFCF2"/>
                    </a:solidFill>
                  </a:tcPr>
                </a:tc>
                <a:extLst>
                  <a:ext uri="{0D108BD9-81ED-4DB2-BD59-A6C34878D82A}">
                    <a16:rowId xmlns:a16="http://schemas.microsoft.com/office/drawing/2014/main" val="10004"/>
                  </a:ext>
                </a:extLst>
              </a:tr>
              <a:tr h="839391">
                <a:tc>
                  <a:txBody>
                    <a:bodyPr/>
                    <a:lstStyle/>
                    <a:p>
                      <a:pPr marL="0" indent="0" algn="l">
                        <a:buNone/>
                      </a:pPr>
                      <a:r>
                        <a:rPr lang="en-US" sz="800" b="1" dirty="0">
                          <a:solidFill>
                            <a:srgbClr val="2E4FA3"/>
                          </a:solidFill>
                          <a:latin typeface="Times New Roman" panose="02020603050405020304" pitchFamily="18" charset="0"/>
                          <a:ea typeface="Calibri" pitchFamily="34" charset="-122"/>
                          <a:cs typeface="Times New Roman" panose="02020603050405020304" pitchFamily="18" charset="0"/>
                        </a:rPr>
                        <a:t>[Popat et al. (2019)]</a:t>
                      </a:r>
                      <a:endParaRPr lang="en-US" sz="800" dirty="0">
                        <a:latin typeface="Times New Roman" panose="02020603050405020304" pitchFamily="18" charset="0"/>
                        <a:ea typeface="Calibri" charset="0"/>
                        <a:cs typeface="Times New Roman" panose="02020603050405020304" pitchFamily="18" charset="0"/>
                      </a:endParaRPr>
                    </a:p>
                    <a:p>
                      <a:pPr marL="0" indent="0" algn="l">
                        <a:buNone/>
                      </a:pPr>
                      <a:r>
                        <a:rPr lang="en-US" sz="800" dirty="0">
                          <a:solidFill>
                            <a:srgbClr val="1C2340"/>
                          </a:solidFill>
                          <a:latin typeface="Times New Roman" panose="02020603050405020304" pitchFamily="18" charset="0"/>
                          <a:ea typeface="Calibri" pitchFamily="34" charset="-122"/>
                          <a:cs typeface="Times New Roman" panose="02020603050405020304" pitchFamily="18" charset="0"/>
                        </a:rPr>
                        <a:t>Evidence-aware fake news detection using external web evidence and attention networks.</a:t>
                      </a: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EF3FB"/>
                    </a:solidFill>
                  </a:tcPr>
                </a:tc>
                <a:tc>
                  <a:txBody>
                    <a:bodyPr/>
                    <a:lstStyle/>
                    <a:p>
                      <a:pPr marL="0" indent="0" algn="l">
                        <a:buNone/>
                      </a:pPr>
                      <a:r>
                        <a:rPr lang="en-US" sz="800" dirty="0">
                          <a:solidFill>
                            <a:srgbClr val="1C2340"/>
                          </a:solidFill>
                          <a:latin typeface="Times New Roman" panose="02020603050405020304" pitchFamily="18" charset="0"/>
                          <a:ea typeface="Calibri" pitchFamily="34" charset="-122"/>
                          <a:cs typeface="Times New Roman" panose="02020603050405020304" pitchFamily="18" charset="0"/>
                        </a:rPr>
                        <a:t>Attention-based LSTM + web evidence retrieval on Snopes &amp; PolitiFact</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EF3FB"/>
                    </a:solidFill>
                  </a:tcPr>
                </a:tc>
                <a:tc>
                  <a:txBody>
                    <a:bodyPr/>
                    <a:lstStyle/>
                    <a:p>
                      <a:pPr marL="0" indent="0" algn="l">
                        <a:buNone/>
                      </a:pPr>
                      <a:r>
                        <a:rPr lang="en-US" sz="800" dirty="0">
                          <a:solidFill>
                            <a:srgbClr val="1A5C2E"/>
                          </a:solidFill>
                          <a:latin typeface="Times New Roman" panose="02020603050405020304" pitchFamily="18" charset="0"/>
                          <a:ea typeface="Calibri" pitchFamily="34" charset="-122"/>
                          <a:cs typeface="Times New Roman" panose="02020603050405020304" pitchFamily="18" charset="0"/>
                        </a:rPr>
                        <a:t>External knowledge integration; attention provides interpretability</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BF5EC"/>
                    </a:solidFill>
                  </a:tcPr>
                </a:tc>
                <a:tc>
                  <a:txBody>
                    <a:bodyPr/>
                    <a:lstStyle/>
                    <a:p>
                      <a:pPr marL="0" indent="0" algn="l">
                        <a:buNone/>
                      </a:pPr>
                      <a:r>
                        <a:rPr lang="en-US" sz="800" dirty="0">
                          <a:solidFill>
                            <a:srgbClr val="7A1A1A"/>
                          </a:solidFill>
                          <a:latin typeface="Times New Roman" panose="02020603050405020304" pitchFamily="18" charset="0"/>
                          <a:ea typeface="Calibri" pitchFamily="34" charset="-122"/>
                          <a:cs typeface="Times New Roman" panose="02020603050405020304" pitchFamily="18" charset="0"/>
                        </a:rPr>
                        <a:t>Depends on evidence availability; slow retrieval; fails if evidence biased</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DF0EE"/>
                    </a:solidFill>
                  </a:tcPr>
                </a:tc>
                <a:tc>
                  <a:txBody>
                    <a:bodyPr/>
                    <a:lstStyle/>
                    <a:p>
                      <a:pPr marL="0" indent="0" algn="l">
                        <a:buNone/>
                      </a:pPr>
                      <a:r>
                        <a:rPr lang="en-US" sz="800" dirty="0">
                          <a:solidFill>
                            <a:srgbClr val="5A3A00"/>
                          </a:solidFill>
                          <a:latin typeface="Times New Roman" panose="02020603050405020304" pitchFamily="18" charset="0"/>
                          <a:ea typeface="Calibri" pitchFamily="34" charset="-122"/>
                          <a:cs typeface="Times New Roman" panose="02020603050405020304" pitchFamily="18" charset="0"/>
                        </a:rPr>
                        <a:t>Real-time knowledge graphs; better fact-checking APIs</a:t>
                      </a:r>
                      <a:endParaRPr lang="en-US" sz="800" dirty="0">
                        <a:latin typeface="Times New Roman" panose="02020603050405020304" pitchFamily="18" charset="0"/>
                        <a:ea typeface="Calibri" charset="0"/>
                        <a:cs typeface="Times New Roman" panose="02020603050405020304" pitchFamily="18"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EF8E8"/>
                    </a:solidFill>
                  </a:tcPr>
                </a:tc>
                <a:extLst>
                  <a:ext uri="{0D108BD9-81ED-4DB2-BD59-A6C34878D82A}">
                    <a16:rowId xmlns:a16="http://schemas.microsoft.com/office/drawing/2014/main" val="10005"/>
                  </a:ext>
                </a:extLst>
              </a:tr>
            </a:tbl>
          </a:graphicData>
        </a:graphic>
      </p:graphicFrame>
      <p:sp>
        <p:nvSpPr>
          <p:cNvPr id="10" name="TextBox 9">
            <a:extLst>
              <a:ext uri="{FF2B5EF4-FFF2-40B4-BE49-F238E27FC236}">
                <a16:creationId xmlns:a16="http://schemas.microsoft.com/office/drawing/2014/main" id="{56F5E9F3-3600-4AF4-8C10-10E2288F657D}"/>
              </a:ext>
            </a:extLst>
          </p:cNvPr>
          <p:cNvSpPr txBox="1"/>
          <p:nvPr/>
        </p:nvSpPr>
        <p:spPr>
          <a:xfrm>
            <a:off x="10296525" y="5774770"/>
            <a:ext cx="638316" cy="369332"/>
          </a:xfrm>
          <a:prstGeom prst="rect">
            <a:avLst/>
          </a:prstGeom>
          <a:noFill/>
        </p:spPr>
        <p:txBody>
          <a:bodyPr wrap="none" rtlCol="0">
            <a:spAutoFit/>
          </a:bodyPr>
          <a:lstStyle/>
          <a:p>
            <a:r>
              <a:rPr lang="en-US" dirty="0"/>
              <a:t>PTO</a:t>
            </a:r>
          </a:p>
        </p:txBody>
      </p:sp>
    </p:spTree>
    <p:extLst>
      <p:ext uri="{BB962C8B-B14F-4D97-AF65-F5344CB8AC3E}">
        <p14:creationId xmlns:p14="http://schemas.microsoft.com/office/powerpoint/2010/main" val="615496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0">
            <a:extLst>
              <a:ext uri="{FF2B5EF4-FFF2-40B4-BE49-F238E27FC236}">
                <a16:creationId xmlns:a16="http://schemas.microsoft.com/office/drawing/2014/main" id="{AC1060F0-9B91-D665-4183-4F0AC73B939B}"/>
              </a:ext>
            </a:extLst>
          </p:cNvPr>
          <p:cNvGraphicFramePr>
            <a:graphicFrameLocks noGrp="1"/>
          </p:cNvGraphicFramePr>
          <p:nvPr>
            <p:extLst>
              <p:ext uri="{D42A27DB-BD31-4B8C-83A1-F6EECF244321}">
                <p14:modId xmlns:p14="http://schemas.microsoft.com/office/powerpoint/2010/main" val="2319489694"/>
              </p:ext>
            </p:extLst>
          </p:nvPr>
        </p:nvGraphicFramePr>
        <p:xfrm>
          <a:off x="709066" y="1013460"/>
          <a:ext cx="10770692" cy="4663440"/>
        </p:xfrm>
        <a:graphic>
          <a:graphicData uri="http://schemas.openxmlformats.org/drawingml/2006/table">
            <a:tbl>
              <a:tblPr/>
              <a:tblGrid>
                <a:gridCol w="2358212">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777240">
                <a:tc>
                  <a:txBody>
                    <a:bodyPr/>
                    <a:lstStyle/>
                    <a:p>
                      <a:pPr marL="0" indent="0" algn="ctr">
                        <a:buNone/>
                      </a:pPr>
                      <a:r>
                        <a:rPr lang="en-US" sz="1100" b="1" dirty="0">
                          <a:solidFill>
                            <a:srgbClr val="FFFFFF"/>
                          </a:solidFill>
                        </a:rPr>
                        <a:t>Contribution</a:t>
                      </a:r>
                      <a:endParaRPr lang="en-US" sz="1100" dirty="0"/>
                    </a:p>
                  </a:txBody>
                  <a:tcPr anchor="ctr">
                    <a:lnL w="6350" cap="flat" cmpd="sng" algn="ctr">
                      <a:solidFill>
                        <a:srgbClr val="3A5FA0"/>
                      </a:solidFill>
                      <a:prstDash val="solid"/>
                      <a:round/>
                      <a:headEnd type="none" w="med" len="med"/>
                      <a:tailEnd type="none" w="med" len="med"/>
                    </a:lnL>
                    <a:lnR w="6350" cap="flat" cmpd="sng" algn="ctr">
                      <a:solidFill>
                        <a:srgbClr val="3A5FA0"/>
                      </a:solidFill>
                      <a:prstDash val="solid"/>
                      <a:round/>
                      <a:headEnd type="none" w="med" len="med"/>
                      <a:tailEnd type="none" w="med" len="med"/>
                    </a:lnR>
                    <a:lnT w="6350" cap="flat" cmpd="sng" algn="ctr">
                      <a:solidFill>
                        <a:srgbClr val="3A5FA0"/>
                      </a:solidFill>
                      <a:prstDash val="solid"/>
                      <a:round/>
                      <a:headEnd type="none" w="med" len="med"/>
                      <a:tailEnd type="none" w="med" len="med"/>
                    </a:lnT>
                    <a:lnB w="19050" cap="flat" cmpd="sng" algn="ctr">
                      <a:solidFill>
                        <a:srgbClr val="4A90D9"/>
                      </a:solidFill>
                      <a:prstDash val="solid"/>
                      <a:round/>
                      <a:headEnd type="none" w="med" len="med"/>
                      <a:tailEnd type="none" w="med" len="med"/>
                    </a:lnB>
                    <a:solidFill>
                      <a:srgbClr val="1A2C5B"/>
                    </a:solidFill>
                  </a:tcPr>
                </a:tc>
                <a:tc>
                  <a:txBody>
                    <a:bodyPr/>
                    <a:lstStyle/>
                    <a:p>
                      <a:pPr marL="0" indent="0" algn="ctr">
                        <a:buNone/>
                      </a:pPr>
                      <a:r>
                        <a:rPr lang="en-US" sz="1100" b="1" dirty="0">
                          <a:solidFill>
                            <a:srgbClr val="FFFFFF"/>
                          </a:solidFill>
                        </a:rPr>
                        <a:t>Method</a:t>
                      </a:r>
                      <a:endParaRPr lang="en-US" sz="1100" dirty="0"/>
                    </a:p>
                  </a:txBody>
                  <a:tcPr anchor="ctr">
                    <a:lnL w="6350" cap="flat" cmpd="sng" algn="ctr">
                      <a:solidFill>
                        <a:srgbClr val="3A5FA0"/>
                      </a:solidFill>
                      <a:prstDash val="solid"/>
                      <a:round/>
                      <a:headEnd type="none" w="med" len="med"/>
                      <a:tailEnd type="none" w="med" len="med"/>
                    </a:lnL>
                    <a:lnR w="6350" cap="flat" cmpd="sng" algn="ctr">
                      <a:solidFill>
                        <a:srgbClr val="3A5FA0"/>
                      </a:solidFill>
                      <a:prstDash val="solid"/>
                      <a:round/>
                      <a:headEnd type="none" w="med" len="med"/>
                      <a:tailEnd type="none" w="med" len="med"/>
                    </a:lnR>
                    <a:lnT w="6350" cap="flat" cmpd="sng" algn="ctr">
                      <a:solidFill>
                        <a:srgbClr val="3A5FA0"/>
                      </a:solidFill>
                      <a:prstDash val="solid"/>
                      <a:round/>
                      <a:headEnd type="none" w="med" len="med"/>
                      <a:tailEnd type="none" w="med" len="med"/>
                    </a:lnT>
                    <a:lnB w="19050" cap="flat" cmpd="sng" algn="ctr">
                      <a:solidFill>
                        <a:srgbClr val="4A90D9"/>
                      </a:solidFill>
                      <a:prstDash val="solid"/>
                      <a:round/>
                      <a:headEnd type="none" w="med" len="med"/>
                      <a:tailEnd type="none" w="med" len="med"/>
                    </a:lnB>
                    <a:solidFill>
                      <a:srgbClr val="1A2C5B"/>
                    </a:solidFill>
                  </a:tcPr>
                </a:tc>
                <a:tc>
                  <a:txBody>
                    <a:bodyPr/>
                    <a:lstStyle/>
                    <a:p>
                      <a:pPr marL="0" indent="0" algn="ctr">
                        <a:buNone/>
                      </a:pPr>
                      <a:r>
                        <a:rPr lang="en-US" sz="1100" b="1" dirty="0">
                          <a:solidFill>
                            <a:srgbClr val="FFFFFF"/>
                          </a:solidFill>
                        </a:rPr>
                        <a:t>Advantage</a:t>
                      </a:r>
                      <a:endParaRPr lang="en-US" sz="1100" dirty="0"/>
                    </a:p>
                  </a:txBody>
                  <a:tcPr anchor="ctr">
                    <a:lnL w="6350" cap="flat" cmpd="sng" algn="ctr">
                      <a:solidFill>
                        <a:srgbClr val="3A5FA0"/>
                      </a:solidFill>
                      <a:prstDash val="solid"/>
                      <a:round/>
                      <a:headEnd type="none" w="med" len="med"/>
                      <a:tailEnd type="none" w="med" len="med"/>
                    </a:lnL>
                    <a:lnR w="6350" cap="flat" cmpd="sng" algn="ctr">
                      <a:solidFill>
                        <a:srgbClr val="3A5FA0"/>
                      </a:solidFill>
                      <a:prstDash val="solid"/>
                      <a:round/>
                      <a:headEnd type="none" w="med" len="med"/>
                      <a:tailEnd type="none" w="med" len="med"/>
                    </a:lnR>
                    <a:lnT w="6350" cap="flat" cmpd="sng" algn="ctr">
                      <a:solidFill>
                        <a:srgbClr val="3A5FA0"/>
                      </a:solidFill>
                      <a:prstDash val="solid"/>
                      <a:round/>
                      <a:headEnd type="none" w="med" len="med"/>
                      <a:tailEnd type="none" w="med" len="med"/>
                    </a:lnT>
                    <a:lnB w="19050" cap="flat" cmpd="sng" algn="ctr">
                      <a:solidFill>
                        <a:srgbClr val="4A90D9"/>
                      </a:solidFill>
                      <a:prstDash val="solid"/>
                      <a:round/>
                      <a:headEnd type="none" w="med" len="med"/>
                      <a:tailEnd type="none" w="med" len="med"/>
                    </a:lnB>
                    <a:solidFill>
                      <a:srgbClr val="1A2C5B"/>
                    </a:solidFill>
                  </a:tcPr>
                </a:tc>
                <a:tc>
                  <a:txBody>
                    <a:bodyPr/>
                    <a:lstStyle/>
                    <a:p>
                      <a:pPr marL="0" indent="0" algn="ctr">
                        <a:buNone/>
                      </a:pPr>
                      <a:r>
                        <a:rPr lang="en-US" sz="1100" b="1" dirty="0">
                          <a:solidFill>
                            <a:srgbClr val="FFFFFF"/>
                          </a:solidFill>
                        </a:rPr>
                        <a:t>Disadvantage</a:t>
                      </a:r>
                      <a:endParaRPr lang="en-US" sz="1100" dirty="0"/>
                    </a:p>
                  </a:txBody>
                  <a:tcPr anchor="ctr">
                    <a:lnL w="6350" cap="flat" cmpd="sng" algn="ctr">
                      <a:solidFill>
                        <a:srgbClr val="3A5FA0"/>
                      </a:solidFill>
                      <a:prstDash val="solid"/>
                      <a:round/>
                      <a:headEnd type="none" w="med" len="med"/>
                      <a:tailEnd type="none" w="med" len="med"/>
                    </a:lnL>
                    <a:lnR w="6350" cap="flat" cmpd="sng" algn="ctr">
                      <a:solidFill>
                        <a:srgbClr val="3A5FA0"/>
                      </a:solidFill>
                      <a:prstDash val="solid"/>
                      <a:round/>
                      <a:headEnd type="none" w="med" len="med"/>
                      <a:tailEnd type="none" w="med" len="med"/>
                    </a:lnR>
                    <a:lnT w="6350" cap="flat" cmpd="sng" algn="ctr">
                      <a:solidFill>
                        <a:srgbClr val="3A5FA0"/>
                      </a:solidFill>
                      <a:prstDash val="solid"/>
                      <a:round/>
                      <a:headEnd type="none" w="med" len="med"/>
                      <a:tailEnd type="none" w="med" len="med"/>
                    </a:lnT>
                    <a:lnB w="19050" cap="flat" cmpd="sng" algn="ctr">
                      <a:solidFill>
                        <a:srgbClr val="4A90D9"/>
                      </a:solidFill>
                      <a:prstDash val="solid"/>
                      <a:round/>
                      <a:headEnd type="none" w="med" len="med"/>
                      <a:tailEnd type="none" w="med" len="med"/>
                    </a:lnB>
                    <a:solidFill>
                      <a:srgbClr val="1A2C5B"/>
                    </a:solidFill>
                  </a:tcPr>
                </a:tc>
                <a:tc>
                  <a:txBody>
                    <a:bodyPr/>
                    <a:lstStyle/>
                    <a:p>
                      <a:pPr marL="0" indent="0" algn="ctr">
                        <a:buNone/>
                      </a:pPr>
                      <a:r>
                        <a:rPr lang="en-US" sz="1100" b="1" dirty="0">
                          <a:solidFill>
                            <a:srgbClr val="FFFFFF"/>
                          </a:solidFill>
                        </a:rPr>
                        <a:t>Future Scope</a:t>
                      </a:r>
                      <a:endParaRPr lang="en-US" sz="1100" dirty="0"/>
                    </a:p>
                  </a:txBody>
                  <a:tcPr anchor="ctr">
                    <a:lnL w="6350" cap="flat" cmpd="sng" algn="ctr">
                      <a:solidFill>
                        <a:srgbClr val="3A5FA0"/>
                      </a:solidFill>
                      <a:prstDash val="solid"/>
                      <a:round/>
                      <a:headEnd type="none" w="med" len="med"/>
                      <a:tailEnd type="none" w="med" len="med"/>
                    </a:lnL>
                    <a:lnR w="6350" cap="flat" cmpd="sng" algn="ctr">
                      <a:solidFill>
                        <a:srgbClr val="3A5FA0"/>
                      </a:solidFill>
                      <a:prstDash val="solid"/>
                      <a:round/>
                      <a:headEnd type="none" w="med" len="med"/>
                      <a:tailEnd type="none" w="med" len="med"/>
                    </a:lnR>
                    <a:lnT w="6350" cap="flat" cmpd="sng" algn="ctr">
                      <a:solidFill>
                        <a:srgbClr val="3A5FA0"/>
                      </a:solidFill>
                      <a:prstDash val="solid"/>
                      <a:round/>
                      <a:headEnd type="none" w="med" len="med"/>
                      <a:tailEnd type="none" w="med" len="med"/>
                    </a:lnT>
                    <a:lnB w="19050" cap="flat" cmpd="sng" algn="ctr">
                      <a:solidFill>
                        <a:srgbClr val="4A90D9"/>
                      </a:solidFill>
                      <a:prstDash val="solid"/>
                      <a:round/>
                      <a:headEnd type="none" w="med" len="med"/>
                      <a:tailEnd type="none" w="med" len="med"/>
                    </a:lnB>
                    <a:solidFill>
                      <a:srgbClr val="1A2C5B"/>
                    </a:solidFill>
                  </a:tcPr>
                </a:tc>
                <a:extLst>
                  <a:ext uri="{0D108BD9-81ED-4DB2-BD59-A6C34878D82A}">
                    <a16:rowId xmlns:a16="http://schemas.microsoft.com/office/drawing/2014/main" val="10000"/>
                  </a:ext>
                </a:extLst>
              </a:tr>
              <a:tr h="777240">
                <a:tc>
                  <a:txBody>
                    <a:bodyPr/>
                    <a:lstStyle/>
                    <a:p>
                      <a:pPr marL="0" indent="0" algn="l">
                        <a:buNone/>
                      </a:pPr>
                      <a:r>
                        <a:rPr lang="en-US" sz="800" b="1" dirty="0">
                          <a:solidFill>
                            <a:srgbClr val="2E4FA3"/>
                          </a:solidFill>
                          <a:latin typeface="Calibri" pitchFamily="34" charset="0"/>
                          <a:ea typeface="Calibri" pitchFamily="34" charset="-122"/>
                          <a:cs typeface="Calibri" pitchFamily="34" charset="-120"/>
                        </a:rPr>
                        <a:t>[Shu et al. (2020)]</a:t>
                      </a:r>
                      <a:endParaRPr lang="en-US" sz="900" dirty="0">
                        <a:latin typeface="Calibri" charset="0"/>
                        <a:ea typeface="Calibri" charset="0"/>
                        <a:cs typeface="Calibri" charset="0"/>
                      </a:endParaRPr>
                    </a:p>
                    <a:p>
                      <a:pPr marL="0" indent="0" algn="l">
                        <a:buNone/>
                      </a:pPr>
                      <a:r>
                        <a:rPr lang="en-US" sz="900" dirty="0">
                          <a:solidFill>
                            <a:srgbClr val="1C2340"/>
                          </a:solidFill>
                          <a:latin typeface="Calibri" pitchFamily="34" charset="0"/>
                          <a:ea typeface="Calibri" pitchFamily="34" charset="-122"/>
                          <a:cs typeface="Calibri" pitchFamily="34" charset="-120"/>
                        </a:rPr>
                        <a:t>Developed FakeNewsNet benchmark dataset with news content, social engagement, and propagation features.</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19050" cap="flat" cmpd="sng" algn="ctr">
                      <a:solidFill>
                        <a:srgbClr val="4A90D9"/>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EF3FB"/>
                    </a:solidFill>
                  </a:tcPr>
                </a:tc>
                <a:tc>
                  <a:txBody>
                    <a:bodyPr/>
                    <a:lstStyle/>
                    <a:p>
                      <a:pPr marL="0" indent="0" algn="l">
                        <a:buNone/>
                      </a:pPr>
                      <a:r>
                        <a:rPr lang="en-US" sz="900" dirty="0">
                          <a:solidFill>
                            <a:srgbClr val="1C2340"/>
                          </a:solidFill>
                          <a:latin typeface="Calibri" pitchFamily="34" charset="0"/>
                          <a:ea typeface="Calibri" pitchFamily="34" charset="-122"/>
                          <a:cs typeface="Calibri" pitchFamily="34" charset="-120"/>
                        </a:rPr>
                        <a:t>Multi-modal dataset: text, social graphs, user profiles, publisher credibility</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19050" cap="flat" cmpd="sng" algn="ctr">
                      <a:solidFill>
                        <a:srgbClr val="4A90D9"/>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EF3FB"/>
                    </a:solidFill>
                  </a:tcPr>
                </a:tc>
                <a:tc>
                  <a:txBody>
                    <a:bodyPr/>
                    <a:lstStyle/>
                    <a:p>
                      <a:pPr marL="0" indent="0" algn="l">
                        <a:buNone/>
                      </a:pPr>
                      <a:r>
                        <a:rPr lang="en-US" sz="900" dirty="0">
                          <a:solidFill>
                            <a:srgbClr val="1A5C2E"/>
                          </a:solidFill>
                          <a:latin typeface="Calibri" pitchFamily="34" charset="0"/>
                          <a:ea typeface="Calibri" pitchFamily="34" charset="-122"/>
                          <a:cs typeface="Calibri" pitchFamily="34" charset="-120"/>
                        </a:rPr>
                        <a:t>Most comprehensive public dataset; enables multi-modal research</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19050" cap="flat" cmpd="sng" algn="ctr">
                      <a:solidFill>
                        <a:srgbClr val="4A90D9"/>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BF5EC"/>
                    </a:solidFill>
                  </a:tcPr>
                </a:tc>
                <a:tc>
                  <a:txBody>
                    <a:bodyPr/>
                    <a:lstStyle/>
                    <a:p>
                      <a:pPr marL="0" indent="0" algn="l">
                        <a:buNone/>
                      </a:pPr>
                      <a:r>
                        <a:rPr lang="en-US" sz="900" dirty="0">
                          <a:solidFill>
                            <a:srgbClr val="7A1A1A"/>
                          </a:solidFill>
                          <a:latin typeface="Calibri" pitchFamily="34" charset="0"/>
                          <a:ea typeface="Calibri" pitchFamily="34" charset="-122"/>
                          <a:cs typeface="Calibri" pitchFamily="34" charset="-120"/>
                        </a:rPr>
                        <a:t>Time-consuming collection; social features need platform API access</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19050" cap="flat" cmpd="sng" algn="ctr">
                      <a:solidFill>
                        <a:srgbClr val="4A90D9"/>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DF0EE"/>
                    </a:solidFill>
                  </a:tcPr>
                </a:tc>
                <a:tc>
                  <a:txBody>
                    <a:bodyPr/>
                    <a:lstStyle/>
                    <a:p>
                      <a:pPr marL="0" indent="0" algn="l">
                        <a:buNone/>
                      </a:pPr>
                      <a:r>
                        <a:rPr lang="en-US" sz="900" dirty="0">
                          <a:solidFill>
                            <a:srgbClr val="5A3A00"/>
                          </a:solidFill>
                          <a:latin typeface="Calibri" pitchFamily="34" charset="0"/>
                          <a:ea typeface="Calibri" pitchFamily="34" charset="-122"/>
                          <a:cs typeface="Calibri" pitchFamily="34" charset="-120"/>
                        </a:rPr>
                        <a:t>Expand to video/image; multilingual fake news samples</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19050" cap="flat" cmpd="sng" algn="ctr">
                      <a:solidFill>
                        <a:srgbClr val="4A90D9"/>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EF8E8"/>
                    </a:solidFill>
                  </a:tcPr>
                </a:tc>
                <a:extLst>
                  <a:ext uri="{0D108BD9-81ED-4DB2-BD59-A6C34878D82A}">
                    <a16:rowId xmlns:a16="http://schemas.microsoft.com/office/drawing/2014/main" val="10001"/>
                  </a:ext>
                </a:extLst>
              </a:tr>
              <a:tr h="777240">
                <a:tc>
                  <a:txBody>
                    <a:bodyPr/>
                    <a:lstStyle/>
                    <a:p>
                      <a:pPr marL="0" indent="0" algn="l">
                        <a:buNone/>
                      </a:pPr>
                      <a:r>
                        <a:rPr lang="en-US" sz="800" b="1" dirty="0">
                          <a:solidFill>
                            <a:srgbClr val="2E4FA3"/>
                          </a:solidFill>
                          <a:latin typeface="Calibri" pitchFamily="34" charset="0"/>
                          <a:ea typeface="Calibri" pitchFamily="34" charset="-122"/>
                          <a:cs typeface="Calibri" pitchFamily="34" charset="-120"/>
                        </a:rPr>
                        <a:t>[Mehta et al. (2022)]</a:t>
                      </a:r>
                      <a:endParaRPr lang="en-US" sz="900" dirty="0">
                        <a:latin typeface="Calibri" charset="0"/>
                        <a:ea typeface="Calibri" charset="0"/>
                        <a:cs typeface="Calibri" charset="0"/>
                      </a:endParaRPr>
                    </a:p>
                    <a:p>
                      <a:pPr marL="0" indent="0" algn="l">
                        <a:buNone/>
                      </a:pPr>
                      <a:r>
                        <a:rPr lang="en-US" sz="900" dirty="0">
                          <a:solidFill>
                            <a:srgbClr val="1C2340"/>
                          </a:solidFill>
                          <a:latin typeface="Calibri" pitchFamily="34" charset="0"/>
                          <a:ea typeface="Calibri" pitchFamily="34" charset="-122"/>
                          <a:cs typeface="Calibri" pitchFamily="34" charset="-120"/>
                        </a:rPr>
                        <a:t>Surveyed deep learning techniques for fake news: transformers, GNNs, multi-modal approaches.</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2340"/>
                          </a:solidFill>
                          <a:latin typeface="Calibri" pitchFamily="34" charset="0"/>
                          <a:ea typeface="Calibri" pitchFamily="34" charset="-122"/>
                          <a:cs typeface="Calibri" pitchFamily="34" charset="-120"/>
                        </a:rPr>
                        <a:t>Systematic review of BERT, GPT, GNN, multi-modal models (2017–2022)</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FFFFF"/>
                    </a:solidFill>
                  </a:tcPr>
                </a:tc>
                <a:tc>
                  <a:txBody>
                    <a:bodyPr/>
                    <a:lstStyle/>
                    <a:p>
                      <a:pPr marL="0" indent="0" algn="l">
                        <a:buNone/>
                      </a:pPr>
                      <a:r>
                        <a:rPr lang="en-US" sz="900" dirty="0">
                          <a:solidFill>
                            <a:srgbClr val="1A5C2E"/>
                          </a:solidFill>
                          <a:latin typeface="Calibri" pitchFamily="34" charset="0"/>
                          <a:ea typeface="Calibri" pitchFamily="34" charset="-122"/>
                          <a:cs typeface="Calibri" pitchFamily="34" charset="-120"/>
                        </a:rPr>
                        <a:t>Comprehensive; identifies research gaps; clear taxonomy</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3FAF4"/>
                    </a:solidFill>
                  </a:tcPr>
                </a:tc>
                <a:tc>
                  <a:txBody>
                    <a:bodyPr/>
                    <a:lstStyle/>
                    <a:p>
                      <a:pPr marL="0" indent="0" algn="l">
                        <a:buNone/>
                      </a:pPr>
                      <a:r>
                        <a:rPr lang="en-US" sz="900" dirty="0">
                          <a:solidFill>
                            <a:srgbClr val="7A1A1A"/>
                          </a:solidFill>
                          <a:latin typeface="Calibri" pitchFamily="34" charset="0"/>
                          <a:ea typeface="Calibri" pitchFamily="34" charset="-122"/>
                          <a:cs typeface="Calibri" pitchFamily="34" charset="-120"/>
                        </a:rPr>
                        <a:t>Survey only; no novel model; English-only coverage</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EF6F5"/>
                    </a:solidFill>
                  </a:tcPr>
                </a:tc>
                <a:tc>
                  <a:txBody>
                    <a:bodyPr/>
                    <a:lstStyle/>
                    <a:p>
                      <a:pPr marL="0" indent="0" algn="l">
                        <a:buNone/>
                      </a:pPr>
                      <a:r>
                        <a:rPr lang="en-US" sz="900" dirty="0">
                          <a:solidFill>
                            <a:srgbClr val="5A3A00"/>
                          </a:solidFill>
                          <a:latin typeface="Calibri" pitchFamily="34" charset="0"/>
                          <a:ea typeface="Calibri" pitchFamily="34" charset="-122"/>
                          <a:cs typeface="Calibri" pitchFamily="34" charset="-120"/>
                        </a:rPr>
                        <a:t>Unified evaluation benchmark; cross-lingual detection</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FFCF2"/>
                    </a:solidFill>
                  </a:tcPr>
                </a:tc>
                <a:extLst>
                  <a:ext uri="{0D108BD9-81ED-4DB2-BD59-A6C34878D82A}">
                    <a16:rowId xmlns:a16="http://schemas.microsoft.com/office/drawing/2014/main" val="10002"/>
                  </a:ext>
                </a:extLst>
              </a:tr>
              <a:tr h="777240">
                <a:tc>
                  <a:txBody>
                    <a:bodyPr/>
                    <a:lstStyle/>
                    <a:p>
                      <a:pPr marL="0" indent="0" algn="l">
                        <a:buNone/>
                      </a:pPr>
                      <a:r>
                        <a:rPr lang="en-US" sz="800" b="1" dirty="0">
                          <a:solidFill>
                            <a:srgbClr val="2E4FA3"/>
                          </a:solidFill>
                          <a:latin typeface="Calibri" pitchFamily="34" charset="0"/>
                          <a:ea typeface="Calibri" pitchFamily="34" charset="-122"/>
                          <a:cs typeface="Calibri" pitchFamily="34" charset="-120"/>
                        </a:rPr>
                        <a:t>[Rai et al. (2022)]</a:t>
                      </a:r>
                      <a:endParaRPr lang="en-US" sz="900" dirty="0">
                        <a:latin typeface="Calibri" charset="0"/>
                        <a:ea typeface="Calibri" charset="0"/>
                        <a:cs typeface="Calibri" charset="0"/>
                      </a:endParaRPr>
                    </a:p>
                    <a:p>
                      <a:pPr marL="0" indent="0" algn="l">
                        <a:buNone/>
                      </a:pPr>
                      <a:r>
                        <a:rPr lang="en-US" sz="900" dirty="0">
                          <a:solidFill>
                            <a:srgbClr val="1C2340"/>
                          </a:solidFill>
                          <a:latin typeface="Calibri" pitchFamily="34" charset="0"/>
                          <a:ea typeface="Calibri" pitchFamily="34" charset="-122"/>
                          <a:cs typeface="Calibri" pitchFamily="34" charset="-120"/>
                        </a:rPr>
                        <a:t>Combined BERT embeddings with enhanced LSTM and attention for improved fake news classification.</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EF3FB"/>
                    </a:solidFill>
                  </a:tcPr>
                </a:tc>
                <a:tc>
                  <a:txBody>
                    <a:bodyPr/>
                    <a:lstStyle/>
                    <a:p>
                      <a:pPr marL="0" indent="0" algn="l">
                        <a:buNone/>
                      </a:pPr>
                      <a:r>
                        <a:rPr lang="en-US" sz="900" dirty="0">
                          <a:solidFill>
                            <a:srgbClr val="1C2340"/>
                          </a:solidFill>
                          <a:latin typeface="Calibri" pitchFamily="34" charset="0"/>
                          <a:ea typeface="Calibri" pitchFamily="34" charset="-122"/>
                          <a:cs typeface="Calibri" pitchFamily="34" charset="-120"/>
                        </a:rPr>
                        <a:t>BERT + enhanced LSTM + attention on LIAR and ISOT datasets</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EF3FB"/>
                    </a:solidFill>
                  </a:tcPr>
                </a:tc>
                <a:tc>
                  <a:txBody>
                    <a:bodyPr/>
                    <a:lstStyle/>
                    <a:p>
                      <a:pPr marL="0" indent="0" algn="l">
                        <a:buNone/>
                      </a:pPr>
                      <a:r>
                        <a:rPr lang="en-US" sz="900" dirty="0">
                          <a:solidFill>
                            <a:srgbClr val="1A5C2E"/>
                          </a:solidFill>
                          <a:latin typeface="Calibri" pitchFamily="34" charset="0"/>
                          <a:ea typeface="Calibri" pitchFamily="34" charset="-122"/>
                          <a:cs typeface="Calibri" pitchFamily="34" charset="-120"/>
                        </a:rPr>
                        <a:t>Outperforms standalone BERT or LSTM; attention improves interpretability</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BF5EC"/>
                    </a:solidFill>
                  </a:tcPr>
                </a:tc>
                <a:tc>
                  <a:txBody>
                    <a:bodyPr/>
                    <a:lstStyle/>
                    <a:p>
                      <a:pPr marL="0" indent="0" algn="l">
                        <a:buNone/>
                      </a:pPr>
                      <a:r>
                        <a:rPr lang="en-US" sz="900" dirty="0">
                          <a:solidFill>
                            <a:srgbClr val="7A1A1A"/>
                          </a:solidFill>
                          <a:latin typeface="Calibri" pitchFamily="34" charset="0"/>
                          <a:ea typeface="Calibri" pitchFamily="34" charset="-122"/>
                          <a:cs typeface="Calibri" pitchFamily="34" charset="-120"/>
                        </a:rPr>
                        <a:t>High complexity; long training time; needs large labeled data</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DF0EE"/>
                    </a:solidFill>
                  </a:tcPr>
                </a:tc>
                <a:tc>
                  <a:txBody>
                    <a:bodyPr/>
                    <a:lstStyle/>
                    <a:p>
                      <a:pPr marL="0" indent="0" algn="l">
                        <a:buNone/>
                      </a:pPr>
                      <a:r>
                        <a:rPr lang="en-US" sz="900" dirty="0">
                          <a:solidFill>
                            <a:srgbClr val="5A3A00"/>
                          </a:solidFill>
                          <a:latin typeface="Calibri" pitchFamily="34" charset="0"/>
                          <a:ea typeface="Calibri" pitchFamily="34" charset="-122"/>
                          <a:cs typeface="Calibri" pitchFamily="34" charset="-120"/>
                        </a:rPr>
                        <a:t>Transfer learning to low-resource languages; image features</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EF8E8"/>
                    </a:solidFill>
                  </a:tcPr>
                </a:tc>
                <a:extLst>
                  <a:ext uri="{0D108BD9-81ED-4DB2-BD59-A6C34878D82A}">
                    <a16:rowId xmlns:a16="http://schemas.microsoft.com/office/drawing/2014/main" val="10003"/>
                  </a:ext>
                </a:extLst>
              </a:tr>
              <a:tr h="777240">
                <a:tc>
                  <a:txBody>
                    <a:bodyPr/>
                    <a:lstStyle/>
                    <a:p>
                      <a:pPr marL="0" indent="0" algn="l">
                        <a:buNone/>
                      </a:pPr>
                      <a:r>
                        <a:rPr lang="en-US" sz="800" b="1" dirty="0">
                          <a:solidFill>
                            <a:srgbClr val="2E4FA3"/>
                          </a:solidFill>
                          <a:latin typeface="Calibri" pitchFamily="34" charset="0"/>
                          <a:ea typeface="Calibri" pitchFamily="34" charset="-122"/>
                          <a:cs typeface="Calibri" pitchFamily="34" charset="-120"/>
                        </a:rPr>
                        <a:t>[Carrasco-Farré (2022)]</a:t>
                      </a:r>
                      <a:endParaRPr lang="en-US" sz="900" dirty="0">
                        <a:latin typeface="Calibri" charset="0"/>
                        <a:ea typeface="Calibri" charset="0"/>
                        <a:cs typeface="Calibri" charset="0"/>
                      </a:endParaRPr>
                    </a:p>
                    <a:p>
                      <a:pPr marL="0" indent="0" algn="l">
                        <a:buNone/>
                      </a:pPr>
                      <a:r>
                        <a:rPr lang="en-US" sz="900" dirty="0">
                          <a:solidFill>
                            <a:srgbClr val="1C2340"/>
                          </a:solidFill>
                          <a:latin typeface="Calibri" pitchFamily="34" charset="0"/>
                          <a:ea typeface="Calibri" pitchFamily="34" charset="-122"/>
                          <a:cs typeface="Calibri" pitchFamily="34" charset="-120"/>
                        </a:rPr>
                        <a:t>Investigated psycholinguistic bias patterns in fake news using computational linguistics features.</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2340"/>
                          </a:solidFill>
                          <a:latin typeface="Calibri" pitchFamily="34" charset="0"/>
                          <a:ea typeface="Calibri" pitchFamily="34" charset="-122"/>
                          <a:cs typeface="Calibri" pitchFamily="34" charset="-120"/>
                        </a:rPr>
                        <a:t>LIWC psycholinguistic feature extraction + ML classifiers</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FFFFF"/>
                    </a:solidFill>
                  </a:tcPr>
                </a:tc>
                <a:tc>
                  <a:txBody>
                    <a:bodyPr/>
                    <a:lstStyle/>
                    <a:p>
                      <a:pPr marL="0" indent="0" algn="l">
                        <a:buNone/>
                      </a:pPr>
                      <a:r>
                        <a:rPr lang="en-US" sz="900" dirty="0">
                          <a:solidFill>
                            <a:srgbClr val="1A5C2E"/>
                          </a:solidFill>
                          <a:latin typeface="Calibri" pitchFamily="34" charset="0"/>
                          <a:ea typeface="Calibri" pitchFamily="34" charset="-122"/>
                          <a:cs typeface="Calibri" pitchFamily="34" charset="-120"/>
                        </a:rPr>
                        <a:t>Novel psychology-NLP fusion; interpretable; cross-domain applicable</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3FAF4"/>
                    </a:solidFill>
                  </a:tcPr>
                </a:tc>
                <a:tc>
                  <a:txBody>
                    <a:bodyPr/>
                    <a:lstStyle/>
                    <a:p>
                      <a:pPr marL="0" indent="0" algn="l">
                        <a:buNone/>
                      </a:pPr>
                      <a:r>
                        <a:rPr lang="en-US" sz="900" dirty="0">
                          <a:solidFill>
                            <a:srgbClr val="7A1A1A"/>
                          </a:solidFill>
                          <a:latin typeface="Calibri" pitchFamily="34" charset="0"/>
                          <a:ea typeface="Calibri" pitchFamily="34" charset="-122"/>
                          <a:cs typeface="Calibri" pitchFamily="34" charset="-120"/>
                        </a:rPr>
                        <a:t>Limited dataset; tools may not generalize across cultures</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EF6F5"/>
                    </a:solidFill>
                  </a:tcPr>
                </a:tc>
                <a:tc>
                  <a:txBody>
                    <a:bodyPr/>
                    <a:lstStyle/>
                    <a:p>
                      <a:pPr marL="0" indent="0" algn="l">
                        <a:buNone/>
                      </a:pPr>
                      <a:r>
                        <a:rPr lang="en-US" sz="900" dirty="0">
                          <a:solidFill>
                            <a:srgbClr val="5A3A00"/>
                          </a:solidFill>
                          <a:latin typeface="Calibri" pitchFamily="34" charset="0"/>
                          <a:ea typeface="Calibri" pitchFamily="34" charset="-122"/>
                          <a:cs typeface="Calibri" pitchFamily="34" charset="-120"/>
                        </a:rPr>
                        <a:t>Extend to social media; cross-cultural misinformation models</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FFCF2"/>
                    </a:solidFill>
                  </a:tcPr>
                </a:tc>
                <a:extLst>
                  <a:ext uri="{0D108BD9-81ED-4DB2-BD59-A6C34878D82A}">
                    <a16:rowId xmlns:a16="http://schemas.microsoft.com/office/drawing/2014/main" val="10004"/>
                  </a:ext>
                </a:extLst>
              </a:tr>
              <a:tr h="777240">
                <a:tc>
                  <a:txBody>
                    <a:bodyPr/>
                    <a:lstStyle/>
                    <a:p>
                      <a:pPr marL="0" indent="0" algn="l">
                        <a:buNone/>
                      </a:pPr>
                      <a:r>
                        <a:rPr lang="en-US" sz="800" b="1" dirty="0">
                          <a:solidFill>
                            <a:srgbClr val="2E4FA3"/>
                          </a:solidFill>
                          <a:latin typeface="Calibri" pitchFamily="34" charset="0"/>
                          <a:ea typeface="Calibri" pitchFamily="34" charset="-122"/>
                          <a:cs typeface="Calibri" pitchFamily="34" charset="-120"/>
                        </a:rPr>
                        <a:t>[Huang et al. (2020)]</a:t>
                      </a:r>
                      <a:endParaRPr lang="en-US" sz="900" dirty="0">
                        <a:latin typeface="Calibri" charset="0"/>
                        <a:ea typeface="Calibri" charset="0"/>
                        <a:cs typeface="Calibri" charset="0"/>
                      </a:endParaRPr>
                    </a:p>
                    <a:p>
                      <a:pPr marL="0" indent="0" algn="l">
                        <a:buNone/>
                      </a:pPr>
                      <a:r>
                        <a:rPr lang="en-US" sz="900" dirty="0">
                          <a:solidFill>
                            <a:srgbClr val="1C2340"/>
                          </a:solidFill>
                          <a:latin typeface="Calibri" pitchFamily="34" charset="0"/>
                          <a:ea typeface="Calibri" pitchFamily="34" charset="-122"/>
                          <a:cs typeface="Calibri" pitchFamily="34" charset="-120"/>
                        </a:rPr>
                        <a:t>Optimized ensemble learning using Harmony Search algorithm for automatic feature selection.</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EF3FB"/>
                    </a:solidFill>
                  </a:tcPr>
                </a:tc>
                <a:tc>
                  <a:txBody>
                    <a:bodyPr/>
                    <a:lstStyle/>
                    <a:p>
                      <a:pPr marL="0" indent="0" algn="l">
                        <a:buNone/>
                      </a:pPr>
                      <a:r>
                        <a:rPr lang="en-US" sz="900" dirty="0">
                          <a:solidFill>
                            <a:srgbClr val="1C2340"/>
                          </a:solidFill>
                          <a:latin typeface="Calibri" pitchFamily="34" charset="0"/>
                          <a:ea typeface="Calibri" pitchFamily="34" charset="-122"/>
                          <a:cs typeface="Calibri" pitchFamily="34" charset="-120"/>
                        </a:rPr>
                        <a:t>Ensemble SVM+RF+LR optimized via Self-Adaptive Harmony Search</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EF3FB"/>
                    </a:solidFill>
                  </a:tcPr>
                </a:tc>
                <a:tc>
                  <a:txBody>
                    <a:bodyPr/>
                    <a:lstStyle/>
                    <a:p>
                      <a:pPr marL="0" indent="0" algn="l">
                        <a:buNone/>
                      </a:pPr>
                      <a:r>
                        <a:rPr lang="en-US" sz="900" dirty="0">
                          <a:solidFill>
                            <a:srgbClr val="1A5C2E"/>
                          </a:solidFill>
                          <a:latin typeface="Calibri" pitchFamily="34" charset="0"/>
                          <a:ea typeface="Calibri" pitchFamily="34" charset="-122"/>
                          <a:cs typeface="Calibri" pitchFamily="34" charset="-120"/>
                        </a:rPr>
                        <a:t>Automatic feature selection; robust; outperforms individual classifiers</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EBF5EC"/>
                    </a:solidFill>
                  </a:tcPr>
                </a:tc>
                <a:tc>
                  <a:txBody>
                    <a:bodyPr/>
                    <a:lstStyle/>
                    <a:p>
                      <a:pPr marL="0" indent="0" algn="l">
                        <a:buNone/>
                      </a:pPr>
                      <a:r>
                        <a:rPr lang="en-US" sz="900" dirty="0">
                          <a:solidFill>
                            <a:srgbClr val="7A1A1A"/>
                          </a:solidFill>
                          <a:latin typeface="Calibri" pitchFamily="34" charset="0"/>
                          <a:ea typeface="Calibri" pitchFamily="34" charset="-122"/>
                          <a:cs typeface="Calibri" pitchFamily="34" charset="-120"/>
                        </a:rPr>
                        <a:t>High computational overhead; complex; not suitable for real-time</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DF0EE"/>
                    </a:solidFill>
                  </a:tcPr>
                </a:tc>
                <a:tc>
                  <a:txBody>
                    <a:bodyPr/>
                    <a:lstStyle/>
                    <a:p>
                      <a:pPr marL="0" indent="0" algn="l">
                        <a:buNone/>
                      </a:pPr>
                      <a:r>
                        <a:rPr lang="en-US" sz="900" dirty="0">
                          <a:solidFill>
                            <a:srgbClr val="5A3A00"/>
                          </a:solidFill>
                          <a:latin typeface="Calibri" pitchFamily="34" charset="0"/>
                          <a:ea typeface="Calibri" pitchFamily="34" charset="-122"/>
                          <a:cs typeface="Calibri" pitchFamily="34" charset="-120"/>
                        </a:rPr>
                        <a:t>Neural architecture search for deep learning optimization</a:t>
                      </a:r>
                      <a:endParaRPr lang="en-US" sz="900" dirty="0">
                        <a:latin typeface="Calibri" charset="0"/>
                        <a:ea typeface="Calibri" charset="0"/>
                        <a:cs typeface="Calibri" charset="0"/>
                      </a:endParaRPr>
                    </a:p>
                  </a:txBody>
                  <a:tcPr>
                    <a:lnL w="3810" cap="flat" cmpd="sng" algn="ctr">
                      <a:solidFill>
                        <a:srgbClr val="B8C8E8"/>
                      </a:solidFill>
                      <a:prstDash val="solid"/>
                      <a:round/>
                      <a:headEnd type="none" w="med" len="med"/>
                      <a:tailEnd type="none" w="med" len="med"/>
                    </a:lnL>
                    <a:lnR w="3810" cap="flat" cmpd="sng" algn="ctr">
                      <a:solidFill>
                        <a:srgbClr val="B8C8E8"/>
                      </a:solidFill>
                      <a:prstDash val="solid"/>
                      <a:round/>
                      <a:headEnd type="none" w="med" len="med"/>
                      <a:tailEnd type="none" w="med" len="med"/>
                    </a:lnR>
                    <a:lnT w="3810" cap="flat" cmpd="sng" algn="ctr">
                      <a:solidFill>
                        <a:srgbClr val="B8C8E8"/>
                      </a:solidFill>
                      <a:prstDash val="solid"/>
                      <a:round/>
                      <a:headEnd type="none" w="med" len="med"/>
                      <a:tailEnd type="none" w="med" len="med"/>
                    </a:lnT>
                    <a:lnB w="3810" cap="flat" cmpd="sng" algn="ctr">
                      <a:solidFill>
                        <a:srgbClr val="B8C8E8"/>
                      </a:solidFill>
                      <a:prstDash val="solid"/>
                      <a:round/>
                      <a:headEnd type="none" w="med" len="med"/>
                      <a:tailEnd type="none" w="med" len="med"/>
                    </a:lnB>
                    <a:solidFill>
                      <a:srgbClr val="FEF8E8"/>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CADA66D4-8D05-7116-0621-16218A63C4B1}"/>
              </a:ext>
            </a:extLst>
          </p:cNvPr>
          <p:cNvSpPr txBox="1"/>
          <p:nvPr/>
        </p:nvSpPr>
        <p:spPr>
          <a:xfrm>
            <a:off x="4493418" y="577453"/>
            <a:ext cx="3201988" cy="369332"/>
          </a:xfrm>
          <a:prstGeom prst="rect">
            <a:avLst/>
          </a:prstGeom>
          <a:noFill/>
        </p:spPr>
        <p:txBody>
          <a:bodyPr wrap="square">
            <a:spAutoFit/>
          </a:bodyPr>
          <a:lstStyle/>
          <a:p>
            <a:pPr lvl="0"/>
            <a:r>
              <a:rPr lang="en-US" sz="1800" b="1" u="sng" dirty="0">
                <a:solidFill>
                  <a:schemeClr val="dk1"/>
                </a:solidFill>
                <a:latin typeface="Times New Roman" panose="02020603050405020304" pitchFamily="18" charset="0"/>
                <a:cs typeface="Times New Roman" panose="02020603050405020304" pitchFamily="18" charset="0"/>
              </a:rPr>
              <a:t>RELATED WORD (continue)</a:t>
            </a:r>
          </a:p>
        </p:txBody>
      </p:sp>
    </p:spTree>
    <p:extLst>
      <p:ext uri="{BB962C8B-B14F-4D97-AF65-F5344CB8AC3E}">
        <p14:creationId xmlns:p14="http://schemas.microsoft.com/office/powerpoint/2010/main" val="263078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16EF88-12C3-94A3-C166-0E95F33012F2}"/>
              </a:ext>
            </a:extLst>
          </p:cNvPr>
          <p:cNvSpPr txBox="1"/>
          <p:nvPr/>
        </p:nvSpPr>
        <p:spPr>
          <a:xfrm>
            <a:off x="4742919" y="624689"/>
            <a:ext cx="2702984" cy="400110"/>
          </a:xfrm>
          <a:prstGeom prst="rect">
            <a:avLst/>
          </a:prstGeom>
          <a:noFill/>
        </p:spPr>
        <p:txBody>
          <a:bodyPr wrap="none" rtlCol="0">
            <a:spAutoFit/>
          </a:bodyPr>
          <a:lstStyle/>
          <a:p>
            <a:r>
              <a:rPr lang="en-US" sz="2000" b="1" u="sng" dirty="0">
                <a:latin typeface="Times New Roman" panose="02020603050405020304" pitchFamily="18" charset="0"/>
                <a:cs typeface="Times New Roman" panose="02020603050405020304" pitchFamily="18" charset="0"/>
              </a:rPr>
              <a:t>PROPOSED SYSTEM</a:t>
            </a:r>
          </a:p>
        </p:txBody>
      </p:sp>
      <p:pic>
        <p:nvPicPr>
          <p:cNvPr id="4" name="Picture 3">
            <a:extLst>
              <a:ext uri="{FF2B5EF4-FFF2-40B4-BE49-F238E27FC236}">
                <a16:creationId xmlns:a16="http://schemas.microsoft.com/office/drawing/2014/main" id="{89C8EA44-EA6D-A3EC-096D-231ED287504F}"/>
              </a:ext>
            </a:extLst>
          </p:cNvPr>
          <p:cNvPicPr>
            <a:picLocks noChangeAspect="1"/>
          </p:cNvPicPr>
          <p:nvPr/>
        </p:nvPicPr>
        <p:blipFill>
          <a:blip r:embed="rId2"/>
          <a:stretch>
            <a:fillRect/>
          </a:stretch>
        </p:blipFill>
        <p:spPr>
          <a:xfrm>
            <a:off x="1542655" y="1143452"/>
            <a:ext cx="9103513" cy="4813728"/>
          </a:xfrm>
          <a:prstGeom prst="rect">
            <a:avLst/>
          </a:prstGeom>
        </p:spPr>
      </p:pic>
    </p:spTree>
    <p:extLst>
      <p:ext uri="{BB962C8B-B14F-4D97-AF65-F5344CB8AC3E}">
        <p14:creationId xmlns:p14="http://schemas.microsoft.com/office/powerpoint/2010/main" val="915727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B7FC3-82E1-2F86-6272-15566EAD5EB4}"/>
              </a:ext>
            </a:extLst>
          </p:cNvPr>
          <p:cNvSpPr>
            <a:spLocks noGrp="1"/>
          </p:cNvSpPr>
          <p:nvPr>
            <p:ph type="title"/>
          </p:nvPr>
        </p:nvSpPr>
        <p:spPr>
          <a:xfrm>
            <a:off x="3505329" y="1106172"/>
            <a:ext cx="5178164" cy="493712"/>
          </a:xfrm>
        </p:spPr>
        <p:txBody>
          <a:bodyPr>
            <a:normAutofit/>
          </a:bodyPr>
          <a:lstStyle/>
          <a:p>
            <a:r>
              <a:rPr lang="en-US" sz="2000" b="1" u="sng" dirty="0">
                <a:latin typeface="Times New Roman" panose="02020603050405020304" pitchFamily="18" charset="0"/>
                <a:cs typeface="Times New Roman" panose="02020603050405020304" pitchFamily="18" charset="0"/>
              </a:rPr>
              <a:t>OVERVIEW OF THE PROPOSED SYSTEM</a:t>
            </a:r>
            <a:endParaRPr lang="en-US" sz="2000" u="sng" dirty="0"/>
          </a:p>
        </p:txBody>
      </p:sp>
      <p:sp>
        <p:nvSpPr>
          <p:cNvPr id="4" name="Text Placeholder 3">
            <a:extLst>
              <a:ext uri="{FF2B5EF4-FFF2-40B4-BE49-F238E27FC236}">
                <a16:creationId xmlns:a16="http://schemas.microsoft.com/office/drawing/2014/main" id="{1AE6F34F-0E0E-B0B0-C7C2-925CF3A3EEC6}"/>
              </a:ext>
            </a:extLst>
          </p:cNvPr>
          <p:cNvSpPr>
            <a:spLocks noGrp="1"/>
          </p:cNvSpPr>
          <p:nvPr>
            <p:ph type="body" sz="half" idx="2"/>
          </p:nvPr>
        </p:nvSpPr>
        <p:spPr>
          <a:xfrm>
            <a:off x="1290830" y="2023317"/>
            <a:ext cx="9607163" cy="2956090"/>
          </a:xfrm>
        </p:spPr>
        <p:txBody>
          <a:bodyPr>
            <a:no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proposed fake news detection system is designed as a multi-stage processing pipeline that accepts different types of news inputs, including text, headlines, and URLs. The model is trained and tested using benchmark datasets such as LIAR Dataset, ISOT Dataset, and </a:t>
            </a:r>
            <a:r>
              <a:rPr lang="en-US" dirty="0" err="1">
                <a:latin typeface="Times New Roman" panose="02020603050405020304" pitchFamily="18" charset="0"/>
                <a:cs typeface="Times New Roman" panose="02020603050405020304" pitchFamily="18" charset="0"/>
              </a:rPr>
              <a:t>FakeNewsNet</a:t>
            </a:r>
            <a:r>
              <a:rPr lang="en-US" dirty="0">
                <a:latin typeface="Times New Roman" panose="02020603050405020304" pitchFamily="18" charset="0"/>
                <a:cs typeface="Times New Roman" panose="02020603050405020304" pitchFamily="18" charset="0"/>
              </a:rPr>
              <a:t> to evaluate its accuracy and generalization performance.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uses NLP preprocessing techniques such as tokenization, stop-word removal, stemming, lemmatization, and lowercase conversion to clean and normalize text data. Feature extraction methods including TF-IDF, Bag-of-Words, Word2Vec, </a:t>
            </a:r>
            <a:r>
              <a:rPr lang="en-US" dirty="0" err="1">
                <a:latin typeface="Times New Roman" panose="02020603050405020304" pitchFamily="18" charset="0"/>
                <a:cs typeface="Times New Roman" panose="02020603050405020304" pitchFamily="18" charset="0"/>
              </a:rPr>
              <a:t>GloVe</a:t>
            </a:r>
            <a:r>
              <a:rPr lang="en-US" dirty="0">
                <a:latin typeface="Times New Roman" panose="02020603050405020304" pitchFamily="18" charset="0"/>
                <a:cs typeface="Times New Roman" panose="02020603050405020304" pitchFamily="18" charset="0"/>
              </a:rPr>
              <a:t>, and BERT embeddings are applied to capture both statistical and semantic information from the news content.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Different classification models, including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 BERT, and BERT +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 were evaluated. Experimental results showed that the BERT model achieved the best performance due to its contextual understanding from pre-trained embeddings, while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 performed comparatively weaker. The final output layer classifies news as real or fake and provides confidence scores along with a clear reporting mechanism for users.</a:t>
            </a:r>
          </a:p>
        </p:txBody>
      </p:sp>
    </p:spTree>
    <p:extLst>
      <p:ext uri="{BB962C8B-B14F-4D97-AF65-F5344CB8AC3E}">
        <p14:creationId xmlns:p14="http://schemas.microsoft.com/office/powerpoint/2010/main" val="3825859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2D5B19-7610-5CC2-C500-14E190E77427}"/>
              </a:ext>
            </a:extLst>
          </p:cNvPr>
          <p:cNvSpPr txBox="1"/>
          <p:nvPr/>
        </p:nvSpPr>
        <p:spPr>
          <a:xfrm>
            <a:off x="3250405" y="672584"/>
            <a:ext cx="5688014" cy="400110"/>
          </a:xfrm>
          <a:prstGeom prst="rect">
            <a:avLst/>
          </a:prstGeom>
          <a:noFill/>
        </p:spPr>
        <p:txBody>
          <a:bodyPr wrap="square">
            <a:spAutoFit/>
          </a:bodyPr>
          <a:lstStyle/>
          <a:p>
            <a:r>
              <a:rPr lang="en-US" sz="2000" b="1" u="sng" dirty="0">
                <a:latin typeface="Times New Roman" panose="02020603050405020304" pitchFamily="18" charset="0"/>
                <a:cs typeface="Times New Roman" panose="02020603050405020304" pitchFamily="18" charset="0"/>
              </a:rPr>
              <a:t>EXPERIMENTAL RESULTS AND DISCUSSION</a:t>
            </a:r>
          </a:p>
        </p:txBody>
      </p:sp>
      <p:sp>
        <p:nvSpPr>
          <p:cNvPr id="9" name="TextBox 8">
            <a:extLst>
              <a:ext uri="{FF2B5EF4-FFF2-40B4-BE49-F238E27FC236}">
                <a16:creationId xmlns:a16="http://schemas.microsoft.com/office/drawing/2014/main" id="{54A39712-2E8C-D1DA-75F2-EE67B7544536}"/>
              </a:ext>
            </a:extLst>
          </p:cNvPr>
          <p:cNvSpPr txBox="1"/>
          <p:nvPr/>
        </p:nvSpPr>
        <p:spPr>
          <a:xfrm>
            <a:off x="809625" y="1304925"/>
            <a:ext cx="10648949" cy="738664"/>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In this research work, the designed fake news detection framework is analyzed based on four well-established evaluation metrics commonly used in NLP and IR studies. The aforementioned metrics have the following definitions: Accuracy refers to the percentage of instances that are accurately classified among all instances and is formulated as:</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646727A-AA79-F318-8173-9C607FAE00C5}"/>
                  </a:ext>
                </a:extLst>
              </p:cNvPr>
              <p:cNvSpPr txBox="1"/>
              <p:nvPr/>
            </p:nvSpPr>
            <p:spPr>
              <a:xfrm>
                <a:off x="4925917" y="2130459"/>
                <a:ext cx="1830437" cy="290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nor/>
                        </m:rPr>
                        <a:rPr lang="en-US" sz="1000" i="0" smtClean="0">
                          <a:latin typeface="Cambria Math" panose="02040503050406030204" pitchFamily="18" charset="0"/>
                        </a:rPr>
                        <m:t>Accuracy</m:t>
                      </m:r>
                      <m:r>
                        <a:rPr lang="en-US" sz="1000" i="1" smtClean="0">
                          <a:latin typeface="Cambria Math" panose="02040503050406030204" pitchFamily="18" charset="0"/>
                        </a:rPr>
                        <m:t>=</m:t>
                      </m:r>
                      <m:f>
                        <m:fPr>
                          <m:ctrlPr>
                            <a:rPr lang="en-US" sz="1000" i="1" smtClean="0">
                              <a:latin typeface="Cambria Math" panose="02040503050406030204" pitchFamily="18" charset="0"/>
                            </a:rPr>
                          </m:ctrlPr>
                        </m:fPr>
                        <m:num>
                          <m:r>
                            <a:rPr lang="en-US" sz="1000" i="1" smtClean="0">
                              <a:latin typeface="Cambria Math" panose="02040503050406030204" pitchFamily="18" charset="0"/>
                            </a:rPr>
                            <m:t>𝑇𝑃</m:t>
                          </m:r>
                          <m:r>
                            <a:rPr lang="en-US" sz="1000" i="1" smtClean="0">
                              <a:latin typeface="Cambria Math" panose="02040503050406030204" pitchFamily="18" charset="0"/>
                            </a:rPr>
                            <m:t>+</m:t>
                          </m:r>
                          <m:r>
                            <a:rPr lang="en-US" sz="1000" i="1" smtClean="0">
                              <a:latin typeface="Cambria Math" panose="02040503050406030204" pitchFamily="18" charset="0"/>
                            </a:rPr>
                            <m:t>𝑇𝑁</m:t>
                          </m:r>
                        </m:num>
                        <m:den>
                          <m:r>
                            <a:rPr lang="en-US" sz="1000" i="1" smtClean="0">
                              <a:latin typeface="Cambria Math" panose="02040503050406030204" pitchFamily="18" charset="0"/>
                            </a:rPr>
                            <m:t>𝑇𝑃</m:t>
                          </m:r>
                          <m:r>
                            <a:rPr lang="en-US" sz="1000" i="1" smtClean="0">
                              <a:latin typeface="Cambria Math" panose="02040503050406030204" pitchFamily="18" charset="0"/>
                            </a:rPr>
                            <m:t>+</m:t>
                          </m:r>
                          <m:r>
                            <a:rPr lang="en-US" sz="1000" i="1" smtClean="0">
                              <a:latin typeface="Cambria Math" panose="02040503050406030204" pitchFamily="18" charset="0"/>
                            </a:rPr>
                            <m:t>𝑇𝑁</m:t>
                          </m:r>
                          <m:r>
                            <a:rPr lang="en-US" sz="1000" i="1" smtClean="0">
                              <a:latin typeface="Cambria Math" panose="02040503050406030204" pitchFamily="18" charset="0"/>
                            </a:rPr>
                            <m:t>+</m:t>
                          </m:r>
                          <m:r>
                            <a:rPr lang="en-US" sz="1000" i="1" smtClean="0">
                              <a:latin typeface="Cambria Math" panose="02040503050406030204" pitchFamily="18" charset="0"/>
                            </a:rPr>
                            <m:t>𝐹𝑃</m:t>
                          </m:r>
                          <m:r>
                            <a:rPr lang="en-US" sz="1000" i="1" smtClean="0">
                              <a:latin typeface="Cambria Math" panose="02040503050406030204" pitchFamily="18" charset="0"/>
                            </a:rPr>
                            <m:t>+</m:t>
                          </m:r>
                          <m:r>
                            <a:rPr lang="en-US" sz="1000" i="1" smtClean="0">
                              <a:latin typeface="Cambria Math" panose="02040503050406030204" pitchFamily="18" charset="0"/>
                            </a:rPr>
                            <m:t>𝐹𝑁</m:t>
                          </m:r>
                        </m:den>
                      </m:f>
                    </m:oMath>
                  </m:oMathPara>
                </a14:m>
                <a:endParaRPr lang="en-US" sz="1000" dirty="0"/>
              </a:p>
            </p:txBody>
          </p:sp>
        </mc:Choice>
        <mc:Fallback>
          <p:sp>
            <p:nvSpPr>
              <p:cNvPr id="10" name="TextBox 9">
                <a:extLst>
                  <a:ext uri="{FF2B5EF4-FFF2-40B4-BE49-F238E27FC236}">
                    <a16:creationId xmlns:a16="http://schemas.microsoft.com/office/drawing/2014/main" id="{1646727A-AA79-F318-8173-9C607FAE00C5}"/>
                  </a:ext>
                </a:extLst>
              </p:cNvPr>
              <p:cNvSpPr txBox="1">
                <a:spLocks noRot="1" noChangeAspect="1" noMove="1" noResize="1" noEditPoints="1" noAdjustHandles="1" noChangeArrowheads="1" noChangeShapeType="1" noTextEdit="1"/>
              </p:cNvSpPr>
              <p:nvPr/>
            </p:nvSpPr>
            <p:spPr>
              <a:xfrm>
                <a:off x="4925917" y="2130459"/>
                <a:ext cx="1830437" cy="290721"/>
              </a:xfrm>
              <a:prstGeom prst="rect">
                <a:avLst/>
              </a:prstGeom>
              <a:blipFill>
                <a:blip r:embed="rId2"/>
                <a:stretch>
                  <a:fillRect l="-1667" t="-2083" r="-1333" b="-14583"/>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6EDAF6A1-6DD3-1695-55EE-886776B05E3D}"/>
              </a:ext>
            </a:extLst>
          </p:cNvPr>
          <p:cNvSpPr txBox="1"/>
          <p:nvPr/>
        </p:nvSpPr>
        <p:spPr>
          <a:xfrm>
            <a:off x="827880" y="2515633"/>
            <a:ext cx="10612437" cy="523220"/>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Precision refers to the percentage of instances that are accurately classified as fake news among all instances identified as fake news and is expressed as:</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501AE804-BEEF-401A-5A8A-F22F46DF09C2}"/>
                  </a:ext>
                </a:extLst>
              </p:cNvPr>
              <p:cNvSpPr txBox="1"/>
              <p:nvPr/>
            </p:nvSpPr>
            <p:spPr>
              <a:xfrm>
                <a:off x="5603923" y="2879844"/>
                <a:ext cx="1152431" cy="290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nor/>
                        </m:rPr>
                        <a:rPr lang="en-US" sz="1000" i="0" smtClean="0">
                          <a:latin typeface="Times New Roman" panose="02020603050405020304" pitchFamily="18" charset="0"/>
                          <a:cs typeface="Times New Roman" panose="02020603050405020304" pitchFamily="18" charset="0"/>
                        </a:rPr>
                        <m:t>Precision</m:t>
                      </m:r>
                      <m:r>
                        <a:rPr lang="en-US" sz="1000" i="1" smtClean="0">
                          <a:latin typeface="Cambria Math" panose="02040503050406030204" pitchFamily="18" charset="0"/>
                        </a:rPr>
                        <m:t>=</m:t>
                      </m:r>
                      <m:f>
                        <m:fPr>
                          <m:ctrlPr>
                            <a:rPr lang="en-US" sz="1000" i="1" smtClean="0">
                              <a:latin typeface="Cambria Math" panose="02040503050406030204" pitchFamily="18" charset="0"/>
                            </a:rPr>
                          </m:ctrlPr>
                        </m:fPr>
                        <m:num>
                          <m:r>
                            <a:rPr lang="en-US" sz="1000" i="1" smtClean="0">
                              <a:latin typeface="Cambria Math" panose="02040503050406030204" pitchFamily="18" charset="0"/>
                            </a:rPr>
                            <m:t>𝑇𝑃</m:t>
                          </m:r>
                        </m:num>
                        <m:den>
                          <m:r>
                            <a:rPr lang="en-US" sz="1000" i="1" smtClean="0">
                              <a:latin typeface="Cambria Math" panose="02040503050406030204" pitchFamily="18" charset="0"/>
                            </a:rPr>
                            <m:t>𝑇𝑃</m:t>
                          </m:r>
                          <m:r>
                            <a:rPr lang="en-US" sz="1000" i="1" smtClean="0">
                              <a:latin typeface="Cambria Math" panose="02040503050406030204" pitchFamily="18" charset="0"/>
                            </a:rPr>
                            <m:t>+</m:t>
                          </m:r>
                          <m:r>
                            <a:rPr lang="en-US" sz="1000" i="1" smtClean="0">
                              <a:latin typeface="Cambria Math" panose="02040503050406030204" pitchFamily="18" charset="0"/>
                            </a:rPr>
                            <m:t>𝐹𝑃</m:t>
                          </m:r>
                        </m:den>
                      </m:f>
                    </m:oMath>
                  </m:oMathPara>
                </a14:m>
                <a:endParaRPr lang="en-US" sz="1000" dirty="0">
                  <a:latin typeface="Times New Roman" panose="02020603050405020304" pitchFamily="18" charset="0"/>
                  <a:cs typeface="Times New Roman" panose="02020603050405020304" pitchFamily="18" charset="0"/>
                </a:endParaRPr>
              </a:p>
            </p:txBody>
          </p:sp>
        </mc:Choice>
        <mc:Fallback>
          <p:sp>
            <p:nvSpPr>
              <p:cNvPr id="13" name="TextBox 12">
                <a:extLst>
                  <a:ext uri="{FF2B5EF4-FFF2-40B4-BE49-F238E27FC236}">
                    <a16:creationId xmlns:a16="http://schemas.microsoft.com/office/drawing/2014/main" id="{501AE804-BEEF-401A-5A8A-F22F46DF09C2}"/>
                  </a:ext>
                </a:extLst>
              </p:cNvPr>
              <p:cNvSpPr txBox="1">
                <a:spLocks noRot="1" noChangeAspect="1" noMove="1" noResize="1" noEditPoints="1" noAdjustHandles="1" noChangeArrowheads="1" noChangeShapeType="1" noTextEdit="1"/>
              </p:cNvSpPr>
              <p:nvPr/>
            </p:nvSpPr>
            <p:spPr>
              <a:xfrm>
                <a:off x="5603923" y="2879844"/>
                <a:ext cx="1152431" cy="290721"/>
              </a:xfrm>
              <a:prstGeom prst="rect">
                <a:avLst/>
              </a:prstGeom>
              <a:blipFill>
                <a:blip r:embed="rId3"/>
                <a:stretch>
                  <a:fillRect l="-2646" t="-2083" r="-2116" b="-14583"/>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8B506E9E-BF2D-9285-0BD2-2732785E800A}"/>
              </a:ext>
            </a:extLst>
          </p:cNvPr>
          <p:cNvSpPr txBox="1"/>
          <p:nvPr/>
        </p:nvSpPr>
        <p:spPr>
          <a:xfrm>
            <a:off x="815855" y="3295928"/>
            <a:ext cx="10648949" cy="523220"/>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Recall is the percentage of real fake news articles that have been accurately classified by the algorithm and is calculated using the following formula:</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4B4C4B48-2DDA-B970-A5DD-68136DC1CF94}"/>
                  </a:ext>
                </a:extLst>
              </p:cNvPr>
              <p:cNvSpPr txBox="1"/>
              <p:nvPr/>
            </p:nvSpPr>
            <p:spPr>
              <a:xfrm>
                <a:off x="5735369" y="3807551"/>
                <a:ext cx="1020985" cy="290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nor/>
                        </m:rPr>
                        <a:rPr lang="en-US" sz="1000" i="0" smtClean="0">
                          <a:latin typeface="Cambria Math" panose="02040503050406030204" pitchFamily="18" charset="0"/>
                        </a:rPr>
                        <m:t>Recall</m:t>
                      </m:r>
                      <m:r>
                        <a:rPr lang="en-US" sz="1000" i="1" smtClean="0">
                          <a:latin typeface="Cambria Math" panose="02040503050406030204" pitchFamily="18" charset="0"/>
                        </a:rPr>
                        <m:t>=</m:t>
                      </m:r>
                      <m:f>
                        <m:fPr>
                          <m:ctrlPr>
                            <a:rPr lang="en-US" sz="1000" i="1" smtClean="0">
                              <a:latin typeface="Cambria Math" panose="02040503050406030204" pitchFamily="18" charset="0"/>
                            </a:rPr>
                          </m:ctrlPr>
                        </m:fPr>
                        <m:num>
                          <m:r>
                            <a:rPr lang="en-US" sz="1000" i="1" smtClean="0">
                              <a:latin typeface="Cambria Math" panose="02040503050406030204" pitchFamily="18" charset="0"/>
                            </a:rPr>
                            <m:t>𝑇𝑃</m:t>
                          </m:r>
                        </m:num>
                        <m:den>
                          <m:r>
                            <a:rPr lang="en-US" sz="1000" i="1" smtClean="0">
                              <a:latin typeface="Cambria Math" panose="02040503050406030204" pitchFamily="18" charset="0"/>
                            </a:rPr>
                            <m:t>𝑇𝑃</m:t>
                          </m:r>
                          <m:r>
                            <a:rPr lang="en-US" sz="1000" i="1" smtClean="0">
                              <a:latin typeface="Cambria Math" panose="02040503050406030204" pitchFamily="18" charset="0"/>
                            </a:rPr>
                            <m:t>+</m:t>
                          </m:r>
                          <m:r>
                            <a:rPr lang="en-US" sz="1000" i="1" smtClean="0">
                              <a:latin typeface="Cambria Math" panose="02040503050406030204" pitchFamily="18" charset="0"/>
                            </a:rPr>
                            <m:t>𝐹𝑁</m:t>
                          </m:r>
                        </m:den>
                      </m:f>
                    </m:oMath>
                  </m:oMathPara>
                </a14:m>
                <a:endParaRPr lang="en-US" sz="1000" dirty="0"/>
              </a:p>
            </p:txBody>
          </p:sp>
        </mc:Choice>
        <mc:Fallback>
          <p:sp>
            <p:nvSpPr>
              <p:cNvPr id="16" name="TextBox 15">
                <a:extLst>
                  <a:ext uri="{FF2B5EF4-FFF2-40B4-BE49-F238E27FC236}">
                    <a16:creationId xmlns:a16="http://schemas.microsoft.com/office/drawing/2014/main" id="{4B4C4B48-2DDA-B970-A5DD-68136DC1CF94}"/>
                  </a:ext>
                </a:extLst>
              </p:cNvPr>
              <p:cNvSpPr txBox="1">
                <a:spLocks noRot="1" noChangeAspect="1" noMove="1" noResize="1" noEditPoints="1" noAdjustHandles="1" noChangeArrowheads="1" noChangeShapeType="1" noTextEdit="1"/>
              </p:cNvSpPr>
              <p:nvPr/>
            </p:nvSpPr>
            <p:spPr>
              <a:xfrm>
                <a:off x="5735369" y="3807551"/>
                <a:ext cx="1020985" cy="290721"/>
              </a:xfrm>
              <a:prstGeom prst="rect">
                <a:avLst/>
              </a:prstGeom>
              <a:blipFill>
                <a:blip r:embed="rId4"/>
                <a:stretch>
                  <a:fillRect l="-2994" t="-2128" r="-1796" b="-17021"/>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7507F59A-9FED-C3F4-ADE9-176EC846BB73}"/>
              </a:ext>
            </a:extLst>
          </p:cNvPr>
          <p:cNvSpPr txBox="1"/>
          <p:nvPr/>
        </p:nvSpPr>
        <p:spPr>
          <a:xfrm>
            <a:off x="827879" y="4229985"/>
            <a:ext cx="10612437" cy="523220"/>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The F1-Score is the harmonic mean of precision and recall which provides an evaluation metric that gives a balanced view and is particularly helpful when there is class imbalance and is calculated using the following formula:</a:t>
            </a: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FBA8A9C8-43F4-6D61-60C7-1B4EB4C835EC}"/>
                  </a:ext>
                </a:extLst>
              </p:cNvPr>
              <p:cNvSpPr txBox="1"/>
              <p:nvPr/>
            </p:nvSpPr>
            <p:spPr>
              <a:xfrm>
                <a:off x="4859168" y="4884918"/>
                <a:ext cx="1897186" cy="29482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nor/>
                        </m:rPr>
                        <a:rPr lang="en-US" sz="1000" i="0" smtClean="0">
                          <a:latin typeface="Times New Roman" panose="02020603050405020304" pitchFamily="18" charset="0"/>
                          <a:cs typeface="Times New Roman" panose="02020603050405020304" pitchFamily="18" charset="0"/>
                        </a:rPr>
                        <m:t>F</m:t>
                      </m:r>
                      <m:r>
                        <m:rPr>
                          <m:nor/>
                        </m:rPr>
                        <a:rPr lang="en-US" sz="1000" i="0" smtClean="0">
                          <a:latin typeface="Times New Roman" panose="02020603050405020304" pitchFamily="18" charset="0"/>
                          <a:cs typeface="Times New Roman" panose="02020603050405020304" pitchFamily="18" charset="0"/>
                        </a:rPr>
                        <m:t>1-</m:t>
                      </m:r>
                      <m:r>
                        <m:rPr>
                          <m:nor/>
                        </m:rPr>
                        <a:rPr lang="en-US" sz="1000" i="0" smtClean="0">
                          <a:latin typeface="Times New Roman" panose="02020603050405020304" pitchFamily="18" charset="0"/>
                          <a:cs typeface="Times New Roman" panose="02020603050405020304" pitchFamily="18" charset="0"/>
                        </a:rPr>
                        <m:t>Score</m:t>
                      </m:r>
                      <m:r>
                        <a:rPr lang="en-US" sz="1000" i="1">
                          <a:latin typeface="Cambria Math" panose="02040503050406030204" pitchFamily="18" charset="0"/>
                        </a:rPr>
                        <m:t>=2×</m:t>
                      </m:r>
                      <m:f>
                        <m:fPr>
                          <m:ctrlPr>
                            <a:rPr lang="en-US" sz="1000" i="1">
                              <a:latin typeface="Cambria Math" panose="02040503050406030204" pitchFamily="18" charset="0"/>
                            </a:rPr>
                          </m:ctrlPr>
                        </m:fPr>
                        <m:num>
                          <m:r>
                            <m:rPr>
                              <m:nor/>
                            </m:rPr>
                            <a:rPr lang="en-US" sz="1000" i="0">
                              <a:latin typeface="Times New Roman" panose="02020603050405020304" pitchFamily="18" charset="0"/>
                              <a:cs typeface="Times New Roman" panose="02020603050405020304" pitchFamily="18" charset="0"/>
                            </a:rPr>
                            <m:t>Precision</m:t>
                          </m:r>
                          <m:r>
                            <a:rPr lang="en-US" sz="1000" i="1">
                              <a:latin typeface="Cambria Math" panose="02040503050406030204" pitchFamily="18" charset="0"/>
                            </a:rPr>
                            <m:t>×</m:t>
                          </m:r>
                          <m:r>
                            <m:rPr>
                              <m:nor/>
                            </m:rPr>
                            <a:rPr lang="en-US" sz="1000" i="0">
                              <a:latin typeface="Times New Roman" panose="02020603050405020304" pitchFamily="18" charset="0"/>
                              <a:cs typeface="Times New Roman" panose="02020603050405020304" pitchFamily="18" charset="0"/>
                            </a:rPr>
                            <m:t>Recall</m:t>
                          </m:r>
                        </m:num>
                        <m:den>
                          <m:r>
                            <m:rPr>
                              <m:nor/>
                            </m:rPr>
                            <a:rPr lang="en-US" sz="1000" i="0">
                              <a:latin typeface="Times New Roman" panose="02020603050405020304" pitchFamily="18" charset="0"/>
                              <a:cs typeface="Times New Roman" panose="02020603050405020304" pitchFamily="18" charset="0"/>
                            </a:rPr>
                            <m:t>Precision</m:t>
                          </m:r>
                          <m:r>
                            <a:rPr lang="en-US" sz="1000" i="1">
                              <a:latin typeface="Cambria Math" panose="02040503050406030204" pitchFamily="18" charset="0"/>
                            </a:rPr>
                            <m:t>+</m:t>
                          </m:r>
                          <m:r>
                            <m:rPr>
                              <m:nor/>
                            </m:rPr>
                            <a:rPr lang="en-US" sz="1000" i="0">
                              <a:latin typeface="Times New Roman" panose="02020603050405020304" pitchFamily="18" charset="0"/>
                              <a:cs typeface="Times New Roman" panose="02020603050405020304" pitchFamily="18" charset="0"/>
                            </a:rPr>
                            <m:t>Recall</m:t>
                          </m:r>
                        </m:den>
                      </m:f>
                    </m:oMath>
                  </m:oMathPara>
                </a14:m>
                <a:endParaRPr lang="en-US" sz="1000" dirty="0">
                  <a:latin typeface="Times New Roman" panose="02020603050405020304" pitchFamily="18" charset="0"/>
                  <a:cs typeface="Times New Roman" panose="02020603050405020304" pitchFamily="18" charset="0"/>
                </a:endParaRPr>
              </a:p>
            </p:txBody>
          </p:sp>
        </mc:Choice>
        <mc:Fallback>
          <p:sp>
            <p:nvSpPr>
              <p:cNvPr id="19" name="TextBox 18">
                <a:extLst>
                  <a:ext uri="{FF2B5EF4-FFF2-40B4-BE49-F238E27FC236}">
                    <a16:creationId xmlns:a16="http://schemas.microsoft.com/office/drawing/2014/main" id="{FBA8A9C8-43F4-6D61-60C7-1B4EB4C835EC}"/>
                  </a:ext>
                </a:extLst>
              </p:cNvPr>
              <p:cNvSpPr txBox="1">
                <a:spLocks noRot="1" noChangeAspect="1" noMove="1" noResize="1" noEditPoints="1" noAdjustHandles="1" noChangeArrowheads="1" noChangeShapeType="1" noTextEdit="1"/>
              </p:cNvSpPr>
              <p:nvPr/>
            </p:nvSpPr>
            <p:spPr>
              <a:xfrm>
                <a:off x="4859168" y="4884918"/>
                <a:ext cx="1897186" cy="294824"/>
              </a:xfrm>
              <a:prstGeom prst="rect">
                <a:avLst/>
              </a:prstGeom>
              <a:blipFill>
                <a:blip r:embed="rId5"/>
                <a:stretch>
                  <a:fillRect t="-4082" b="-12245"/>
                </a:stretch>
              </a:blipFill>
            </p:spPr>
            <p:txBody>
              <a:bodyPr/>
              <a:lstStyle/>
              <a:p>
                <a:r>
                  <a:rPr lang="en-US">
                    <a:noFill/>
                  </a:rPr>
                  <a:t> </a:t>
                </a:r>
              </a:p>
            </p:txBody>
          </p:sp>
        </mc:Fallback>
      </mc:AlternateContent>
    </p:spTree>
    <p:extLst>
      <p:ext uri="{BB962C8B-B14F-4D97-AF65-F5344CB8AC3E}">
        <p14:creationId xmlns:p14="http://schemas.microsoft.com/office/powerpoint/2010/main" val="1873386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C571B2B-278F-28E7-35EC-92736AA6DC99}"/>
              </a:ext>
            </a:extLst>
          </p:cNvPr>
          <p:cNvGraphicFramePr>
            <a:graphicFrameLocks noGrp="1"/>
          </p:cNvGraphicFramePr>
          <p:nvPr>
            <p:extLst>
              <p:ext uri="{D42A27DB-BD31-4B8C-83A1-F6EECF244321}">
                <p14:modId xmlns:p14="http://schemas.microsoft.com/office/powerpoint/2010/main" val="91470517"/>
              </p:ext>
            </p:extLst>
          </p:nvPr>
        </p:nvGraphicFramePr>
        <p:xfrm>
          <a:off x="942975" y="1157891"/>
          <a:ext cx="10391776" cy="3344352"/>
        </p:xfrm>
        <a:graphic>
          <a:graphicData uri="http://schemas.openxmlformats.org/drawingml/2006/table">
            <a:tbl>
              <a:tblPr>
                <a:tableStyleId>{5940675A-B579-460E-94D1-54222C63F5DA}</a:tableStyleId>
              </a:tblPr>
              <a:tblGrid>
                <a:gridCol w="2597944">
                  <a:extLst>
                    <a:ext uri="{9D8B030D-6E8A-4147-A177-3AD203B41FA5}">
                      <a16:colId xmlns:a16="http://schemas.microsoft.com/office/drawing/2014/main" val="2900373750"/>
                    </a:ext>
                  </a:extLst>
                </a:gridCol>
                <a:gridCol w="2597944">
                  <a:extLst>
                    <a:ext uri="{9D8B030D-6E8A-4147-A177-3AD203B41FA5}">
                      <a16:colId xmlns:a16="http://schemas.microsoft.com/office/drawing/2014/main" val="966858414"/>
                    </a:ext>
                  </a:extLst>
                </a:gridCol>
                <a:gridCol w="2597944">
                  <a:extLst>
                    <a:ext uri="{9D8B030D-6E8A-4147-A177-3AD203B41FA5}">
                      <a16:colId xmlns:a16="http://schemas.microsoft.com/office/drawing/2014/main" val="2265282503"/>
                    </a:ext>
                  </a:extLst>
                </a:gridCol>
                <a:gridCol w="2597944">
                  <a:extLst>
                    <a:ext uri="{9D8B030D-6E8A-4147-A177-3AD203B41FA5}">
                      <a16:colId xmlns:a16="http://schemas.microsoft.com/office/drawing/2014/main" val="1792812470"/>
                    </a:ext>
                  </a:extLst>
                </a:gridCol>
              </a:tblGrid>
              <a:tr h="287098">
                <a:tc>
                  <a:txBody>
                    <a:bodyPr/>
                    <a:lstStyle/>
                    <a:p>
                      <a:pPr>
                        <a:buNone/>
                      </a:pPr>
                      <a:r>
                        <a:rPr lang="en-US" sz="1500">
                          <a:ln>
                            <a:noFill/>
                          </a:ln>
                        </a:rPr>
                        <a:t>Hyperparameter</a:t>
                      </a:r>
                    </a:p>
                  </a:txBody>
                  <a:tcPr marL="75432" marR="75432" marT="37716" marB="37716" anchor="ctr"/>
                </a:tc>
                <a:tc>
                  <a:txBody>
                    <a:bodyPr/>
                    <a:lstStyle/>
                    <a:p>
                      <a:pPr>
                        <a:buNone/>
                      </a:pPr>
                      <a:r>
                        <a:rPr lang="en-US" sz="1500">
                          <a:ln>
                            <a:noFill/>
                          </a:ln>
                        </a:rPr>
                        <a:t>BiLSTM</a:t>
                      </a:r>
                    </a:p>
                  </a:txBody>
                  <a:tcPr marL="75432" marR="75432" marT="37716" marB="37716" anchor="ctr"/>
                </a:tc>
                <a:tc>
                  <a:txBody>
                    <a:bodyPr/>
                    <a:lstStyle/>
                    <a:p>
                      <a:pPr>
                        <a:buNone/>
                      </a:pPr>
                      <a:r>
                        <a:rPr lang="en-US" sz="1500" dirty="0">
                          <a:ln>
                            <a:noFill/>
                          </a:ln>
                        </a:rPr>
                        <a:t>BERT</a:t>
                      </a:r>
                    </a:p>
                  </a:txBody>
                  <a:tcPr marL="75432" marR="75432" marT="37716" marB="37716" anchor="ctr"/>
                </a:tc>
                <a:tc>
                  <a:txBody>
                    <a:bodyPr/>
                    <a:lstStyle/>
                    <a:p>
                      <a:pPr>
                        <a:buNone/>
                      </a:pPr>
                      <a:r>
                        <a:rPr lang="en-US" sz="1500" dirty="0">
                          <a:ln>
                            <a:noFill/>
                          </a:ln>
                        </a:rPr>
                        <a:t>BERT + </a:t>
                      </a:r>
                      <a:r>
                        <a:rPr lang="en-US" sz="1500" dirty="0" err="1">
                          <a:ln>
                            <a:noFill/>
                          </a:ln>
                        </a:rPr>
                        <a:t>BiLSTM</a:t>
                      </a:r>
                      <a:endParaRPr lang="en-US" sz="1500" dirty="0">
                        <a:ln>
                          <a:noFill/>
                        </a:ln>
                      </a:endParaRPr>
                    </a:p>
                  </a:txBody>
                  <a:tcPr marL="75432" marR="75432" marT="37716" marB="37716" anchor="ctr"/>
                </a:tc>
                <a:extLst>
                  <a:ext uri="{0D108BD9-81ED-4DB2-BD59-A6C34878D82A}">
                    <a16:rowId xmlns:a16="http://schemas.microsoft.com/office/drawing/2014/main" val="4073710531"/>
                  </a:ext>
                </a:extLst>
              </a:tr>
              <a:tr h="287098">
                <a:tc>
                  <a:txBody>
                    <a:bodyPr/>
                    <a:lstStyle/>
                    <a:p>
                      <a:pPr>
                        <a:buNone/>
                      </a:pPr>
                      <a:r>
                        <a:rPr lang="en-US" sz="1500">
                          <a:ln>
                            <a:noFill/>
                          </a:ln>
                        </a:rPr>
                        <a:t>Embedding Type</a:t>
                      </a:r>
                    </a:p>
                  </a:txBody>
                  <a:tcPr marL="75432" marR="75432" marT="37716" marB="37716" anchor="ctr"/>
                </a:tc>
                <a:tc>
                  <a:txBody>
                    <a:bodyPr/>
                    <a:lstStyle/>
                    <a:p>
                      <a:pPr>
                        <a:buNone/>
                      </a:pPr>
                      <a:r>
                        <a:rPr lang="en-US" sz="1500">
                          <a:ln>
                            <a:noFill/>
                          </a:ln>
                        </a:rPr>
                        <a:t>GloVe</a:t>
                      </a:r>
                    </a:p>
                  </a:txBody>
                  <a:tcPr marL="75432" marR="75432" marT="37716" marB="37716" anchor="ctr"/>
                </a:tc>
                <a:tc>
                  <a:txBody>
                    <a:bodyPr/>
                    <a:lstStyle/>
                    <a:p>
                      <a:pPr>
                        <a:buNone/>
                      </a:pPr>
                      <a:r>
                        <a:rPr lang="en-US" sz="1500">
                          <a:ln>
                            <a:noFill/>
                          </a:ln>
                        </a:rPr>
                        <a:t>BERT Base</a:t>
                      </a:r>
                    </a:p>
                  </a:txBody>
                  <a:tcPr marL="75432" marR="75432" marT="37716" marB="37716" anchor="ctr"/>
                </a:tc>
                <a:tc>
                  <a:txBody>
                    <a:bodyPr/>
                    <a:lstStyle/>
                    <a:p>
                      <a:pPr>
                        <a:buNone/>
                      </a:pPr>
                      <a:r>
                        <a:rPr lang="en-US" sz="1500">
                          <a:ln>
                            <a:noFill/>
                          </a:ln>
                        </a:rPr>
                        <a:t>BERT Base</a:t>
                      </a:r>
                    </a:p>
                  </a:txBody>
                  <a:tcPr marL="75432" marR="75432" marT="37716" marB="37716" anchor="ctr"/>
                </a:tc>
                <a:extLst>
                  <a:ext uri="{0D108BD9-81ED-4DB2-BD59-A6C34878D82A}">
                    <a16:rowId xmlns:a16="http://schemas.microsoft.com/office/drawing/2014/main" val="874033912"/>
                  </a:ext>
                </a:extLst>
              </a:tr>
              <a:tr h="287098">
                <a:tc>
                  <a:txBody>
                    <a:bodyPr/>
                    <a:lstStyle/>
                    <a:p>
                      <a:pPr>
                        <a:buNone/>
                      </a:pPr>
                      <a:r>
                        <a:rPr lang="en-US" sz="1500">
                          <a:ln>
                            <a:noFill/>
                          </a:ln>
                        </a:rPr>
                        <a:t>Max Sequence Length</a:t>
                      </a:r>
                    </a:p>
                  </a:txBody>
                  <a:tcPr marL="75432" marR="75432" marT="37716" marB="37716" anchor="ctr"/>
                </a:tc>
                <a:tc>
                  <a:txBody>
                    <a:bodyPr/>
                    <a:lstStyle/>
                    <a:p>
                      <a:pPr>
                        <a:buNone/>
                      </a:pPr>
                      <a:r>
                        <a:rPr lang="en-US" sz="1500">
                          <a:ln>
                            <a:noFill/>
                          </a:ln>
                        </a:rPr>
                        <a:t>200</a:t>
                      </a:r>
                    </a:p>
                  </a:txBody>
                  <a:tcPr marL="75432" marR="75432" marT="37716" marB="37716" anchor="ctr"/>
                </a:tc>
                <a:tc>
                  <a:txBody>
                    <a:bodyPr/>
                    <a:lstStyle/>
                    <a:p>
                      <a:pPr>
                        <a:buNone/>
                      </a:pPr>
                      <a:r>
                        <a:rPr lang="en-US" sz="1500">
                          <a:ln>
                            <a:noFill/>
                          </a:ln>
                        </a:rPr>
                        <a:t>256</a:t>
                      </a:r>
                    </a:p>
                  </a:txBody>
                  <a:tcPr marL="75432" marR="75432" marT="37716" marB="37716" anchor="ctr"/>
                </a:tc>
                <a:tc>
                  <a:txBody>
                    <a:bodyPr/>
                    <a:lstStyle/>
                    <a:p>
                      <a:pPr>
                        <a:buNone/>
                      </a:pPr>
                      <a:r>
                        <a:rPr lang="en-US" sz="1500">
                          <a:ln>
                            <a:noFill/>
                          </a:ln>
                        </a:rPr>
                        <a:t>256</a:t>
                      </a:r>
                    </a:p>
                  </a:txBody>
                  <a:tcPr marL="75432" marR="75432" marT="37716" marB="37716" anchor="ctr"/>
                </a:tc>
                <a:extLst>
                  <a:ext uri="{0D108BD9-81ED-4DB2-BD59-A6C34878D82A}">
                    <a16:rowId xmlns:a16="http://schemas.microsoft.com/office/drawing/2014/main" val="1136013700"/>
                  </a:ext>
                </a:extLst>
              </a:tr>
              <a:tr h="287098">
                <a:tc>
                  <a:txBody>
                    <a:bodyPr/>
                    <a:lstStyle/>
                    <a:p>
                      <a:pPr>
                        <a:buNone/>
                      </a:pPr>
                      <a:r>
                        <a:rPr lang="en-US" sz="1500">
                          <a:ln>
                            <a:noFill/>
                          </a:ln>
                        </a:rPr>
                        <a:t>Hidden Units</a:t>
                      </a:r>
                    </a:p>
                  </a:txBody>
                  <a:tcPr marL="75432" marR="75432" marT="37716" marB="37716" anchor="ctr"/>
                </a:tc>
                <a:tc>
                  <a:txBody>
                    <a:bodyPr/>
                    <a:lstStyle/>
                    <a:p>
                      <a:pPr>
                        <a:buNone/>
                      </a:pPr>
                      <a:r>
                        <a:rPr lang="en-US" sz="1500">
                          <a:ln>
                            <a:noFill/>
                          </a:ln>
                        </a:rPr>
                        <a:t>128</a:t>
                      </a:r>
                    </a:p>
                  </a:txBody>
                  <a:tcPr marL="75432" marR="75432" marT="37716" marB="37716" anchor="ctr"/>
                </a:tc>
                <a:tc>
                  <a:txBody>
                    <a:bodyPr/>
                    <a:lstStyle/>
                    <a:p>
                      <a:pPr>
                        <a:buNone/>
                      </a:pPr>
                      <a:r>
                        <a:rPr lang="en-US" sz="1500">
                          <a:ln>
                            <a:noFill/>
                          </a:ln>
                        </a:rPr>
                        <a:t>—</a:t>
                      </a:r>
                    </a:p>
                  </a:txBody>
                  <a:tcPr marL="75432" marR="75432" marT="37716" marB="37716" anchor="ctr"/>
                </a:tc>
                <a:tc>
                  <a:txBody>
                    <a:bodyPr/>
                    <a:lstStyle/>
                    <a:p>
                      <a:pPr>
                        <a:buNone/>
                      </a:pPr>
                      <a:r>
                        <a:rPr lang="en-US" sz="1500">
                          <a:ln>
                            <a:noFill/>
                          </a:ln>
                        </a:rPr>
                        <a:t>128</a:t>
                      </a:r>
                    </a:p>
                  </a:txBody>
                  <a:tcPr marL="75432" marR="75432" marT="37716" marB="37716" anchor="ctr"/>
                </a:tc>
                <a:extLst>
                  <a:ext uri="{0D108BD9-81ED-4DB2-BD59-A6C34878D82A}">
                    <a16:rowId xmlns:a16="http://schemas.microsoft.com/office/drawing/2014/main" val="3750126705"/>
                  </a:ext>
                </a:extLst>
              </a:tr>
              <a:tr h="287098">
                <a:tc>
                  <a:txBody>
                    <a:bodyPr/>
                    <a:lstStyle/>
                    <a:p>
                      <a:pPr>
                        <a:buNone/>
                      </a:pPr>
                      <a:r>
                        <a:rPr lang="en-US" sz="1500">
                          <a:ln>
                            <a:noFill/>
                          </a:ln>
                        </a:rPr>
                        <a:t>Number of Layers</a:t>
                      </a:r>
                    </a:p>
                  </a:txBody>
                  <a:tcPr marL="75432" marR="75432" marT="37716" marB="37716" anchor="ctr"/>
                </a:tc>
                <a:tc>
                  <a:txBody>
                    <a:bodyPr/>
                    <a:lstStyle/>
                    <a:p>
                      <a:pPr>
                        <a:buNone/>
                      </a:pPr>
                      <a:r>
                        <a:rPr lang="en-US" sz="1500">
                          <a:ln>
                            <a:noFill/>
                          </a:ln>
                        </a:rPr>
                        <a:t>2</a:t>
                      </a:r>
                    </a:p>
                  </a:txBody>
                  <a:tcPr marL="75432" marR="75432" marT="37716" marB="37716" anchor="ctr"/>
                </a:tc>
                <a:tc>
                  <a:txBody>
                    <a:bodyPr/>
                    <a:lstStyle/>
                    <a:p>
                      <a:pPr>
                        <a:buNone/>
                      </a:pPr>
                      <a:r>
                        <a:rPr lang="en-US" sz="1500">
                          <a:ln>
                            <a:noFill/>
                          </a:ln>
                        </a:rPr>
                        <a:t>12 (Transformer)</a:t>
                      </a:r>
                    </a:p>
                  </a:txBody>
                  <a:tcPr marL="75432" marR="75432" marT="37716" marB="37716" anchor="ctr"/>
                </a:tc>
                <a:tc>
                  <a:txBody>
                    <a:bodyPr/>
                    <a:lstStyle/>
                    <a:p>
                      <a:pPr>
                        <a:buNone/>
                      </a:pPr>
                      <a:r>
                        <a:rPr lang="en-US" sz="1500">
                          <a:ln>
                            <a:noFill/>
                          </a:ln>
                        </a:rPr>
                        <a:t>12 + BiLSTM</a:t>
                      </a:r>
                    </a:p>
                  </a:txBody>
                  <a:tcPr marL="75432" marR="75432" marT="37716" marB="37716" anchor="ctr"/>
                </a:tc>
                <a:extLst>
                  <a:ext uri="{0D108BD9-81ED-4DB2-BD59-A6C34878D82A}">
                    <a16:rowId xmlns:a16="http://schemas.microsoft.com/office/drawing/2014/main" val="2697889600"/>
                  </a:ext>
                </a:extLst>
              </a:tr>
              <a:tr h="287098">
                <a:tc>
                  <a:txBody>
                    <a:bodyPr/>
                    <a:lstStyle/>
                    <a:p>
                      <a:pPr>
                        <a:buNone/>
                      </a:pPr>
                      <a:r>
                        <a:rPr lang="en-US" sz="1500">
                          <a:ln>
                            <a:noFill/>
                          </a:ln>
                        </a:rPr>
                        <a:t>Dropout Rate</a:t>
                      </a:r>
                    </a:p>
                  </a:txBody>
                  <a:tcPr marL="75432" marR="75432" marT="37716" marB="37716" anchor="ctr"/>
                </a:tc>
                <a:tc>
                  <a:txBody>
                    <a:bodyPr/>
                    <a:lstStyle/>
                    <a:p>
                      <a:pPr>
                        <a:buNone/>
                      </a:pPr>
                      <a:r>
                        <a:rPr lang="en-US" sz="1500">
                          <a:ln>
                            <a:noFill/>
                          </a:ln>
                        </a:rPr>
                        <a:t>0.5</a:t>
                      </a:r>
                    </a:p>
                  </a:txBody>
                  <a:tcPr marL="75432" marR="75432" marT="37716" marB="37716" anchor="ctr"/>
                </a:tc>
                <a:tc>
                  <a:txBody>
                    <a:bodyPr/>
                    <a:lstStyle/>
                    <a:p>
                      <a:pPr>
                        <a:buNone/>
                      </a:pPr>
                      <a:r>
                        <a:rPr lang="en-US" sz="1500">
                          <a:ln>
                            <a:noFill/>
                          </a:ln>
                        </a:rPr>
                        <a:t>0.1</a:t>
                      </a:r>
                    </a:p>
                  </a:txBody>
                  <a:tcPr marL="75432" marR="75432" marT="37716" marB="37716" anchor="ctr"/>
                </a:tc>
                <a:tc>
                  <a:txBody>
                    <a:bodyPr/>
                    <a:lstStyle/>
                    <a:p>
                      <a:pPr>
                        <a:buNone/>
                      </a:pPr>
                      <a:r>
                        <a:rPr lang="en-US" sz="1500">
                          <a:ln>
                            <a:noFill/>
                          </a:ln>
                        </a:rPr>
                        <a:t>0.3</a:t>
                      </a:r>
                    </a:p>
                  </a:txBody>
                  <a:tcPr marL="75432" marR="75432" marT="37716" marB="37716" anchor="ctr"/>
                </a:tc>
                <a:extLst>
                  <a:ext uri="{0D108BD9-81ED-4DB2-BD59-A6C34878D82A}">
                    <a16:rowId xmlns:a16="http://schemas.microsoft.com/office/drawing/2014/main" val="1150864789"/>
                  </a:ext>
                </a:extLst>
              </a:tr>
              <a:tr h="287098">
                <a:tc>
                  <a:txBody>
                    <a:bodyPr/>
                    <a:lstStyle/>
                    <a:p>
                      <a:pPr>
                        <a:buNone/>
                      </a:pPr>
                      <a:r>
                        <a:rPr lang="en-US" sz="1500" dirty="0">
                          <a:ln>
                            <a:noFill/>
                          </a:ln>
                        </a:rPr>
                        <a:t>Batch Size</a:t>
                      </a:r>
                    </a:p>
                  </a:txBody>
                  <a:tcPr marL="75432" marR="75432" marT="37716" marB="37716" anchor="ctr"/>
                </a:tc>
                <a:tc>
                  <a:txBody>
                    <a:bodyPr/>
                    <a:lstStyle/>
                    <a:p>
                      <a:pPr>
                        <a:buNone/>
                      </a:pPr>
                      <a:r>
                        <a:rPr lang="en-US" sz="1500">
                          <a:ln>
                            <a:noFill/>
                          </a:ln>
                        </a:rPr>
                        <a:t>32</a:t>
                      </a:r>
                    </a:p>
                  </a:txBody>
                  <a:tcPr marL="75432" marR="75432" marT="37716" marB="37716" anchor="ctr"/>
                </a:tc>
                <a:tc>
                  <a:txBody>
                    <a:bodyPr/>
                    <a:lstStyle/>
                    <a:p>
                      <a:pPr>
                        <a:buNone/>
                      </a:pPr>
                      <a:r>
                        <a:rPr lang="en-US" sz="1500">
                          <a:ln>
                            <a:noFill/>
                          </a:ln>
                        </a:rPr>
                        <a:t>16</a:t>
                      </a:r>
                    </a:p>
                  </a:txBody>
                  <a:tcPr marL="75432" marR="75432" marT="37716" marB="37716" anchor="ctr"/>
                </a:tc>
                <a:tc>
                  <a:txBody>
                    <a:bodyPr/>
                    <a:lstStyle/>
                    <a:p>
                      <a:pPr>
                        <a:buNone/>
                      </a:pPr>
                      <a:r>
                        <a:rPr lang="en-US" sz="1500">
                          <a:ln>
                            <a:noFill/>
                          </a:ln>
                        </a:rPr>
                        <a:t>16</a:t>
                      </a:r>
                    </a:p>
                  </a:txBody>
                  <a:tcPr marL="75432" marR="75432" marT="37716" marB="37716" anchor="ctr"/>
                </a:tc>
                <a:extLst>
                  <a:ext uri="{0D108BD9-81ED-4DB2-BD59-A6C34878D82A}">
                    <a16:rowId xmlns:a16="http://schemas.microsoft.com/office/drawing/2014/main" val="3719220604"/>
                  </a:ext>
                </a:extLst>
              </a:tr>
              <a:tr h="287098">
                <a:tc>
                  <a:txBody>
                    <a:bodyPr/>
                    <a:lstStyle/>
                    <a:p>
                      <a:pPr>
                        <a:buNone/>
                      </a:pPr>
                      <a:r>
                        <a:rPr lang="en-US" sz="1500">
                          <a:ln>
                            <a:noFill/>
                          </a:ln>
                        </a:rPr>
                        <a:t>Learning Rate</a:t>
                      </a:r>
                    </a:p>
                  </a:txBody>
                  <a:tcPr marL="75432" marR="75432" marT="37716" marB="37716" anchor="ctr"/>
                </a:tc>
                <a:tc>
                  <a:txBody>
                    <a:bodyPr/>
                    <a:lstStyle/>
                    <a:p>
                      <a:pPr>
                        <a:buNone/>
                      </a:pPr>
                      <a:r>
                        <a:rPr lang="en-US" sz="1500">
                          <a:ln>
                            <a:noFill/>
                          </a:ln>
                        </a:rPr>
                        <a:t>0.001</a:t>
                      </a:r>
                    </a:p>
                  </a:txBody>
                  <a:tcPr marL="75432" marR="75432" marT="37716" marB="37716" anchor="ctr"/>
                </a:tc>
                <a:tc>
                  <a:txBody>
                    <a:bodyPr/>
                    <a:lstStyle/>
                    <a:p>
                      <a:pPr>
                        <a:buNone/>
                      </a:pPr>
                      <a:r>
                        <a:rPr lang="en-US" sz="1500">
                          <a:ln>
                            <a:noFill/>
                          </a:ln>
                        </a:rPr>
                        <a:t>2e-5</a:t>
                      </a:r>
                    </a:p>
                  </a:txBody>
                  <a:tcPr marL="75432" marR="75432" marT="37716" marB="37716" anchor="ctr"/>
                </a:tc>
                <a:tc>
                  <a:txBody>
                    <a:bodyPr/>
                    <a:lstStyle/>
                    <a:p>
                      <a:pPr>
                        <a:buNone/>
                      </a:pPr>
                      <a:r>
                        <a:rPr lang="en-US" sz="1500">
                          <a:ln>
                            <a:noFill/>
                          </a:ln>
                        </a:rPr>
                        <a:t>2e-5</a:t>
                      </a:r>
                    </a:p>
                  </a:txBody>
                  <a:tcPr marL="75432" marR="75432" marT="37716" marB="37716" anchor="ctr"/>
                </a:tc>
                <a:extLst>
                  <a:ext uri="{0D108BD9-81ED-4DB2-BD59-A6C34878D82A}">
                    <a16:rowId xmlns:a16="http://schemas.microsoft.com/office/drawing/2014/main" val="270260281"/>
                  </a:ext>
                </a:extLst>
              </a:tr>
              <a:tr h="287098">
                <a:tc>
                  <a:txBody>
                    <a:bodyPr/>
                    <a:lstStyle/>
                    <a:p>
                      <a:pPr>
                        <a:buNone/>
                      </a:pPr>
                      <a:r>
                        <a:rPr lang="en-US" sz="1500">
                          <a:ln>
                            <a:noFill/>
                          </a:ln>
                        </a:rPr>
                        <a:t>Optimizer</a:t>
                      </a:r>
                    </a:p>
                  </a:txBody>
                  <a:tcPr marL="75432" marR="75432" marT="37716" marB="37716" anchor="ctr"/>
                </a:tc>
                <a:tc>
                  <a:txBody>
                    <a:bodyPr/>
                    <a:lstStyle/>
                    <a:p>
                      <a:pPr>
                        <a:buNone/>
                      </a:pPr>
                      <a:r>
                        <a:rPr lang="en-US" sz="1500">
                          <a:ln>
                            <a:noFill/>
                          </a:ln>
                        </a:rPr>
                        <a:t>Adam</a:t>
                      </a:r>
                    </a:p>
                  </a:txBody>
                  <a:tcPr marL="75432" marR="75432" marT="37716" marB="37716" anchor="ctr"/>
                </a:tc>
                <a:tc>
                  <a:txBody>
                    <a:bodyPr/>
                    <a:lstStyle/>
                    <a:p>
                      <a:pPr>
                        <a:buNone/>
                      </a:pPr>
                      <a:r>
                        <a:rPr lang="en-US" sz="1500">
                          <a:ln>
                            <a:noFill/>
                          </a:ln>
                        </a:rPr>
                        <a:t>AdamW</a:t>
                      </a:r>
                    </a:p>
                  </a:txBody>
                  <a:tcPr marL="75432" marR="75432" marT="37716" marB="37716" anchor="ctr"/>
                </a:tc>
                <a:tc>
                  <a:txBody>
                    <a:bodyPr/>
                    <a:lstStyle/>
                    <a:p>
                      <a:pPr>
                        <a:buNone/>
                      </a:pPr>
                      <a:r>
                        <a:rPr lang="en-US" sz="1500">
                          <a:ln>
                            <a:noFill/>
                          </a:ln>
                        </a:rPr>
                        <a:t>AdamW</a:t>
                      </a:r>
                    </a:p>
                  </a:txBody>
                  <a:tcPr marL="75432" marR="75432" marT="37716" marB="37716" anchor="ctr"/>
                </a:tc>
                <a:extLst>
                  <a:ext uri="{0D108BD9-81ED-4DB2-BD59-A6C34878D82A}">
                    <a16:rowId xmlns:a16="http://schemas.microsoft.com/office/drawing/2014/main" val="1996567448"/>
                  </a:ext>
                </a:extLst>
              </a:tr>
              <a:tr h="287098">
                <a:tc>
                  <a:txBody>
                    <a:bodyPr/>
                    <a:lstStyle/>
                    <a:p>
                      <a:pPr>
                        <a:buNone/>
                      </a:pPr>
                      <a:r>
                        <a:rPr lang="en-US" sz="1500">
                          <a:ln>
                            <a:noFill/>
                          </a:ln>
                        </a:rPr>
                        <a:t>Epochs</a:t>
                      </a:r>
                    </a:p>
                  </a:txBody>
                  <a:tcPr marL="75432" marR="75432" marT="37716" marB="37716" anchor="ctr"/>
                </a:tc>
                <a:tc>
                  <a:txBody>
                    <a:bodyPr/>
                    <a:lstStyle/>
                    <a:p>
                      <a:pPr>
                        <a:buNone/>
                      </a:pPr>
                      <a:r>
                        <a:rPr lang="en-US" sz="1500" dirty="0">
                          <a:ln>
                            <a:noFill/>
                          </a:ln>
                        </a:rPr>
                        <a:t>3</a:t>
                      </a:r>
                    </a:p>
                  </a:txBody>
                  <a:tcPr marL="75432" marR="75432" marT="37716" marB="37716" anchor="ctr"/>
                </a:tc>
                <a:tc>
                  <a:txBody>
                    <a:bodyPr/>
                    <a:lstStyle/>
                    <a:p>
                      <a:pPr>
                        <a:buNone/>
                      </a:pPr>
                      <a:r>
                        <a:rPr lang="en-US" sz="1500">
                          <a:ln>
                            <a:noFill/>
                          </a:ln>
                        </a:rPr>
                        <a:t>3</a:t>
                      </a:r>
                    </a:p>
                  </a:txBody>
                  <a:tcPr marL="75432" marR="75432" marT="37716" marB="37716" anchor="ctr"/>
                </a:tc>
                <a:tc>
                  <a:txBody>
                    <a:bodyPr/>
                    <a:lstStyle/>
                    <a:p>
                      <a:pPr>
                        <a:buNone/>
                      </a:pPr>
                      <a:r>
                        <a:rPr lang="en-US" sz="1500">
                          <a:ln>
                            <a:noFill/>
                          </a:ln>
                        </a:rPr>
                        <a:t>3</a:t>
                      </a:r>
                    </a:p>
                  </a:txBody>
                  <a:tcPr marL="75432" marR="75432" marT="37716" marB="37716" anchor="ctr"/>
                </a:tc>
                <a:extLst>
                  <a:ext uri="{0D108BD9-81ED-4DB2-BD59-A6C34878D82A}">
                    <a16:rowId xmlns:a16="http://schemas.microsoft.com/office/drawing/2014/main" val="984691946"/>
                  </a:ext>
                </a:extLst>
              </a:tr>
              <a:tr h="287098">
                <a:tc>
                  <a:txBody>
                    <a:bodyPr/>
                    <a:lstStyle/>
                    <a:p>
                      <a:pPr>
                        <a:buNone/>
                      </a:pPr>
                      <a:r>
                        <a:rPr lang="en-US" sz="1500">
                          <a:ln>
                            <a:noFill/>
                          </a:ln>
                        </a:rPr>
                        <a:t>Loss Function</a:t>
                      </a:r>
                    </a:p>
                  </a:txBody>
                  <a:tcPr marL="75432" marR="75432" marT="37716" marB="37716" anchor="ctr"/>
                </a:tc>
                <a:tc>
                  <a:txBody>
                    <a:bodyPr/>
                    <a:lstStyle/>
                    <a:p>
                      <a:pPr>
                        <a:buNone/>
                      </a:pPr>
                      <a:r>
                        <a:rPr lang="en-US" sz="1500">
                          <a:ln>
                            <a:noFill/>
                          </a:ln>
                        </a:rPr>
                        <a:t>Binary Crossentropy</a:t>
                      </a:r>
                    </a:p>
                  </a:txBody>
                  <a:tcPr marL="75432" marR="75432" marT="37716" marB="37716" anchor="ctr"/>
                </a:tc>
                <a:tc>
                  <a:txBody>
                    <a:bodyPr/>
                    <a:lstStyle/>
                    <a:p>
                      <a:pPr>
                        <a:buNone/>
                      </a:pPr>
                      <a:r>
                        <a:rPr lang="en-US" sz="1500">
                          <a:ln>
                            <a:noFill/>
                          </a:ln>
                        </a:rPr>
                        <a:t>Crossentropy</a:t>
                      </a:r>
                    </a:p>
                  </a:txBody>
                  <a:tcPr marL="75432" marR="75432" marT="37716" marB="37716" anchor="ctr"/>
                </a:tc>
                <a:tc>
                  <a:txBody>
                    <a:bodyPr/>
                    <a:lstStyle/>
                    <a:p>
                      <a:pPr>
                        <a:buNone/>
                      </a:pPr>
                      <a:r>
                        <a:rPr lang="en-US" sz="1500" dirty="0" err="1">
                          <a:ln>
                            <a:noFill/>
                          </a:ln>
                        </a:rPr>
                        <a:t>Crossentropy</a:t>
                      </a:r>
                      <a:endParaRPr lang="en-US" sz="1500" dirty="0">
                        <a:ln>
                          <a:noFill/>
                        </a:ln>
                      </a:endParaRPr>
                    </a:p>
                  </a:txBody>
                  <a:tcPr marL="75432" marR="75432" marT="37716" marB="37716" anchor="ctr"/>
                </a:tc>
                <a:extLst>
                  <a:ext uri="{0D108BD9-81ED-4DB2-BD59-A6C34878D82A}">
                    <a16:rowId xmlns:a16="http://schemas.microsoft.com/office/drawing/2014/main" val="699953805"/>
                  </a:ext>
                </a:extLst>
              </a:tr>
            </a:tbl>
          </a:graphicData>
        </a:graphic>
      </p:graphicFrame>
      <p:sp>
        <p:nvSpPr>
          <p:cNvPr id="7" name="TextBox 6">
            <a:extLst>
              <a:ext uri="{FF2B5EF4-FFF2-40B4-BE49-F238E27FC236}">
                <a16:creationId xmlns:a16="http://schemas.microsoft.com/office/drawing/2014/main" id="{A5922A2B-28CD-5F22-915B-D28356AC84A4}"/>
              </a:ext>
            </a:extLst>
          </p:cNvPr>
          <p:cNvSpPr txBox="1"/>
          <p:nvPr/>
        </p:nvSpPr>
        <p:spPr>
          <a:xfrm>
            <a:off x="800100" y="4704487"/>
            <a:ext cx="10534651" cy="738664"/>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All experimental evaluations are performed on three different bench mark datasets mentioned in Table 1.Experimental evaluations are performed using three different benchmark datasets, which include LIAR [19], ISOT [4], and </a:t>
            </a:r>
            <a:r>
              <a:rPr lang="en-US" sz="1400" dirty="0" err="1">
                <a:latin typeface="Times New Roman" panose="02020603050405020304" pitchFamily="18" charset="0"/>
                <a:cs typeface="Times New Roman" panose="02020603050405020304" pitchFamily="18" charset="0"/>
              </a:rPr>
              <a:t>FakeNewsNet</a:t>
            </a:r>
            <a:r>
              <a:rPr lang="en-US" sz="1400" dirty="0">
                <a:latin typeface="Times New Roman" panose="02020603050405020304" pitchFamily="18" charset="0"/>
                <a:cs typeface="Times New Roman" panose="02020603050405020304" pitchFamily="18" charset="0"/>
              </a:rPr>
              <a:t> [15]. Moreover, a version of the same dataset hosted by Kaggle has been employed</a:t>
            </a:r>
          </a:p>
        </p:txBody>
      </p:sp>
      <p:sp>
        <p:nvSpPr>
          <p:cNvPr id="9" name="TextBox 8">
            <a:extLst>
              <a:ext uri="{FF2B5EF4-FFF2-40B4-BE49-F238E27FC236}">
                <a16:creationId xmlns:a16="http://schemas.microsoft.com/office/drawing/2014/main" id="{EDB9704A-784B-2A5D-D2D8-A3008C94F78B}"/>
              </a:ext>
            </a:extLst>
          </p:cNvPr>
          <p:cNvSpPr txBox="1"/>
          <p:nvPr/>
        </p:nvSpPr>
        <p:spPr>
          <a:xfrm>
            <a:off x="3876675" y="635017"/>
            <a:ext cx="4810125" cy="369332"/>
          </a:xfrm>
          <a:prstGeom prst="rect">
            <a:avLst/>
          </a:prstGeom>
          <a:noFill/>
        </p:spPr>
        <p:txBody>
          <a:bodyPr wrap="square">
            <a:spAutoFit/>
          </a:bodyPr>
          <a:lstStyle/>
          <a:p>
            <a:r>
              <a:rPr lang="en-US" dirty="0"/>
              <a:t>Table1 : Hyperparameter Configuration of Models</a:t>
            </a:r>
          </a:p>
        </p:txBody>
      </p:sp>
    </p:spTree>
    <p:extLst>
      <p:ext uri="{BB962C8B-B14F-4D97-AF65-F5344CB8AC3E}">
        <p14:creationId xmlns:p14="http://schemas.microsoft.com/office/powerpoint/2010/main" val="3075182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1FD375F-14E9-8EDE-50B9-CBEB99E18AD8}"/>
              </a:ext>
            </a:extLst>
          </p:cNvPr>
          <p:cNvSpPr txBox="1"/>
          <p:nvPr/>
        </p:nvSpPr>
        <p:spPr>
          <a:xfrm>
            <a:off x="4675185" y="1515963"/>
            <a:ext cx="2838450" cy="369332"/>
          </a:xfrm>
          <a:prstGeom prst="rect">
            <a:avLst/>
          </a:prstGeom>
          <a:noFill/>
        </p:spPr>
        <p:txBody>
          <a:bodyPr wrap="square">
            <a:spAutoFit/>
          </a:bodyPr>
          <a:lstStyle/>
          <a:p>
            <a:r>
              <a:rPr lang="en-US" dirty="0"/>
              <a:t>Table 3. Dataset Description</a:t>
            </a:r>
          </a:p>
        </p:txBody>
      </p:sp>
      <p:sp>
        <p:nvSpPr>
          <p:cNvPr id="9" name="TextBox 8">
            <a:extLst>
              <a:ext uri="{FF2B5EF4-FFF2-40B4-BE49-F238E27FC236}">
                <a16:creationId xmlns:a16="http://schemas.microsoft.com/office/drawing/2014/main" id="{7A27109A-0348-0AED-4ACE-1316AB208B38}"/>
              </a:ext>
            </a:extLst>
          </p:cNvPr>
          <p:cNvSpPr txBox="1"/>
          <p:nvPr/>
        </p:nvSpPr>
        <p:spPr>
          <a:xfrm>
            <a:off x="887412" y="4203264"/>
            <a:ext cx="10413999" cy="954107"/>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data set was split in an 80:10:10 ratio where 80%, 10%, and 10% rep-resent the training, validation, and testing sets, respectively, in accordance </a:t>
            </a:r>
            <a:r>
              <a:rPr lang="en-US" sz="1400" dirty="0" err="1">
                <a:latin typeface="Times New Roman" panose="02020603050405020304" pitchFamily="18" charset="0"/>
                <a:cs typeface="Times New Roman" panose="02020603050405020304" pitchFamily="18" charset="0"/>
              </a:rPr>
              <a:t>withestablished</a:t>
            </a:r>
            <a:r>
              <a:rPr lang="en-US" sz="1400" dirty="0">
                <a:latin typeface="Times New Roman" panose="02020603050405020304" pitchFamily="18" charset="0"/>
                <a:cs typeface="Times New Roman" panose="02020603050405020304" pitchFamily="18" charset="0"/>
              </a:rPr>
              <a:t> conventions in the literature [5,12].The results of training and evaluating the three models on the fake </a:t>
            </a:r>
            <a:r>
              <a:rPr lang="en-US" sz="1400" dirty="0" err="1">
                <a:latin typeface="Times New Roman" panose="02020603050405020304" pitchFamily="18" charset="0"/>
                <a:cs typeface="Times New Roman" panose="02020603050405020304" pitchFamily="18" charset="0"/>
              </a:rPr>
              <a:t>newsdata</a:t>
            </a:r>
            <a:r>
              <a:rPr lang="en-US" sz="1400" dirty="0">
                <a:latin typeface="Times New Roman" panose="02020603050405020304" pitchFamily="18" charset="0"/>
                <a:cs typeface="Times New Roman" panose="02020603050405020304" pitchFamily="18" charset="0"/>
              </a:rPr>
              <a:t> set are given in Table 4. The three models were trained for 3 epochs </a:t>
            </a:r>
            <a:r>
              <a:rPr lang="en-US" sz="1400" dirty="0" err="1">
                <a:latin typeface="Times New Roman" panose="02020603050405020304" pitchFamily="18" charset="0"/>
                <a:cs typeface="Times New Roman" panose="02020603050405020304" pitchFamily="18" charset="0"/>
              </a:rPr>
              <a:t>undersimilar</a:t>
            </a:r>
            <a:r>
              <a:rPr lang="en-US" sz="1400" dirty="0">
                <a:latin typeface="Times New Roman" panose="02020603050405020304" pitchFamily="18" charset="0"/>
                <a:cs typeface="Times New Roman" panose="02020603050405020304" pitchFamily="18" charset="0"/>
              </a:rPr>
              <a:t> conditions for a fair </a:t>
            </a:r>
            <a:r>
              <a:rPr lang="en-US" sz="1400" dirty="0" err="1">
                <a:latin typeface="Times New Roman" panose="02020603050405020304" pitchFamily="18" charset="0"/>
                <a:cs typeface="Times New Roman" panose="02020603050405020304" pitchFamily="18" charset="0"/>
              </a:rPr>
              <a:t>comparison.Table</a:t>
            </a:r>
            <a:r>
              <a:rPr lang="en-US" sz="1400" dirty="0">
                <a:latin typeface="Times New Roman" panose="02020603050405020304" pitchFamily="18" charset="0"/>
                <a:cs typeface="Times New Roman" panose="02020603050405020304" pitchFamily="18" charset="0"/>
              </a:rPr>
              <a:t> 5 presents the comparative performance across multiple </a:t>
            </a:r>
            <a:r>
              <a:rPr lang="en-US" sz="1400" dirty="0" err="1">
                <a:latin typeface="Times New Roman" panose="02020603050405020304" pitchFamily="18" charset="0"/>
                <a:cs typeface="Times New Roman" panose="02020603050405020304" pitchFamily="18" charset="0"/>
              </a:rPr>
              <a:t>benchmarkdatasets</a:t>
            </a:r>
            <a:r>
              <a:rPr lang="en-US" sz="1400" dirty="0">
                <a:latin typeface="Times New Roman" panose="02020603050405020304" pitchFamily="18" charset="0"/>
                <a:cs typeface="Times New Roman" panose="02020603050405020304" pitchFamily="18" charset="0"/>
              </a:rPr>
              <a:t> (LIAR and ISOT), demonstrating consistent trends in model behavior.</a:t>
            </a:r>
          </a:p>
        </p:txBody>
      </p:sp>
      <p:graphicFrame>
        <p:nvGraphicFramePr>
          <p:cNvPr id="10" name="Table 9">
            <a:extLst>
              <a:ext uri="{FF2B5EF4-FFF2-40B4-BE49-F238E27FC236}">
                <a16:creationId xmlns:a16="http://schemas.microsoft.com/office/drawing/2014/main" id="{B809B61D-76CE-1895-9465-A84C2774F5FB}"/>
              </a:ext>
            </a:extLst>
          </p:cNvPr>
          <p:cNvGraphicFramePr>
            <a:graphicFrameLocks noGrp="1"/>
          </p:cNvGraphicFramePr>
          <p:nvPr>
            <p:extLst>
              <p:ext uri="{D42A27DB-BD31-4B8C-83A1-F6EECF244321}">
                <p14:modId xmlns:p14="http://schemas.microsoft.com/office/powerpoint/2010/main" val="566697285"/>
              </p:ext>
            </p:extLst>
          </p:nvPr>
        </p:nvGraphicFramePr>
        <p:xfrm>
          <a:off x="1295398" y="2211010"/>
          <a:ext cx="9598025" cy="1432560"/>
        </p:xfrm>
        <a:graphic>
          <a:graphicData uri="http://schemas.openxmlformats.org/drawingml/2006/table">
            <a:tbl>
              <a:tblPr>
                <a:tableStyleId>{BD54F26B-3E28-4110-90A1-850C00B8E97F}</a:tableStyleId>
              </a:tblPr>
              <a:tblGrid>
                <a:gridCol w="1919605">
                  <a:extLst>
                    <a:ext uri="{9D8B030D-6E8A-4147-A177-3AD203B41FA5}">
                      <a16:colId xmlns:a16="http://schemas.microsoft.com/office/drawing/2014/main" val="1603862363"/>
                    </a:ext>
                  </a:extLst>
                </a:gridCol>
                <a:gridCol w="1919605">
                  <a:extLst>
                    <a:ext uri="{9D8B030D-6E8A-4147-A177-3AD203B41FA5}">
                      <a16:colId xmlns:a16="http://schemas.microsoft.com/office/drawing/2014/main" val="3081250381"/>
                    </a:ext>
                  </a:extLst>
                </a:gridCol>
                <a:gridCol w="1919605">
                  <a:extLst>
                    <a:ext uri="{9D8B030D-6E8A-4147-A177-3AD203B41FA5}">
                      <a16:colId xmlns:a16="http://schemas.microsoft.com/office/drawing/2014/main" val="2239287984"/>
                    </a:ext>
                  </a:extLst>
                </a:gridCol>
                <a:gridCol w="1919605">
                  <a:extLst>
                    <a:ext uri="{9D8B030D-6E8A-4147-A177-3AD203B41FA5}">
                      <a16:colId xmlns:a16="http://schemas.microsoft.com/office/drawing/2014/main" val="1009932425"/>
                    </a:ext>
                  </a:extLst>
                </a:gridCol>
                <a:gridCol w="1919605">
                  <a:extLst>
                    <a:ext uri="{9D8B030D-6E8A-4147-A177-3AD203B41FA5}">
                      <a16:colId xmlns:a16="http://schemas.microsoft.com/office/drawing/2014/main" val="1994154887"/>
                    </a:ext>
                  </a:extLst>
                </a:gridCol>
              </a:tblGrid>
              <a:tr h="0">
                <a:tc>
                  <a:txBody>
                    <a:bodyPr/>
                    <a:lstStyle/>
                    <a:p>
                      <a:pPr>
                        <a:buNone/>
                      </a:pPr>
                      <a:r>
                        <a:rPr lang="en-US" sz="1400">
                          <a:latin typeface="Times New Roman" panose="02020603050405020304" pitchFamily="18" charset="0"/>
                          <a:cs typeface="Times New Roman" panose="02020603050405020304" pitchFamily="18" charset="0"/>
                        </a:rPr>
                        <a:t>Dataset</a:t>
                      </a:r>
                    </a:p>
                  </a:txBody>
                  <a:tcPr anchor="ctr"/>
                </a:tc>
                <a:tc>
                  <a:txBody>
                    <a:bodyPr/>
                    <a:lstStyle/>
                    <a:p>
                      <a:pPr>
                        <a:buNone/>
                      </a:pPr>
                      <a:r>
                        <a:rPr lang="en-US" sz="1400">
                          <a:latin typeface="Times New Roman" panose="02020603050405020304" pitchFamily="18" charset="0"/>
                          <a:cs typeface="Times New Roman" panose="02020603050405020304" pitchFamily="18" charset="0"/>
                        </a:rPr>
                        <a:t>Total Samples</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Real News</a:t>
                      </a:r>
                    </a:p>
                  </a:txBody>
                  <a:tcPr anchor="ctr"/>
                </a:tc>
                <a:tc>
                  <a:txBody>
                    <a:bodyPr/>
                    <a:lstStyle/>
                    <a:p>
                      <a:pPr>
                        <a:buNone/>
                      </a:pPr>
                      <a:r>
                        <a:rPr lang="en-US" sz="1400">
                          <a:latin typeface="Times New Roman" panose="02020603050405020304" pitchFamily="18" charset="0"/>
                          <a:cs typeface="Times New Roman" panose="02020603050405020304" pitchFamily="18" charset="0"/>
                        </a:rPr>
                        <a:t>Fake News</a:t>
                      </a:r>
                    </a:p>
                  </a:txBody>
                  <a:tcPr anchor="ctr"/>
                </a:tc>
                <a:tc>
                  <a:txBody>
                    <a:bodyPr/>
                    <a:lstStyle/>
                    <a:p>
                      <a:pPr>
                        <a:buNone/>
                      </a:pPr>
                      <a:r>
                        <a:rPr lang="en-US" sz="1400">
                          <a:latin typeface="Times New Roman" panose="02020603050405020304" pitchFamily="18" charset="0"/>
                          <a:cs typeface="Times New Roman" panose="02020603050405020304" pitchFamily="18" charset="0"/>
                        </a:rPr>
                        <a:t>Source</a:t>
                      </a:r>
                    </a:p>
                  </a:txBody>
                  <a:tcPr anchor="ctr"/>
                </a:tc>
                <a:extLst>
                  <a:ext uri="{0D108BD9-81ED-4DB2-BD59-A6C34878D82A}">
                    <a16:rowId xmlns:a16="http://schemas.microsoft.com/office/drawing/2014/main" val="1317475478"/>
                  </a:ext>
                </a:extLst>
              </a:tr>
              <a:tr h="0">
                <a:tc>
                  <a:txBody>
                    <a:bodyPr/>
                    <a:lstStyle/>
                    <a:p>
                      <a:pPr>
                        <a:buNone/>
                      </a:pPr>
                      <a:r>
                        <a:rPr lang="en-US" sz="1400">
                          <a:latin typeface="Times New Roman" panose="02020603050405020304" pitchFamily="18" charset="0"/>
                          <a:cs typeface="Times New Roman" panose="02020603050405020304" pitchFamily="18" charset="0"/>
                        </a:rPr>
                        <a:t>LIAR</a:t>
                      </a:r>
                    </a:p>
                  </a:txBody>
                  <a:tcPr anchor="ctr"/>
                </a:tc>
                <a:tc>
                  <a:txBody>
                    <a:bodyPr/>
                    <a:lstStyle/>
                    <a:p>
                      <a:pPr>
                        <a:buNone/>
                      </a:pPr>
                      <a:r>
                        <a:rPr lang="en-US" sz="1400">
                          <a:latin typeface="Times New Roman" panose="02020603050405020304" pitchFamily="18" charset="0"/>
                          <a:cs typeface="Times New Roman" panose="02020603050405020304" pitchFamily="18" charset="0"/>
                        </a:rPr>
                        <a:t>12,836</a:t>
                      </a:r>
                    </a:p>
                  </a:txBody>
                  <a:tcPr anchor="ctr"/>
                </a:tc>
                <a:tc>
                  <a:txBody>
                    <a:bodyPr/>
                    <a:lstStyle/>
                    <a:p>
                      <a:pPr>
                        <a:buNone/>
                      </a:pPr>
                      <a:r>
                        <a:rPr lang="en-US" sz="1400">
                          <a:latin typeface="Times New Roman" panose="02020603050405020304" pitchFamily="18" charset="0"/>
                          <a:cs typeface="Times New Roman" panose="02020603050405020304" pitchFamily="18" charset="0"/>
                        </a:rPr>
                        <a:t>6,418</a:t>
                      </a:r>
                    </a:p>
                  </a:txBody>
                  <a:tcPr anchor="ctr"/>
                </a:tc>
                <a:tc>
                  <a:txBody>
                    <a:bodyPr/>
                    <a:lstStyle/>
                    <a:p>
                      <a:pPr>
                        <a:buNone/>
                      </a:pPr>
                      <a:r>
                        <a:rPr lang="en-US" sz="1400">
                          <a:latin typeface="Times New Roman" panose="02020603050405020304" pitchFamily="18" charset="0"/>
                          <a:cs typeface="Times New Roman" panose="02020603050405020304" pitchFamily="18" charset="0"/>
                        </a:rPr>
                        <a:t>6,418</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PolitiFact Statements</a:t>
                      </a:r>
                    </a:p>
                  </a:txBody>
                  <a:tcPr anchor="ctr"/>
                </a:tc>
                <a:extLst>
                  <a:ext uri="{0D108BD9-81ED-4DB2-BD59-A6C34878D82A}">
                    <a16:rowId xmlns:a16="http://schemas.microsoft.com/office/drawing/2014/main" val="2450060346"/>
                  </a:ext>
                </a:extLst>
              </a:tr>
              <a:tr h="0">
                <a:tc>
                  <a:txBody>
                    <a:bodyPr/>
                    <a:lstStyle/>
                    <a:p>
                      <a:pPr>
                        <a:buNone/>
                      </a:pPr>
                      <a:r>
                        <a:rPr lang="en-US" sz="1400">
                          <a:latin typeface="Times New Roman" panose="02020603050405020304" pitchFamily="18" charset="0"/>
                          <a:cs typeface="Times New Roman" panose="02020603050405020304" pitchFamily="18" charset="0"/>
                        </a:rPr>
                        <a:t>ISOT</a:t>
                      </a:r>
                    </a:p>
                  </a:txBody>
                  <a:tcPr anchor="ctr"/>
                </a:tc>
                <a:tc>
                  <a:txBody>
                    <a:bodyPr/>
                    <a:lstStyle/>
                    <a:p>
                      <a:pPr>
                        <a:buNone/>
                      </a:pPr>
                      <a:r>
                        <a:rPr lang="en-US" sz="1400">
                          <a:latin typeface="Times New Roman" panose="02020603050405020304" pitchFamily="18" charset="0"/>
                          <a:cs typeface="Times New Roman" panose="02020603050405020304" pitchFamily="18" charset="0"/>
                        </a:rPr>
                        <a:t>44,919</a:t>
                      </a:r>
                    </a:p>
                  </a:txBody>
                  <a:tcPr anchor="ctr"/>
                </a:tc>
                <a:tc>
                  <a:txBody>
                    <a:bodyPr/>
                    <a:lstStyle/>
                    <a:p>
                      <a:pPr>
                        <a:buNone/>
                      </a:pPr>
                      <a:r>
                        <a:rPr lang="en-US" sz="1400">
                          <a:latin typeface="Times New Roman" panose="02020603050405020304" pitchFamily="18" charset="0"/>
                          <a:cs typeface="Times New Roman" panose="02020603050405020304" pitchFamily="18" charset="0"/>
                        </a:rPr>
                        <a:t>21,417</a:t>
                      </a:r>
                    </a:p>
                  </a:txBody>
                  <a:tcPr anchor="ctr"/>
                </a:tc>
                <a:tc>
                  <a:txBody>
                    <a:bodyPr/>
                    <a:lstStyle/>
                    <a:p>
                      <a:pPr>
                        <a:buNone/>
                      </a:pPr>
                      <a:r>
                        <a:rPr lang="en-US" sz="1400">
                          <a:latin typeface="Times New Roman" panose="02020603050405020304" pitchFamily="18" charset="0"/>
                          <a:cs typeface="Times New Roman" panose="02020603050405020304" pitchFamily="18" charset="0"/>
                        </a:rPr>
                        <a:t>23,502</a:t>
                      </a:r>
                    </a:p>
                  </a:txBody>
                  <a:tcPr anchor="ctr"/>
                </a:tc>
                <a:tc>
                  <a:txBody>
                    <a:bodyPr/>
                    <a:lstStyle/>
                    <a:p>
                      <a:pPr>
                        <a:buNone/>
                      </a:pPr>
                      <a:r>
                        <a:rPr lang="en-US" sz="1400">
                          <a:latin typeface="Times New Roman" panose="02020603050405020304" pitchFamily="18" charset="0"/>
                          <a:cs typeface="Times New Roman" panose="02020603050405020304" pitchFamily="18" charset="0"/>
                        </a:rPr>
                        <a:t>Reuters &amp; Fake News Sites</a:t>
                      </a:r>
                    </a:p>
                  </a:txBody>
                  <a:tcPr anchor="ctr"/>
                </a:tc>
                <a:extLst>
                  <a:ext uri="{0D108BD9-81ED-4DB2-BD59-A6C34878D82A}">
                    <a16:rowId xmlns:a16="http://schemas.microsoft.com/office/drawing/2014/main" val="3853014211"/>
                  </a:ext>
                </a:extLst>
              </a:tr>
              <a:tr h="0">
                <a:tc>
                  <a:txBody>
                    <a:bodyPr/>
                    <a:lstStyle/>
                    <a:p>
                      <a:pPr>
                        <a:buNone/>
                      </a:pPr>
                      <a:r>
                        <a:rPr lang="en-US" sz="1400">
                          <a:latin typeface="Times New Roman" panose="02020603050405020304" pitchFamily="18" charset="0"/>
                          <a:cs typeface="Times New Roman" panose="02020603050405020304" pitchFamily="18" charset="0"/>
                        </a:rPr>
                        <a:t>FakeNewsNet</a:t>
                      </a:r>
                    </a:p>
                  </a:txBody>
                  <a:tcPr anchor="ctr"/>
                </a:tc>
                <a:tc>
                  <a:txBody>
                    <a:bodyPr/>
                    <a:lstStyle/>
                    <a:p>
                      <a:pPr>
                        <a:buNone/>
                      </a:pPr>
                      <a:r>
                        <a:rPr lang="en-US" sz="1400">
                          <a:latin typeface="Times New Roman" panose="02020603050405020304" pitchFamily="18" charset="0"/>
                          <a:cs typeface="Times New Roman" panose="02020603050405020304" pitchFamily="18" charset="0"/>
                        </a:rPr>
                        <a:t>23,196</a:t>
                      </a:r>
                    </a:p>
                  </a:txBody>
                  <a:tcPr anchor="ctr"/>
                </a:tc>
                <a:tc>
                  <a:txBody>
                    <a:bodyPr/>
                    <a:lstStyle/>
                    <a:p>
                      <a:pPr>
                        <a:buNone/>
                      </a:pPr>
                      <a:r>
                        <a:rPr lang="en-US" sz="1400">
                          <a:latin typeface="Times New Roman" panose="02020603050405020304" pitchFamily="18" charset="0"/>
                          <a:cs typeface="Times New Roman" panose="02020603050405020304" pitchFamily="18" charset="0"/>
                        </a:rPr>
                        <a:t>11,941</a:t>
                      </a:r>
                    </a:p>
                  </a:txBody>
                  <a:tcPr anchor="ctr"/>
                </a:tc>
                <a:tc>
                  <a:txBody>
                    <a:bodyPr/>
                    <a:lstStyle/>
                    <a:p>
                      <a:pPr>
                        <a:buNone/>
                      </a:pPr>
                      <a:r>
                        <a:rPr lang="en-US" sz="1400">
                          <a:latin typeface="Times New Roman" panose="02020603050405020304" pitchFamily="18" charset="0"/>
                          <a:cs typeface="Times New Roman" panose="02020603050405020304" pitchFamily="18" charset="0"/>
                        </a:rPr>
                        <a:t>11,255</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PolitiFact &amp; </a:t>
                      </a:r>
                      <a:r>
                        <a:rPr lang="en-US" sz="1400" dirty="0" err="1">
                          <a:latin typeface="Times New Roman" panose="02020603050405020304" pitchFamily="18" charset="0"/>
                          <a:cs typeface="Times New Roman" panose="02020603050405020304" pitchFamily="18" charset="0"/>
                        </a:rPr>
                        <a:t>GossipCop</a:t>
                      </a:r>
                      <a:endParaRPr lang="en-US"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3076208"/>
                  </a:ext>
                </a:extLst>
              </a:tr>
            </a:tbl>
          </a:graphicData>
        </a:graphic>
      </p:graphicFrame>
    </p:spTree>
    <p:extLst>
      <p:ext uri="{BB962C8B-B14F-4D97-AF65-F5344CB8AC3E}">
        <p14:creationId xmlns:p14="http://schemas.microsoft.com/office/powerpoint/2010/main" val="1415364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30BD409-997A-6EBD-42AD-D2601CE7C86D}"/>
              </a:ext>
            </a:extLst>
          </p:cNvPr>
          <p:cNvGraphicFramePr>
            <a:graphicFrameLocks noGrp="1"/>
          </p:cNvGraphicFramePr>
          <p:nvPr>
            <p:extLst>
              <p:ext uri="{D42A27DB-BD31-4B8C-83A1-F6EECF244321}">
                <p14:modId xmlns:p14="http://schemas.microsoft.com/office/powerpoint/2010/main" val="2400248529"/>
              </p:ext>
            </p:extLst>
          </p:nvPr>
        </p:nvGraphicFramePr>
        <p:xfrm>
          <a:off x="1295399" y="1528133"/>
          <a:ext cx="9598026" cy="1396042"/>
        </p:xfrm>
        <a:graphic>
          <a:graphicData uri="http://schemas.openxmlformats.org/drawingml/2006/table">
            <a:tbl>
              <a:tblPr>
                <a:tableStyleId>{BD54F26B-3E28-4110-90A1-850C00B8E97F}</a:tableStyleId>
              </a:tblPr>
              <a:tblGrid>
                <a:gridCol w="1599671">
                  <a:extLst>
                    <a:ext uri="{9D8B030D-6E8A-4147-A177-3AD203B41FA5}">
                      <a16:colId xmlns:a16="http://schemas.microsoft.com/office/drawing/2014/main" val="2475176306"/>
                    </a:ext>
                  </a:extLst>
                </a:gridCol>
                <a:gridCol w="1599671">
                  <a:extLst>
                    <a:ext uri="{9D8B030D-6E8A-4147-A177-3AD203B41FA5}">
                      <a16:colId xmlns:a16="http://schemas.microsoft.com/office/drawing/2014/main" val="3792067883"/>
                    </a:ext>
                  </a:extLst>
                </a:gridCol>
                <a:gridCol w="1599671">
                  <a:extLst>
                    <a:ext uri="{9D8B030D-6E8A-4147-A177-3AD203B41FA5}">
                      <a16:colId xmlns:a16="http://schemas.microsoft.com/office/drawing/2014/main" val="3210225890"/>
                    </a:ext>
                  </a:extLst>
                </a:gridCol>
                <a:gridCol w="1599671">
                  <a:extLst>
                    <a:ext uri="{9D8B030D-6E8A-4147-A177-3AD203B41FA5}">
                      <a16:colId xmlns:a16="http://schemas.microsoft.com/office/drawing/2014/main" val="3324669867"/>
                    </a:ext>
                  </a:extLst>
                </a:gridCol>
                <a:gridCol w="1599671">
                  <a:extLst>
                    <a:ext uri="{9D8B030D-6E8A-4147-A177-3AD203B41FA5}">
                      <a16:colId xmlns:a16="http://schemas.microsoft.com/office/drawing/2014/main" val="2784289285"/>
                    </a:ext>
                  </a:extLst>
                </a:gridCol>
                <a:gridCol w="1599671">
                  <a:extLst>
                    <a:ext uri="{9D8B030D-6E8A-4147-A177-3AD203B41FA5}">
                      <a16:colId xmlns:a16="http://schemas.microsoft.com/office/drawing/2014/main" val="943132859"/>
                    </a:ext>
                  </a:extLst>
                </a:gridCol>
              </a:tblGrid>
              <a:tr h="365633">
                <a:tc>
                  <a:txBody>
                    <a:bodyPr/>
                    <a:lstStyle/>
                    <a:p>
                      <a:pPr>
                        <a:buNone/>
                      </a:pPr>
                      <a:r>
                        <a:rPr lang="en-US" sz="1000" dirty="0">
                          <a:latin typeface="Times New Roman" panose="02020603050405020304" pitchFamily="18" charset="0"/>
                          <a:cs typeface="Times New Roman" panose="02020603050405020304" pitchFamily="18" charset="0"/>
                        </a:rPr>
                        <a:t>Model</a:t>
                      </a:r>
                    </a:p>
                  </a:txBody>
                  <a:tcPr anchor="ctr"/>
                </a:tc>
                <a:tc>
                  <a:txBody>
                    <a:bodyPr/>
                    <a:lstStyle/>
                    <a:p>
                      <a:pPr>
                        <a:buNone/>
                      </a:pPr>
                      <a:r>
                        <a:rPr lang="en-US" sz="1000">
                          <a:latin typeface="Times New Roman" panose="02020603050405020304" pitchFamily="18" charset="0"/>
                          <a:cs typeface="Times New Roman" panose="02020603050405020304" pitchFamily="18" charset="0"/>
                        </a:rPr>
                        <a:t>Final Loss</a:t>
                      </a:r>
                    </a:p>
                  </a:txBody>
                  <a:tcPr anchor="ctr"/>
                </a:tc>
                <a:tc>
                  <a:txBody>
                    <a:bodyPr/>
                    <a:lstStyle/>
                    <a:p>
                      <a:pPr>
                        <a:buNone/>
                      </a:pPr>
                      <a:r>
                        <a:rPr lang="en-US" sz="1000">
                          <a:latin typeface="Times New Roman" panose="02020603050405020304" pitchFamily="18" charset="0"/>
                          <a:cs typeface="Times New Roman" panose="02020603050405020304" pitchFamily="18" charset="0"/>
                        </a:rPr>
                        <a:t>Accuracy</a:t>
                      </a:r>
                    </a:p>
                  </a:txBody>
                  <a:tcPr anchor="ctr"/>
                </a:tc>
                <a:tc>
                  <a:txBody>
                    <a:bodyPr/>
                    <a:lstStyle/>
                    <a:p>
                      <a:pPr>
                        <a:buNone/>
                      </a:pPr>
                      <a:r>
                        <a:rPr lang="en-US" sz="1000">
                          <a:latin typeface="Times New Roman" panose="02020603050405020304" pitchFamily="18" charset="0"/>
                          <a:cs typeface="Times New Roman" panose="02020603050405020304" pitchFamily="18" charset="0"/>
                        </a:rPr>
                        <a:t>Precision</a:t>
                      </a:r>
                    </a:p>
                  </a:txBody>
                  <a:tcPr anchor="ctr"/>
                </a:tc>
                <a:tc>
                  <a:txBody>
                    <a:bodyPr/>
                    <a:lstStyle/>
                    <a:p>
                      <a:pPr>
                        <a:buNone/>
                      </a:pPr>
                      <a:r>
                        <a:rPr lang="en-US" sz="1000" dirty="0">
                          <a:latin typeface="Times New Roman" panose="02020603050405020304" pitchFamily="18" charset="0"/>
                          <a:cs typeface="Times New Roman" panose="02020603050405020304" pitchFamily="18" charset="0"/>
                        </a:rPr>
                        <a:t>Recall</a:t>
                      </a:r>
                    </a:p>
                  </a:txBody>
                  <a:tcPr anchor="ctr"/>
                </a:tc>
                <a:tc>
                  <a:txBody>
                    <a:bodyPr/>
                    <a:lstStyle/>
                    <a:p>
                      <a:pPr>
                        <a:buNone/>
                      </a:pPr>
                      <a:r>
                        <a:rPr lang="en-US" sz="1000">
                          <a:latin typeface="Times New Roman" panose="02020603050405020304" pitchFamily="18" charset="0"/>
                          <a:cs typeface="Times New Roman" panose="02020603050405020304" pitchFamily="18" charset="0"/>
                        </a:rPr>
                        <a:t>F1 Score</a:t>
                      </a:r>
                    </a:p>
                  </a:txBody>
                  <a:tcPr anchor="ctr"/>
                </a:tc>
                <a:extLst>
                  <a:ext uri="{0D108BD9-81ED-4DB2-BD59-A6C34878D82A}">
                    <a16:rowId xmlns:a16="http://schemas.microsoft.com/office/drawing/2014/main" val="1622322774"/>
                  </a:ext>
                </a:extLst>
              </a:tr>
              <a:tr h="365633">
                <a:tc>
                  <a:txBody>
                    <a:bodyPr/>
                    <a:lstStyle/>
                    <a:p>
                      <a:pPr>
                        <a:buNone/>
                      </a:pPr>
                      <a:r>
                        <a:rPr lang="en-US" sz="1000" dirty="0" err="1">
                          <a:latin typeface="Times New Roman" panose="02020603050405020304" pitchFamily="18" charset="0"/>
                          <a:cs typeface="Times New Roman" panose="02020603050405020304" pitchFamily="18" charset="0"/>
                        </a:rPr>
                        <a:t>BiLSTM</a:t>
                      </a:r>
                      <a:endParaRPr lang="en-US" sz="1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000" dirty="0">
                          <a:latin typeface="Times New Roman" panose="02020603050405020304" pitchFamily="18" charset="0"/>
                          <a:cs typeface="Times New Roman" panose="02020603050405020304" pitchFamily="18" charset="0"/>
                        </a:rPr>
                        <a:t>0.6571</a:t>
                      </a:r>
                    </a:p>
                  </a:txBody>
                  <a:tcPr anchor="ctr"/>
                </a:tc>
                <a:tc>
                  <a:txBody>
                    <a:bodyPr/>
                    <a:lstStyle/>
                    <a:p>
                      <a:pPr>
                        <a:buNone/>
                      </a:pPr>
                      <a:r>
                        <a:rPr lang="en-US" sz="1000">
                          <a:latin typeface="Times New Roman" panose="02020603050405020304" pitchFamily="18" charset="0"/>
                          <a:cs typeface="Times New Roman" panose="02020603050405020304" pitchFamily="18" charset="0"/>
                        </a:rPr>
                        <a:t>0.5000</a:t>
                      </a:r>
                    </a:p>
                  </a:txBody>
                  <a:tcPr anchor="ctr"/>
                </a:tc>
                <a:tc>
                  <a:txBody>
                    <a:bodyPr/>
                    <a:lstStyle/>
                    <a:p>
                      <a:pPr>
                        <a:buNone/>
                      </a:pPr>
                      <a:r>
                        <a:rPr lang="en-US" sz="1000">
                          <a:latin typeface="Times New Roman" panose="02020603050405020304" pitchFamily="18" charset="0"/>
                          <a:cs typeface="Times New Roman" panose="02020603050405020304" pitchFamily="18" charset="0"/>
                        </a:rPr>
                        <a:t>0.2500</a:t>
                      </a:r>
                    </a:p>
                  </a:txBody>
                  <a:tcPr anchor="ctr"/>
                </a:tc>
                <a:tc>
                  <a:txBody>
                    <a:bodyPr/>
                    <a:lstStyle/>
                    <a:p>
                      <a:pPr>
                        <a:buNone/>
                      </a:pPr>
                      <a:r>
                        <a:rPr lang="en-US" sz="1000">
                          <a:latin typeface="Times New Roman" panose="02020603050405020304" pitchFamily="18" charset="0"/>
                          <a:cs typeface="Times New Roman" panose="02020603050405020304" pitchFamily="18" charset="0"/>
                        </a:rPr>
                        <a:t>0.5000</a:t>
                      </a:r>
                    </a:p>
                  </a:txBody>
                  <a:tcPr anchor="ctr"/>
                </a:tc>
                <a:tc>
                  <a:txBody>
                    <a:bodyPr/>
                    <a:lstStyle/>
                    <a:p>
                      <a:pPr>
                        <a:buNone/>
                      </a:pPr>
                      <a:r>
                        <a:rPr lang="en-US" sz="1000" dirty="0">
                          <a:latin typeface="Times New Roman" panose="02020603050405020304" pitchFamily="18" charset="0"/>
                          <a:cs typeface="Times New Roman" panose="02020603050405020304" pitchFamily="18" charset="0"/>
                        </a:rPr>
                        <a:t>0.3333</a:t>
                      </a:r>
                    </a:p>
                  </a:txBody>
                  <a:tcPr anchor="ctr"/>
                </a:tc>
                <a:extLst>
                  <a:ext uri="{0D108BD9-81ED-4DB2-BD59-A6C34878D82A}">
                    <a16:rowId xmlns:a16="http://schemas.microsoft.com/office/drawing/2014/main" val="1304406347"/>
                  </a:ext>
                </a:extLst>
              </a:tr>
              <a:tr h="321876">
                <a:tc>
                  <a:txBody>
                    <a:bodyPr/>
                    <a:lstStyle/>
                    <a:p>
                      <a:pPr>
                        <a:buNone/>
                      </a:pPr>
                      <a:r>
                        <a:rPr lang="en-US" sz="1000">
                          <a:latin typeface="Times New Roman" panose="02020603050405020304" pitchFamily="18" charset="0"/>
                          <a:cs typeface="Times New Roman" panose="02020603050405020304" pitchFamily="18" charset="0"/>
                        </a:rPr>
                        <a:t>BERT</a:t>
                      </a:r>
                    </a:p>
                  </a:txBody>
                  <a:tcPr anchor="ctr"/>
                </a:tc>
                <a:tc>
                  <a:txBody>
                    <a:bodyPr/>
                    <a:lstStyle/>
                    <a:p>
                      <a:pPr>
                        <a:buNone/>
                      </a:pPr>
                      <a:r>
                        <a:rPr lang="en-US" sz="1000" dirty="0">
                          <a:latin typeface="Times New Roman" panose="02020603050405020304" pitchFamily="18" charset="0"/>
                          <a:cs typeface="Times New Roman" panose="02020603050405020304" pitchFamily="18" charset="0"/>
                        </a:rPr>
                        <a:t>0.0686</a:t>
                      </a:r>
                    </a:p>
                  </a:txBody>
                  <a:tcPr anchor="ctr"/>
                </a:tc>
                <a:tc>
                  <a:txBody>
                    <a:bodyPr/>
                    <a:lstStyle/>
                    <a:p>
                      <a:pPr>
                        <a:buNone/>
                      </a:pPr>
                      <a:r>
                        <a:rPr lang="en-US" sz="1000">
                          <a:latin typeface="Times New Roman" panose="02020603050405020304" pitchFamily="18" charset="0"/>
                          <a:cs typeface="Times New Roman" panose="02020603050405020304" pitchFamily="18" charset="0"/>
                        </a:rPr>
                        <a:t>0.9500</a:t>
                      </a:r>
                    </a:p>
                  </a:txBody>
                  <a:tcPr anchor="ctr"/>
                </a:tc>
                <a:tc>
                  <a:txBody>
                    <a:bodyPr/>
                    <a:lstStyle/>
                    <a:p>
                      <a:pPr>
                        <a:buNone/>
                      </a:pPr>
                      <a:r>
                        <a:rPr lang="en-US" sz="1000">
                          <a:latin typeface="Times New Roman" panose="02020603050405020304" pitchFamily="18" charset="0"/>
                          <a:cs typeface="Times New Roman" panose="02020603050405020304" pitchFamily="18" charset="0"/>
                        </a:rPr>
                        <a:t>0.9545</a:t>
                      </a:r>
                    </a:p>
                  </a:txBody>
                  <a:tcPr anchor="ctr"/>
                </a:tc>
                <a:tc>
                  <a:txBody>
                    <a:bodyPr/>
                    <a:lstStyle/>
                    <a:p>
                      <a:pPr>
                        <a:buNone/>
                      </a:pPr>
                      <a:r>
                        <a:rPr lang="en-US" sz="1000">
                          <a:latin typeface="Times New Roman" panose="02020603050405020304" pitchFamily="18" charset="0"/>
                          <a:cs typeface="Times New Roman" panose="02020603050405020304" pitchFamily="18" charset="0"/>
                        </a:rPr>
                        <a:t>0.9500</a:t>
                      </a:r>
                    </a:p>
                  </a:txBody>
                  <a:tcPr anchor="ctr"/>
                </a:tc>
                <a:tc>
                  <a:txBody>
                    <a:bodyPr/>
                    <a:lstStyle/>
                    <a:p>
                      <a:pPr>
                        <a:buNone/>
                      </a:pPr>
                      <a:r>
                        <a:rPr lang="en-US" sz="1000">
                          <a:latin typeface="Times New Roman" panose="02020603050405020304" pitchFamily="18" charset="0"/>
                          <a:cs typeface="Times New Roman" panose="02020603050405020304" pitchFamily="18" charset="0"/>
                        </a:rPr>
                        <a:t>0.9499</a:t>
                      </a:r>
                    </a:p>
                  </a:txBody>
                  <a:tcPr anchor="ctr"/>
                </a:tc>
                <a:extLst>
                  <a:ext uri="{0D108BD9-81ED-4DB2-BD59-A6C34878D82A}">
                    <a16:rowId xmlns:a16="http://schemas.microsoft.com/office/drawing/2014/main" val="3878651865"/>
                  </a:ext>
                </a:extLst>
              </a:tr>
              <a:tr h="342900">
                <a:tc>
                  <a:txBody>
                    <a:bodyPr/>
                    <a:lstStyle/>
                    <a:p>
                      <a:pPr>
                        <a:buNone/>
                      </a:pPr>
                      <a:r>
                        <a:rPr lang="en-US" sz="1000">
                          <a:latin typeface="Times New Roman" panose="02020603050405020304" pitchFamily="18" charset="0"/>
                          <a:cs typeface="Times New Roman" panose="02020603050405020304" pitchFamily="18" charset="0"/>
                        </a:rPr>
                        <a:t>BERT + BiLSTM</a:t>
                      </a:r>
                    </a:p>
                  </a:txBody>
                  <a:tcPr anchor="ctr"/>
                </a:tc>
                <a:tc>
                  <a:txBody>
                    <a:bodyPr/>
                    <a:lstStyle/>
                    <a:p>
                      <a:pPr>
                        <a:buNone/>
                      </a:pPr>
                      <a:r>
                        <a:rPr lang="en-US" sz="1000" dirty="0">
                          <a:latin typeface="Times New Roman" panose="02020603050405020304" pitchFamily="18" charset="0"/>
                          <a:cs typeface="Times New Roman" panose="02020603050405020304" pitchFamily="18" charset="0"/>
                        </a:rPr>
                        <a:t>0.0998</a:t>
                      </a:r>
                    </a:p>
                  </a:txBody>
                  <a:tcPr anchor="ctr"/>
                </a:tc>
                <a:tc>
                  <a:txBody>
                    <a:bodyPr/>
                    <a:lstStyle/>
                    <a:p>
                      <a:pPr>
                        <a:buNone/>
                      </a:pPr>
                      <a:r>
                        <a:rPr lang="en-US" sz="1000">
                          <a:latin typeface="Times New Roman" panose="02020603050405020304" pitchFamily="18" charset="0"/>
                          <a:cs typeface="Times New Roman" panose="02020603050405020304" pitchFamily="18" charset="0"/>
                        </a:rPr>
                        <a:t>0.9500</a:t>
                      </a:r>
                    </a:p>
                  </a:txBody>
                  <a:tcPr anchor="ctr"/>
                </a:tc>
                <a:tc>
                  <a:txBody>
                    <a:bodyPr/>
                    <a:lstStyle/>
                    <a:p>
                      <a:pPr>
                        <a:buNone/>
                      </a:pPr>
                      <a:r>
                        <a:rPr lang="en-US" sz="1000">
                          <a:latin typeface="Times New Roman" panose="02020603050405020304" pitchFamily="18" charset="0"/>
                          <a:cs typeface="Times New Roman" panose="02020603050405020304" pitchFamily="18" charset="0"/>
                        </a:rPr>
                        <a:t>0.9545</a:t>
                      </a:r>
                    </a:p>
                  </a:txBody>
                  <a:tcPr anchor="ctr"/>
                </a:tc>
                <a:tc>
                  <a:txBody>
                    <a:bodyPr/>
                    <a:lstStyle/>
                    <a:p>
                      <a:pPr>
                        <a:buNone/>
                      </a:pPr>
                      <a:r>
                        <a:rPr lang="en-US" sz="1000">
                          <a:latin typeface="Times New Roman" panose="02020603050405020304" pitchFamily="18" charset="0"/>
                          <a:cs typeface="Times New Roman" panose="02020603050405020304" pitchFamily="18" charset="0"/>
                        </a:rPr>
                        <a:t>0.9500</a:t>
                      </a:r>
                    </a:p>
                  </a:txBody>
                  <a:tcPr anchor="ctr"/>
                </a:tc>
                <a:tc>
                  <a:txBody>
                    <a:bodyPr/>
                    <a:lstStyle/>
                    <a:p>
                      <a:pPr>
                        <a:buNone/>
                      </a:pPr>
                      <a:r>
                        <a:rPr lang="en-US" sz="1000" dirty="0">
                          <a:latin typeface="Times New Roman" panose="02020603050405020304" pitchFamily="18" charset="0"/>
                          <a:cs typeface="Times New Roman" panose="02020603050405020304" pitchFamily="18" charset="0"/>
                        </a:rPr>
                        <a:t>0.9499</a:t>
                      </a:r>
                    </a:p>
                  </a:txBody>
                  <a:tcPr anchor="ctr"/>
                </a:tc>
                <a:extLst>
                  <a:ext uri="{0D108BD9-81ED-4DB2-BD59-A6C34878D82A}">
                    <a16:rowId xmlns:a16="http://schemas.microsoft.com/office/drawing/2014/main" val="1872759772"/>
                  </a:ext>
                </a:extLst>
              </a:tr>
            </a:tbl>
          </a:graphicData>
        </a:graphic>
      </p:graphicFrame>
      <p:graphicFrame>
        <p:nvGraphicFramePr>
          <p:cNvPr id="6" name="Table 5">
            <a:extLst>
              <a:ext uri="{FF2B5EF4-FFF2-40B4-BE49-F238E27FC236}">
                <a16:creationId xmlns:a16="http://schemas.microsoft.com/office/drawing/2014/main" id="{B4C7A9DF-F26B-7A60-5C0F-F981E24315DD}"/>
              </a:ext>
            </a:extLst>
          </p:cNvPr>
          <p:cNvGraphicFramePr>
            <a:graphicFrameLocks noGrp="1"/>
          </p:cNvGraphicFramePr>
          <p:nvPr>
            <p:extLst>
              <p:ext uri="{D42A27DB-BD31-4B8C-83A1-F6EECF244321}">
                <p14:modId xmlns:p14="http://schemas.microsoft.com/office/powerpoint/2010/main" val="2631115895"/>
              </p:ext>
            </p:extLst>
          </p:nvPr>
        </p:nvGraphicFramePr>
        <p:xfrm>
          <a:off x="1295399" y="4023815"/>
          <a:ext cx="9598026" cy="1843108"/>
        </p:xfrm>
        <a:graphic>
          <a:graphicData uri="http://schemas.openxmlformats.org/drawingml/2006/table">
            <a:tbl>
              <a:tblPr>
                <a:tableStyleId>{BD54F26B-3E28-4110-90A1-850C00B8E97F}</a:tableStyleId>
              </a:tblPr>
              <a:tblGrid>
                <a:gridCol w="1599671">
                  <a:extLst>
                    <a:ext uri="{9D8B030D-6E8A-4147-A177-3AD203B41FA5}">
                      <a16:colId xmlns:a16="http://schemas.microsoft.com/office/drawing/2014/main" val="389446007"/>
                    </a:ext>
                  </a:extLst>
                </a:gridCol>
                <a:gridCol w="1599671">
                  <a:extLst>
                    <a:ext uri="{9D8B030D-6E8A-4147-A177-3AD203B41FA5}">
                      <a16:colId xmlns:a16="http://schemas.microsoft.com/office/drawing/2014/main" val="1749958050"/>
                    </a:ext>
                  </a:extLst>
                </a:gridCol>
                <a:gridCol w="1599671">
                  <a:extLst>
                    <a:ext uri="{9D8B030D-6E8A-4147-A177-3AD203B41FA5}">
                      <a16:colId xmlns:a16="http://schemas.microsoft.com/office/drawing/2014/main" val="2917254457"/>
                    </a:ext>
                  </a:extLst>
                </a:gridCol>
                <a:gridCol w="1599671">
                  <a:extLst>
                    <a:ext uri="{9D8B030D-6E8A-4147-A177-3AD203B41FA5}">
                      <a16:colId xmlns:a16="http://schemas.microsoft.com/office/drawing/2014/main" val="2065081878"/>
                    </a:ext>
                  </a:extLst>
                </a:gridCol>
                <a:gridCol w="1599671">
                  <a:extLst>
                    <a:ext uri="{9D8B030D-6E8A-4147-A177-3AD203B41FA5}">
                      <a16:colId xmlns:a16="http://schemas.microsoft.com/office/drawing/2014/main" val="1006020765"/>
                    </a:ext>
                  </a:extLst>
                </a:gridCol>
                <a:gridCol w="1599671">
                  <a:extLst>
                    <a:ext uri="{9D8B030D-6E8A-4147-A177-3AD203B41FA5}">
                      <a16:colId xmlns:a16="http://schemas.microsoft.com/office/drawing/2014/main" val="1880237567"/>
                    </a:ext>
                  </a:extLst>
                </a:gridCol>
              </a:tblGrid>
              <a:tr h="293445">
                <a:tc>
                  <a:txBody>
                    <a:bodyPr/>
                    <a:lstStyle/>
                    <a:p>
                      <a:pPr>
                        <a:buNone/>
                      </a:pPr>
                      <a:r>
                        <a:rPr lang="en-US" sz="1000"/>
                        <a:t>Dataset</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dirty="0"/>
                        <a:t>Model</a:t>
                      </a:r>
                      <a:endParaRPr lang="en-US" sz="1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Accuracy</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Precision</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dirty="0"/>
                        <a:t>Recall</a:t>
                      </a:r>
                      <a:endParaRPr lang="en-US" sz="1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F1 Score</a:t>
                      </a:r>
                      <a:endParaRPr lang="en-US" sz="1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47152222"/>
                  </a:ext>
                </a:extLst>
              </a:tr>
              <a:tr h="169015">
                <a:tc>
                  <a:txBody>
                    <a:bodyPr/>
                    <a:lstStyle/>
                    <a:p>
                      <a:pPr>
                        <a:buNone/>
                      </a:pPr>
                      <a:r>
                        <a:rPr lang="en-US" sz="1000" dirty="0"/>
                        <a:t>LIAR</a:t>
                      </a:r>
                      <a:endParaRPr lang="en-US" sz="1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BiLSTM</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0.50</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0.25</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0.50</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0.33</a:t>
                      </a:r>
                      <a:endParaRPr lang="en-US" sz="1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79233361"/>
                  </a:ext>
                </a:extLst>
              </a:tr>
              <a:tr h="191472">
                <a:tc>
                  <a:txBody>
                    <a:bodyPr/>
                    <a:lstStyle/>
                    <a:p>
                      <a:pPr>
                        <a:buNone/>
                      </a:pPr>
                      <a:r>
                        <a:rPr lang="en-US" sz="1000"/>
                        <a:t>LIAR</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BERT</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0.95</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0.95</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0.95</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dirty="0"/>
                        <a:t>0.95</a:t>
                      </a:r>
                      <a:endParaRPr lang="en-US" sz="1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67418994"/>
                  </a:ext>
                </a:extLst>
              </a:tr>
              <a:tr h="326652">
                <a:tc>
                  <a:txBody>
                    <a:bodyPr/>
                    <a:lstStyle/>
                    <a:p>
                      <a:pPr>
                        <a:buNone/>
                      </a:pPr>
                      <a:r>
                        <a:rPr lang="en-US" sz="1000" dirty="0"/>
                        <a:t>LIAR</a:t>
                      </a:r>
                      <a:endParaRPr lang="en-US" sz="1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000" dirty="0"/>
                        <a:t>BERT + </a:t>
                      </a:r>
                      <a:r>
                        <a:rPr lang="en-US" sz="1000" dirty="0" err="1"/>
                        <a:t>BiLSTM</a:t>
                      </a:r>
                      <a:endParaRPr lang="en-US" sz="1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0.95</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0.95</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0.95</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0.95</a:t>
                      </a:r>
                      <a:endParaRPr lang="en-US" sz="1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17198505"/>
                  </a:ext>
                </a:extLst>
              </a:tr>
              <a:tr h="211933">
                <a:tc>
                  <a:txBody>
                    <a:bodyPr/>
                    <a:lstStyle/>
                    <a:p>
                      <a:pPr>
                        <a:buNone/>
                      </a:pPr>
                      <a:r>
                        <a:rPr lang="en-US" sz="1000" dirty="0"/>
                        <a:t>ISOT</a:t>
                      </a:r>
                      <a:endParaRPr lang="en-US" sz="1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BiLSTM</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0.78</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0.76</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0.80</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0.78</a:t>
                      </a:r>
                      <a:endParaRPr lang="en-US" sz="1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10174160"/>
                  </a:ext>
                </a:extLst>
              </a:tr>
              <a:tr h="247651">
                <a:tc>
                  <a:txBody>
                    <a:bodyPr/>
                    <a:lstStyle/>
                    <a:p>
                      <a:pPr>
                        <a:buNone/>
                      </a:pPr>
                      <a:r>
                        <a:rPr lang="en-US" sz="1000"/>
                        <a:t>ISOT</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BERT</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0.96</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0.96</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0.95</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0.95</a:t>
                      </a:r>
                      <a:endParaRPr lang="en-US" sz="1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935416406"/>
                  </a:ext>
                </a:extLst>
              </a:tr>
              <a:tr h="229001">
                <a:tc>
                  <a:txBody>
                    <a:bodyPr/>
                    <a:lstStyle/>
                    <a:p>
                      <a:pPr>
                        <a:buNone/>
                      </a:pPr>
                      <a:r>
                        <a:rPr lang="en-US" sz="1000"/>
                        <a:t>ISOT</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BERT + BiLSTM</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dirty="0"/>
                        <a:t>0.96</a:t>
                      </a:r>
                      <a:endParaRPr lang="en-US" sz="1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0.95</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a:t>0.96</a:t>
                      </a:r>
                      <a:endParaRPr lang="en-US" sz="1000">
                        <a:latin typeface="Times New Roman" panose="02020603050405020304" pitchFamily="18" charset="0"/>
                        <a:cs typeface="Times New Roman" panose="02020603050405020304" pitchFamily="18" charset="0"/>
                      </a:endParaRPr>
                    </a:p>
                  </a:txBody>
                  <a:tcPr anchor="ctr"/>
                </a:tc>
                <a:tc>
                  <a:txBody>
                    <a:bodyPr/>
                    <a:lstStyle/>
                    <a:p>
                      <a:pPr>
                        <a:buNone/>
                      </a:pPr>
                      <a:r>
                        <a:rPr lang="en-US" sz="1000" dirty="0"/>
                        <a:t>0.95</a:t>
                      </a:r>
                      <a:endParaRPr lang="en-US" sz="1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82442277"/>
                  </a:ext>
                </a:extLst>
              </a:tr>
            </a:tbl>
          </a:graphicData>
        </a:graphic>
      </p:graphicFrame>
      <p:sp>
        <p:nvSpPr>
          <p:cNvPr id="7" name="TextBox 6">
            <a:extLst>
              <a:ext uri="{FF2B5EF4-FFF2-40B4-BE49-F238E27FC236}">
                <a16:creationId xmlns:a16="http://schemas.microsoft.com/office/drawing/2014/main" id="{D081868D-B296-067B-260D-037C15C50C2E}"/>
              </a:ext>
            </a:extLst>
          </p:cNvPr>
          <p:cNvSpPr txBox="1"/>
          <p:nvPr/>
        </p:nvSpPr>
        <p:spPr>
          <a:xfrm>
            <a:off x="2936874" y="1101792"/>
            <a:ext cx="6315075" cy="307777"/>
          </a:xfrm>
          <a:prstGeom prst="rect">
            <a:avLst/>
          </a:prstGeom>
          <a:noFill/>
        </p:spPr>
        <p:txBody>
          <a:bodyPr wrap="square" rtlCol="0">
            <a:spAutoFit/>
          </a:bodyPr>
          <a:lstStyle/>
          <a:p>
            <a:r>
              <a:rPr lang="en-US" sz="1400" b="1" i="1" dirty="0">
                <a:latin typeface="Times New Roman" panose="02020603050405020304" pitchFamily="18" charset="0"/>
                <a:cs typeface="Times New Roman" panose="02020603050405020304" pitchFamily="18" charset="0"/>
              </a:rPr>
              <a:t>Table: performance comparison of fake news detection models using </a:t>
            </a:r>
            <a:r>
              <a:rPr lang="en-US" sz="1400" b="1" i="1" dirty="0" err="1">
                <a:latin typeface="Times New Roman" panose="02020603050405020304" pitchFamily="18" charset="0"/>
                <a:cs typeface="Times New Roman" panose="02020603050405020304" pitchFamily="18" charset="0"/>
              </a:rPr>
              <a:t>kaggle</a:t>
            </a:r>
            <a:r>
              <a:rPr lang="en-US" sz="1400" b="1" i="1" dirty="0">
                <a:latin typeface="Times New Roman" panose="02020603050405020304" pitchFamily="18" charset="0"/>
                <a:cs typeface="Times New Roman" panose="02020603050405020304" pitchFamily="18" charset="0"/>
              </a:rPr>
              <a:t> </a:t>
            </a:r>
            <a:r>
              <a:rPr lang="en-US" sz="1400" b="1" i="1" dirty="0" err="1">
                <a:latin typeface="Times New Roman" panose="02020603050405020304" pitchFamily="18" charset="0"/>
                <a:cs typeface="Times New Roman" panose="02020603050405020304" pitchFamily="18" charset="0"/>
              </a:rPr>
              <a:t>detaset</a:t>
            </a:r>
            <a:endParaRPr lang="en-US" sz="1400" b="1" i="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0C365A6-F199-0F03-4E4C-CDCABCF74190}"/>
              </a:ext>
            </a:extLst>
          </p:cNvPr>
          <p:cNvSpPr txBox="1"/>
          <p:nvPr/>
        </p:nvSpPr>
        <p:spPr>
          <a:xfrm>
            <a:off x="4017962" y="3626049"/>
            <a:ext cx="4152900" cy="307777"/>
          </a:xfrm>
          <a:prstGeom prst="rect">
            <a:avLst/>
          </a:prstGeom>
          <a:noFill/>
        </p:spPr>
        <p:txBody>
          <a:bodyPr wrap="square">
            <a:spAutoFit/>
          </a:bodyPr>
          <a:lstStyle/>
          <a:p>
            <a:r>
              <a:rPr lang="en-US" sz="1400" b="1" i="1" dirty="0"/>
              <a:t>Table: performance comparison in different dataset</a:t>
            </a:r>
          </a:p>
        </p:txBody>
      </p:sp>
    </p:spTree>
    <p:extLst>
      <p:ext uri="{BB962C8B-B14F-4D97-AF65-F5344CB8AC3E}">
        <p14:creationId xmlns:p14="http://schemas.microsoft.com/office/powerpoint/2010/main" val="1360406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1CA0E3-0854-E78E-42C8-67BF8D888812}"/>
              </a:ext>
            </a:extLst>
          </p:cNvPr>
          <p:cNvPicPr>
            <a:picLocks noChangeAspect="1"/>
          </p:cNvPicPr>
          <p:nvPr/>
        </p:nvPicPr>
        <p:blipFill>
          <a:blip r:embed="rId2"/>
          <a:stretch>
            <a:fillRect/>
          </a:stretch>
        </p:blipFill>
        <p:spPr>
          <a:xfrm>
            <a:off x="808177" y="838225"/>
            <a:ext cx="4762219" cy="4459460"/>
          </a:xfrm>
          <a:prstGeom prst="rect">
            <a:avLst/>
          </a:prstGeom>
        </p:spPr>
      </p:pic>
      <p:sp>
        <p:nvSpPr>
          <p:cNvPr id="5" name="TextBox 4">
            <a:extLst>
              <a:ext uri="{FF2B5EF4-FFF2-40B4-BE49-F238E27FC236}">
                <a16:creationId xmlns:a16="http://schemas.microsoft.com/office/drawing/2014/main" id="{5C26053F-C90D-C31D-0784-D7E71E194F93}"/>
              </a:ext>
            </a:extLst>
          </p:cNvPr>
          <p:cNvSpPr txBox="1"/>
          <p:nvPr/>
        </p:nvSpPr>
        <p:spPr>
          <a:xfrm>
            <a:off x="808176" y="5407198"/>
            <a:ext cx="4762219" cy="261610"/>
          </a:xfrm>
          <a:prstGeom prst="rect">
            <a:avLst/>
          </a:prstGeom>
          <a:noFill/>
        </p:spPr>
        <p:txBody>
          <a:bodyPr wrap="square">
            <a:spAutoFit/>
          </a:bodyPr>
          <a:lstStyle/>
          <a:p>
            <a:r>
              <a:rPr lang="en-US" sz="1100" b="1" i="1" dirty="0">
                <a:latin typeface="Times New Roman" panose="02020603050405020304" pitchFamily="18" charset="0"/>
                <a:cs typeface="Times New Roman" panose="02020603050405020304" pitchFamily="18" charset="0"/>
              </a:rPr>
              <a:t>Fig: confusion matrix for </a:t>
            </a:r>
            <a:r>
              <a:rPr lang="en-US" sz="1100" b="1" i="1" dirty="0" err="1">
                <a:latin typeface="Times New Roman" panose="02020603050405020304" pitchFamily="18" charset="0"/>
                <a:cs typeface="Times New Roman" panose="02020603050405020304" pitchFamily="18" charset="0"/>
              </a:rPr>
              <a:t>bert</a:t>
            </a:r>
            <a:r>
              <a:rPr lang="en-US" sz="1100" b="1" i="1" dirty="0">
                <a:latin typeface="Times New Roman" panose="02020603050405020304" pitchFamily="18" charset="0"/>
                <a:cs typeface="Times New Roman" panose="02020603050405020304" pitchFamily="18" charset="0"/>
              </a:rPr>
              <a:t>, </a:t>
            </a:r>
            <a:r>
              <a:rPr lang="en-US" sz="1100" b="1" i="1" dirty="0" err="1">
                <a:latin typeface="Times New Roman" panose="02020603050405020304" pitchFamily="18" charset="0"/>
                <a:cs typeface="Times New Roman" panose="02020603050405020304" pitchFamily="18" charset="0"/>
              </a:rPr>
              <a:t>bilstm</a:t>
            </a:r>
            <a:r>
              <a:rPr lang="en-US" sz="1100" b="1" i="1" dirty="0">
                <a:latin typeface="Times New Roman" panose="02020603050405020304" pitchFamily="18" charset="0"/>
                <a:cs typeface="Times New Roman" panose="02020603050405020304" pitchFamily="18" charset="0"/>
              </a:rPr>
              <a:t> and </a:t>
            </a:r>
            <a:r>
              <a:rPr lang="en-US" sz="1100" b="1" i="1" dirty="0" err="1">
                <a:latin typeface="Times New Roman" panose="02020603050405020304" pitchFamily="18" charset="0"/>
                <a:cs typeface="Times New Roman" panose="02020603050405020304" pitchFamily="18" charset="0"/>
              </a:rPr>
              <a:t>bert+bilstm</a:t>
            </a:r>
            <a:r>
              <a:rPr lang="en-US" sz="1100" b="1" i="1" dirty="0">
                <a:latin typeface="Times New Roman" panose="02020603050405020304" pitchFamily="18" charset="0"/>
                <a:cs typeface="Times New Roman" panose="02020603050405020304" pitchFamily="18" charset="0"/>
              </a:rPr>
              <a:t> model for all </a:t>
            </a:r>
            <a:r>
              <a:rPr lang="en-US" sz="1100" b="1" i="1" dirty="0" err="1">
                <a:latin typeface="Times New Roman" panose="02020603050405020304" pitchFamily="18" charset="0"/>
                <a:cs typeface="Times New Roman" panose="02020603050405020304" pitchFamily="18" charset="0"/>
              </a:rPr>
              <a:t>thedatasets</a:t>
            </a:r>
            <a:endParaRPr lang="en-US" sz="1100" b="1" i="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E9CDDC0-B796-02CE-1C2C-0E437A451659}"/>
              </a:ext>
            </a:extLst>
          </p:cNvPr>
          <p:cNvSpPr txBox="1"/>
          <p:nvPr/>
        </p:nvSpPr>
        <p:spPr>
          <a:xfrm>
            <a:off x="5743576" y="2183190"/>
            <a:ext cx="5637072" cy="2031325"/>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confusion matrix highlights the performance of the classification model by comparing the predicted class values with the actual values. Four elements make up the matrix: TP, TN, FP, and FN. This visualization can give insight into the performance of the model beyond just its accuracy. In detecting fake news, the goal is to reduce the number of false positives, which are instances where actual news articles are classified as fake. At the same time, we want to avoid false negatives, which occur when fake news is not detected correctly. Confusion Matrix for BERT, </a:t>
            </a:r>
            <a:r>
              <a:rPr lang="en-US" sz="1400" dirty="0" err="1">
                <a:latin typeface="Times New Roman" panose="02020603050405020304" pitchFamily="18" charset="0"/>
                <a:cs typeface="Times New Roman" panose="02020603050405020304" pitchFamily="18" charset="0"/>
              </a:rPr>
              <a:t>BiLSTM</a:t>
            </a:r>
            <a:r>
              <a:rPr lang="en-US" sz="1400" dirty="0">
                <a:latin typeface="Times New Roman" panose="02020603050405020304" pitchFamily="18" charset="0"/>
                <a:cs typeface="Times New Roman" panose="02020603050405020304" pitchFamily="18" charset="0"/>
              </a:rPr>
              <a:t> and </a:t>
            </a:r>
            <a:r>
              <a:rPr lang="en-US" sz="1400" dirty="0" err="1">
                <a:latin typeface="Times New Roman" panose="02020603050405020304" pitchFamily="18" charset="0"/>
                <a:cs typeface="Times New Roman" panose="02020603050405020304" pitchFamily="18" charset="0"/>
              </a:rPr>
              <a:t>BERT+BiLSTM</a:t>
            </a:r>
            <a:r>
              <a:rPr lang="en-US" sz="1400" dirty="0">
                <a:latin typeface="Times New Roman" panose="02020603050405020304" pitchFamily="18" charset="0"/>
                <a:cs typeface="Times New Roman" panose="02020603050405020304" pitchFamily="18" charset="0"/>
              </a:rPr>
              <a:t> Model for all </a:t>
            </a:r>
            <a:r>
              <a:rPr lang="en-US" sz="1400" dirty="0" err="1">
                <a:latin typeface="Times New Roman" panose="02020603050405020304" pitchFamily="18" charset="0"/>
                <a:cs typeface="Times New Roman" panose="02020603050405020304" pitchFamily="18" charset="0"/>
              </a:rPr>
              <a:t>thedataset</a:t>
            </a:r>
            <a:r>
              <a:rPr lang="en-US" sz="1400" dirty="0">
                <a:latin typeface="Times New Roman" panose="02020603050405020304" pitchFamily="18" charset="0"/>
                <a:cs typeface="Times New Roman" panose="02020603050405020304" pitchFamily="18" charset="0"/>
              </a:rPr>
              <a:t> is shown in Fig. 2</a:t>
            </a:r>
          </a:p>
        </p:txBody>
      </p:sp>
      <p:sp>
        <p:nvSpPr>
          <p:cNvPr id="8" name="TextBox 7">
            <a:extLst>
              <a:ext uri="{FF2B5EF4-FFF2-40B4-BE49-F238E27FC236}">
                <a16:creationId xmlns:a16="http://schemas.microsoft.com/office/drawing/2014/main" id="{626D62E8-E32B-AAD2-A45F-AB1B2E8C0DC4}"/>
              </a:ext>
            </a:extLst>
          </p:cNvPr>
          <p:cNvSpPr txBox="1"/>
          <p:nvPr/>
        </p:nvSpPr>
        <p:spPr>
          <a:xfrm>
            <a:off x="7276086" y="1609725"/>
            <a:ext cx="2572051" cy="369332"/>
          </a:xfrm>
          <a:prstGeom prst="rect">
            <a:avLst/>
          </a:prstGeom>
          <a:noFill/>
        </p:spPr>
        <p:txBody>
          <a:bodyPr wrap="none" rtlCol="0">
            <a:spAutoFit/>
          </a:bodyPr>
          <a:lstStyle/>
          <a:p>
            <a:r>
              <a:rPr lang="en-US" b="1" u="sng" dirty="0">
                <a:latin typeface="Times New Roman" panose="02020603050405020304" pitchFamily="18" charset="0"/>
                <a:cs typeface="Times New Roman" panose="02020603050405020304" pitchFamily="18" charset="0"/>
              </a:rPr>
              <a:t>CONFUSION MATRIX</a:t>
            </a:r>
          </a:p>
        </p:txBody>
      </p:sp>
    </p:spTree>
    <p:extLst>
      <p:ext uri="{BB962C8B-B14F-4D97-AF65-F5344CB8AC3E}">
        <p14:creationId xmlns:p14="http://schemas.microsoft.com/office/powerpoint/2010/main" val="3070478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E3991B-AEF0-7664-86E4-6B3C26685EA0}"/>
              </a:ext>
            </a:extLst>
          </p:cNvPr>
          <p:cNvSpPr txBox="1"/>
          <p:nvPr/>
        </p:nvSpPr>
        <p:spPr>
          <a:xfrm>
            <a:off x="1047750" y="3914775"/>
            <a:ext cx="10420350" cy="1384995"/>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ROC curve helps assess the performance of the model in </a:t>
            </a:r>
            <a:r>
              <a:rPr lang="en-US" sz="1400" dirty="0" err="1">
                <a:latin typeface="Times New Roman" panose="02020603050405020304" pitchFamily="18" charset="0"/>
                <a:cs typeface="Times New Roman" panose="02020603050405020304" pitchFamily="18" charset="0"/>
              </a:rPr>
              <a:t>classifyingthe</a:t>
            </a:r>
            <a:r>
              <a:rPr lang="en-US" sz="1400" dirty="0">
                <a:latin typeface="Times New Roman" panose="02020603050405020304" pitchFamily="18" charset="0"/>
                <a:cs typeface="Times New Roman" panose="02020603050405020304" pitchFamily="18" charset="0"/>
              </a:rPr>
              <a:t> difference between true and false news by considering various </a:t>
            </a:r>
            <a:r>
              <a:rPr lang="en-US" sz="1400" dirty="0" err="1">
                <a:latin typeface="Times New Roman" panose="02020603050405020304" pitchFamily="18" charset="0"/>
                <a:cs typeface="Times New Roman" panose="02020603050405020304" pitchFamily="18" charset="0"/>
              </a:rPr>
              <a:t>classificationthreshold</a:t>
            </a:r>
            <a:r>
              <a:rPr lang="en-US" sz="1400" dirty="0">
                <a:latin typeface="Times New Roman" panose="02020603050405020304" pitchFamily="18" charset="0"/>
                <a:cs typeface="Times New Roman" panose="02020603050405020304" pitchFamily="18" charset="0"/>
              </a:rPr>
              <a:t> values. The plot of True Positive Rate (sensitivity) versus the </a:t>
            </a:r>
            <a:r>
              <a:rPr lang="en-US" sz="1400" dirty="0" err="1">
                <a:latin typeface="Times New Roman" panose="02020603050405020304" pitchFamily="18" charset="0"/>
                <a:cs typeface="Times New Roman" panose="02020603050405020304" pitchFamily="18" charset="0"/>
              </a:rPr>
              <a:t>FalsePositive</a:t>
            </a:r>
            <a:r>
              <a:rPr lang="en-US" sz="1400" dirty="0">
                <a:latin typeface="Times New Roman" panose="02020603050405020304" pitchFamily="18" charset="0"/>
                <a:cs typeface="Times New Roman" panose="02020603050405020304" pitchFamily="18" charset="0"/>
              </a:rPr>
              <a:t> Rate is the plot of ROC curve. The more the curve lies near to the </a:t>
            </a:r>
            <a:r>
              <a:rPr lang="en-US" sz="1400" dirty="0" err="1">
                <a:latin typeface="Times New Roman" panose="02020603050405020304" pitchFamily="18" charset="0"/>
                <a:cs typeface="Times New Roman" panose="02020603050405020304" pitchFamily="18" charset="0"/>
              </a:rPr>
              <a:t>topleft</a:t>
            </a:r>
            <a:r>
              <a:rPr lang="en-US" sz="1400" dirty="0">
                <a:latin typeface="Times New Roman" panose="02020603050405020304" pitchFamily="18" charset="0"/>
                <a:cs typeface="Times New Roman" panose="02020603050405020304" pitchFamily="18" charset="0"/>
              </a:rPr>
              <a:t> of the plot, the better the performance of the model. The area under </a:t>
            </a:r>
            <a:r>
              <a:rPr lang="en-US" sz="1400" dirty="0" err="1">
                <a:latin typeface="Times New Roman" panose="02020603050405020304" pitchFamily="18" charset="0"/>
                <a:cs typeface="Times New Roman" panose="02020603050405020304" pitchFamily="18" charset="0"/>
              </a:rPr>
              <a:t>thecurve</a:t>
            </a:r>
            <a:r>
              <a:rPr lang="en-US" sz="1400" dirty="0">
                <a:latin typeface="Times New Roman" panose="02020603050405020304" pitchFamily="18" charset="0"/>
                <a:cs typeface="Times New Roman" panose="02020603050405020304" pitchFamily="18" charset="0"/>
              </a:rPr>
              <a:t> (AUC) gives us a measure of the model’s discrimination ability in a </a:t>
            </a:r>
            <a:r>
              <a:rPr lang="en-US" sz="1400" dirty="0" err="1">
                <a:latin typeface="Times New Roman" panose="02020603050405020304" pitchFamily="18" charset="0"/>
                <a:cs typeface="Times New Roman" panose="02020603050405020304" pitchFamily="18" charset="0"/>
              </a:rPr>
              <a:t>singlescalar</a:t>
            </a:r>
            <a:r>
              <a:rPr lang="en-US" sz="1400" dirty="0">
                <a:latin typeface="Times New Roman" panose="02020603050405020304" pitchFamily="18" charset="0"/>
                <a:cs typeface="Times New Roman" panose="02020603050405020304" pitchFamily="18" charset="0"/>
              </a:rPr>
              <a:t> quantity. Values of AUC near 1.0 denote a very good classification </a:t>
            </a:r>
            <a:r>
              <a:rPr lang="en-US" sz="1400" dirty="0" err="1">
                <a:latin typeface="Times New Roman" panose="02020603050405020304" pitchFamily="18" charset="0"/>
                <a:cs typeface="Times New Roman" panose="02020603050405020304" pitchFamily="18" charset="0"/>
              </a:rPr>
              <a:t>model,whereas</a:t>
            </a:r>
            <a:r>
              <a:rPr lang="en-US" sz="1400" dirty="0">
                <a:latin typeface="Times New Roman" panose="02020603050405020304" pitchFamily="18" charset="0"/>
                <a:cs typeface="Times New Roman" panose="02020603050405020304" pitchFamily="18" charset="0"/>
              </a:rPr>
              <a:t> 0.5 indicates a random classifier. Higher values of AUC for BERT </a:t>
            </a:r>
            <a:r>
              <a:rPr lang="en-US" sz="1400" dirty="0" err="1">
                <a:latin typeface="Times New Roman" panose="02020603050405020304" pitchFamily="18" charset="0"/>
                <a:cs typeface="Times New Roman" panose="02020603050405020304" pitchFamily="18" charset="0"/>
              </a:rPr>
              <a:t>basedmodels</a:t>
            </a:r>
            <a:r>
              <a:rPr lang="en-US" sz="1400" dirty="0">
                <a:latin typeface="Times New Roman" panose="02020603050405020304" pitchFamily="18" charset="0"/>
                <a:cs typeface="Times New Roman" panose="02020603050405020304" pitchFamily="18" charset="0"/>
              </a:rPr>
              <a:t> show that BERT models perform better in discriminating between </a:t>
            </a:r>
            <a:r>
              <a:rPr lang="en-US" sz="1400" dirty="0" err="1">
                <a:latin typeface="Times New Roman" panose="02020603050405020304" pitchFamily="18" charset="0"/>
                <a:cs typeface="Times New Roman" panose="02020603050405020304" pitchFamily="18" charset="0"/>
              </a:rPr>
              <a:t>trueand</a:t>
            </a:r>
            <a:r>
              <a:rPr lang="en-US" sz="1400" dirty="0">
                <a:latin typeface="Times New Roman" panose="02020603050405020304" pitchFamily="18" charset="0"/>
                <a:cs typeface="Times New Roman" panose="02020603050405020304" pitchFamily="18" charset="0"/>
              </a:rPr>
              <a:t> false news. ROC Curves for BERT, </a:t>
            </a:r>
            <a:r>
              <a:rPr lang="en-US" sz="1400" dirty="0" err="1">
                <a:latin typeface="Times New Roman" panose="02020603050405020304" pitchFamily="18" charset="0"/>
                <a:cs typeface="Times New Roman" panose="02020603050405020304" pitchFamily="18" charset="0"/>
              </a:rPr>
              <a:t>BiLSTM</a:t>
            </a:r>
            <a:r>
              <a:rPr lang="en-US" sz="1400" dirty="0">
                <a:latin typeface="Times New Roman" panose="02020603050405020304" pitchFamily="18" charset="0"/>
                <a:cs typeface="Times New Roman" panose="02020603050405020304" pitchFamily="18" charset="0"/>
              </a:rPr>
              <a:t> and </a:t>
            </a:r>
            <a:r>
              <a:rPr lang="en-US" sz="1400" dirty="0" err="1">
                <a:latin typeface="Times New Roman" panose="02020603050405020304" pitchFamily="18" charset="0"/>
                <a:cs typeface="Times New Roman" panose="02020603050405020304" pitchFamily="18" charset="0"/>
              </a:rPr>
              <a:t>BERT+BiLSTM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Modelfor</a:t>
            </a:r>
            <a:r>
              <a:rPr lang="en-US" sz="1400" dirty="0">
                <a:latin typeface="Times New Roman" panose="02020603050405020304" pitchFamily="18" charset="0"/>
                <a:cs typeface="Times New Roman" panose="02020603050405020304" pitchFamily="18" charset="0"/>
              </a:rPr>
              <a:t> all the datasets is shown in Fig. 3.</a:t>
            </a:r>
          </a:p>
        </p:txBody>
      </p:sp>
      <p:pic>
        <p:nvPicPr>
          <p:cNvPr id="5" name="Picture 4">
            <a:extLst>
              <a:ext uri="{FF2B5EF4-FFF2-40B4-BE49-F238E27FC236}">
                <a16:creationId xmlns:a16="http://schemas.microsoft.com/office/drawing/2014/main" id="{00B9F621-BA32-C9E6-2711-93618588DC8F}"/>
              </a:ext>
            </a:extLst>
          </p:cNvPr>
          <p:cNvPicPr>
            <a:picLocks noChangeAspect="1"/>
          </p:cNvPicPr>
          <p:nvPr/>
        </p:nvPicPr>
        <p:blipFill>
          <a:blip r:embed="rId2"/>
          <a:stretch>
            <a:fillRect/>
          </a:stretch>
        </p:blipFill>
        <p:spPr>
          <a:xfrm>
            <a:off x="1777630" y="1057274"/>
            <a:ext cx="8633563" cy="2234680"/>
          </a:xfrm>
          <a:prstGeom prst="rect">
            <a:avLst/>
          </a:prstGeom>
        </p:spPr>
      </p:pic>
      <p:sp>
        <p:nvSpPr>
          <p:cNvPr id="7" name="TextBox 6">
            <a:extLst>
              <a:ext uri="{FF2B5EF4-FFF2-40B4-BE49-F238E27FC236}">
                <a16:creationId xmlns:a16="http://schemas.microsoft.com/office/drawing/2014/main" id="{EDBA7441-5D25-F7FD-E690-B0F1FE29E3D0}"/>
              </a:ext>
            </a:extLst>
          </p:cNvPr>
          <p:cNvSpPr txBox="1"/>
          <p:nvPr/>
        </p:nvSpPr>
        <p:spPr>
          <a:xfrm>
            <a:off x="2462212" y="3449476"/>
            <a:ext cx="7591425"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Fig. 3. ROC Curves for BERT, </a:t>
            </a:r>
            <a:r>
              <a:rPr lang="en-US" sz="1400" dirty="0" err="1">
                <a:latin typeface="Times New Roman" panose="02020603050405020304" pitchFamily="18" charset="0"/>
                <a:cs typeface="Times New Roman" panose="02020603050405020304" pitchFamily="18" charset="0"/>
              </a:rPr>
              <a:t>BiLSTM</a:t>
            </a:r>
            <a:r>
              <a:rPr lang="en-US" sz="1400" dirty="0">
                <a:latin typeface="Times New Roman" panose="02020603050405020304" pitchFamily="18" charset="0"/>
                <a:cs typeface="Times New Roman" panose="02020603050405020304" pitchFamily="18" charset="0"/>
              </a:rPr>
              <a:t> and </a:t>
            </a:r>
            <a:r>
              <a:rPr lang="en-US" sz="1400" dirty="0" err="1">
                <a:latin typeface="Times New Roman" panose="02020603050405020304" pitchFamily="18" charset="0"/>
                <a:cs typeface="Times New Roman" panose="02020603050405020304" pitchFamily="18" charset="0"/>
              </a:rPr>
              <a:t>BERT+BiLSTM</a:t>
            </a:r>
            <a:r>
              <a:rPr lang="en-US" sz="1400" dirty="0">
                <a:latin typeface="Times New Roman" panose="02020603050405020304" pitchFamily="18" charset="0"/>
                <a:cs typeface="Times New Roman" panose="02020603050405020304" pitchFamily="18" charset="0"/>
              </a:rPr>
              <a:t> Model for all </a:t>
            </a:r>
            <a:r>
              <a:rPr lang="en-US" sz="1400" dirty="0" err="1">
                <a:latin typeface="Times New Roman" panose="02020603050405020304" pitchFamily="18" charset="0"/>
                <a:cs typeface="Times New Roman" panose="02020603050405020304" pitchFamily="18" charset="0"/>
              </a:rPr>
              <a:t>thedatasets</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7628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733D25-31B6-7FFD-4BEA-4062F45A422D}"/>
              </a:ext>
            </a:extLst>
          </p:cNvPr>
          <p:cNvPicPr>
            <a:picLocks noChangeAspect="1"/>
          </p:cNvPicPr>
          <p:nvPr/>
        </p:nvPicPr>
        <p:blipFill>
          <a:blip r:embed="rId2"/>
          <a:stretch>
            <a:fillRect/>
          </a:stretch>
        </p:blipFill>
        <p:spPr>
          <a:xfrm>
            <a:off x="3853338" y="996842"/>
            <a:ext cx="4482148" cy="2984608"/>
          </a:xfrm>
          <a:prstGeom prst="rect">
            <a:avLst/>
          </a:prstGeom>
        </p:spPr>
      </p:pic>
      <p:sp>
        <p:nvSpPr>
          <p:cNvPr id="3" name="TextBox 2">
            <a:extLst>
              <a:ext uri="{FF2B5EF4-FFF2-40B4-BE49-F238E27FC236}">
                <a16:creationId xmlns:a16="http://schemas.microsoft.com/office/drawing/2014/main" id="{55BA9F16-8F63-828F-B9FB-F0E0DC29ADD4}"/>
              </a:ext>
            </a:extLst>
          </p:cNvPr>
          <p:cNvSpPr txBox="1"/>
          <p:nvPr/>
        </p:nvSpPr>
        <p:spPr>
          <a:xfrm>
            <a:off x="760412" y="4150489"/>
            <a:ext cx="10668000" cy="1169551"/>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In general, transformer-based models have been shown to produce </a:t>
            </a:r>
            <a:r>
              <a:rPr lang="en-US" sz="1400" dirty="0" err="1">
                <a:latin typeface="Times New Roman" panose="02020603050405020304" pitchFamily="18" charset="0"/>
                <a:cs typeface="Times New Roman" panose="02020603050405020304" pitchFamily="18" charset="0"/>
              </a:rPr>
              <a:t>stableresults</a:t>
            </a:r>
            <a:r>
              <a:rPr lang="en-US" sz="1400" dirty="0">
                <a:latin typeface="Times New Roman" panose="02020603050405020304" pitchFamily="18" charset="0"/>
                <a:cs typeface="Times New Roman" panose="02020603050405020304" pitchFamily="18" charset="0"/>
              </a:rPr>
              <a:t> in terms of fake news detection. Therefore, the implementation of </a:t>
            </a:r>
            <a:r>
              <a:rPr lang="en-US" sz="1400" dirty="0" err="1">
                <a:latin typeface="Times New Roman" panose="02020603050405020304" pitchFamily="18" charset="0"/>
                <a:cs typeface="Times New Roman" panose="02020603050405020304" pitchFamily="18" charset="0"/>
              </a:rPr>
              <a:t>themodel</a:t>
            </a:r>
            <a:r>
              <a:rPr lang="en-US" sz="1400" dirty="0">
                <a:latin typeface="Times New Roman" panose="02020603050405020304" pitchFamily="18" charset="0"/>
                <a:cs typeface="Times New Roman" panose="02020603050405020304" pitchFamily="18" charset="0"/>
              </a:rPr>
              <a:t> is best suited for using BERT alone, since it gives high-level </a:t>
            </a:r>
            <a:r>
              <a:rPr lang="en-US" sz="1400" dirty="0" err="1">
                <a:latin typeface="Times New Roman" panose="02020603050405020304" pitchFamily="18" charset="0"/>
                <a:cs typeface="Times New Roman" panose="02020603050405020304" pitchFamily="18" charset="0"/>
              </a:rPr>
              <a:t>performancewithout</a:t>
            </a:r>
            <a:r>
              <a:rPr lang="en-US" sz="1400" dirty="0">
                <a:latin typeface="Times New Roman" panose="02020603050405020304" pitchFamily="18" charset="0"/>
                <a:cs typeface="Times New Roman" panose="02020603050405020304" pitchFamily="18" charset="0"/>
              </a:rPr>
              <a:t> added </a:t>
            </a:r>
            <a:r>
              <a:rPr lang="en-US" sz="1400" dirty="0" err="1">
                <a:latin typeface="Times New Roman" panose="02020603050405020304" pitchFamily="18" charset="0"/>
                <a:cs typeface="Times New Roman" panose="02020603050405020304" pitchFamily="18" charset="0"/>
              </a:rPr>
              <a:t>complexity.Although</a:t>
            </a:r>
            <a:r>
              <a:rPr lang="en-US" sz="1400" dirty="0">
                <a:latin typeface="Times New Roman" panose="02020603050405020304" pitchFamily="18" charset="0"/>
                <a:cs typeface="Times New Roman" panose="02020603050405020304" pitchFamily="18" charset="0"/>
              </a:rPr>
              <a:t> the use of LLMs and XAI techniques are not included in the </a:t>
            </a:r>
            <a:r>
              <a:rPr lang="en-US" sz="1400" dirty="0" err="1">
                <a:latin typeface="Times New Roman" panose="02020603050405020304" pitchFamily="18" charset="0"/>
                <a:cs typeface="Times New Roman" panose="02020603050405020304" pitchFamily="18" charset="0"/>
              </a:rPr>
              <a:t>systemdesign</a:t>
            </a:r>
            <a:r>
              <a:rPr lang="en-US" sz="1400" dirty="0">
                <a:latin typeface="Times New Roman" panose="02020603050405020304" pitchFamily="18" charset="0"/>
                <a:cs typeface="Times New Roman" panose="02020603050405020304" pitchFamily="18" charset="0"/>
              </a:rPr>
              <a:t>, these are areas for consideration moving forward. Future </a:t>
            </a:r>
            <a:r>
              <a:rPr lang="en-US" sz="1400" dirty="0" err="1">
                <a:latin typeface="Times New Roman" panose="02020603050405020304" pitchFamily="18" charset="0"/>
                <a:cs typeface="Times New Roman" panose="02020603050405020304" pitchFamily="18" charset="0"/>
              </a:rPr>
              <a:t>developmentson</a:t>
            </a:r>
            <a:r>
              <a:rPr lang="en-US" sz="1400" dirty="0">
                <a:latin typeface="Times New Roman" panose="02020603050405020304" pitchFamily="18" charset="0"/>
                <a:cs typeface="Times New Roman" panose="02020603050405020304" pitchFamily="18" charset="0"/>
              </a:rPr>
              <a:t> this system will involve using LLM-based reasoning to aid decision-</a:t>
            </a:r>
            <a:r>
              <a:rPr lang="en-US" sz="1400" dirty="0" err="1">
                <a:latin typeface="Times New Roman" panose="02020603050405020304" pitchFamily="18" charset="0"/>
                <a:cs typeface="Times New Roman" panose="02020603050405020304" pitchFamily="18" charset="0"/>
              </a:rPr>
              <a:t>making,incorporating</a:t>
            </a:r>
            <a:r>
              <a:rPr lang="en-US" sz="1400" dirty="0">
                <a:latin typeface="Times New Roman" panose="02020603050405020304" pitchFamily="18" charset="0"/>
                <a:cs typeface="Times New Roman" panose="02020603050405020304" pitchFamily="18" charset="0"/>
              </a:rPr>
              <a:t> explainability, expanding to support multi-language and multi-modal data, as well as deploying it in a federated environment.</a:t>
            </a:r>
          </a:p>
        </p:txBody>
      </p:sp>
    </p:spTree>
    <p:extLst>
      <p:ext uri="{BB962C8B-B14F-4D97-AF65-F5344CB8AC3E}">
        <p14:creationId xmlns:p14="http://schemas.microsoft.com/office/powerpoint/2010/main" val="1496252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2B362F-7432-4EF7-F4E5-CBBF5C200A9D}"/>
              </a:ext>
            </a:extLst>
          </p:cNvPr>
          <p:cNvSpPr txBox="1"/>
          <p:nvPr/>
        </p:nvSpPr>
        <p:spPr>
          <a:xfrm>
            <a:off x="4989511" y="1482209"/>
            <a:ext cx="2209800" cy="400110"/>
          </a:xfrm>
          <a:prstGeom prst="rect">
            <a:avLst/>
          </a:prstGeom>
          <a:noFill/>
        </p:spPr>
        <p:txBody>
          <a:bodyPr wrap="square">
            <a:spAutoFit/>
          </a:bodyPr>
          <a:lstStyle/>
          <a:p>
            <a:r>
              <a:rPr lang="en-US" sz="2000" b="1" u="sng" dirty="0">
                <a:latin typeface="Times New Roman" panose="02020603050405020304" pitchFamily="18" charset="0"/>
                <a:cs typeface="Times New Roman" panose="02020603050405020304" pitchFamily="18" charset="0"/>
              </a:rPr>
              <a:t>FUTURE SCOPE</a:t>
            </a:r>
          </a:p>
        </p:txBody>
      </p:sp>
      <p:sp>
        <p:nvSpPr>
          <p:cNvPr id="5" name="TextBox 4">
            <a:extLst>
              <a:ext uri="{FF2B5EF4-FFF2-40B4-BE49-F238E27FC236}">
                <a16:creationId xmlns:a16="http://schemas.microsoft.com/office/drawing/2014/main" id="{BF3EF037-1AE3-E2D3-BFFF-B6657ED16E23}"/>
              </a:ext>
            </a:extLst>
          </p:cNvPr>
          <p:cNvSpPr txBox="1"/>
          <p:nvPr/>
        </p:nvSpPr>
        <p:spPr>
          <a:xfrm>
            <a:off x="869949" y="2068622"/>
            <a:ext cx="10448925" cy="2462213"/>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Future work would also investigate the incorporation of more advanced </a:t>
            </a:r>
            <a:r>
              <a:rPr lang="en-US" sz="1400" dirty="0" err="1">
                <a:latin typeface="Times New Roman" panose="02020603050405020304" pitchFamily="18" charset="0"/>
                <a:cs typeface="Times New Roman" panose="02020603050405020304" pitchFamily="18" charset="0"/>
              </a:rPr>
              <a:t>largelanguage</a:t>
            </a:r>
            <a:r>
              <a:rPr lang="en-US" sz="1400" dirty="0">
                <a:latin typeface="Times New Roman" panose="02020603050405020304" pitchFamily="18" charset="0"/>
                <a:cs typeface="Times New Roman" panose="02020603050405020304" pitchFamily="18" charset="0"/>
              </a:rPr>
              <a:t> models like GPT-4, </a:t>
            </a:r>
            <a:r>
              <a:rPr lang="en-US" sz="1400" dirty="0" err="1">
                <a:latin typeface="Times New Roman" panose="02020603050405020304" pitchFamily="18" charset="0"/>
                <a:cs typeface="Times New Roman" panose="02020603050405020304" pitchFamily="18" charset="0"/>
              </a:rPr>
              <a:t>LLaMA</a:t>
            </a:r>
            <a:r>
              <a:rPr lang="en-US" sz="1400" dirty="0">
                <a:latin typeface="Times New Roman" panose="02020603050405020304" pitchFamily="18" charset="0"/>
                <a:cs typeface="Times New Roman" panose="02020603050405020304" pitchFamily="18" charset="0"/>
              </a:rPr>
              <a:t> 2, Mistral, and Gemini in the pipeline </a:t>
            </a:r>
            <a:r>
              <a:rPr lang="en-US" sz="1400" dirty="0" err="1">
                <a:latin typeface="Times New Roman" panose="02020603050405020304" pitchFamily="18" charset="0"/>
                <a:cs typeface="Times New Roman" panose="02020603050405020304" pitchFamily="18" charset="0"/>
              </a:rPr>
              <a:t>fordetecting</a:t>
            </a:r>
            <a:r>
              <a:rPr lang="en-US" sz="1400" dirty="0">
                <a:latin typeface="Times New Roman" panose="02020603050405020304" pitchFamily="18" charset="0"/>
                <a:cs typeface="Times New Roman" panose="02020603050405020304" pitchFamily="18" charset="0"/>
              </a:rPr>
              <a:t> deception. The idea of using Retrieval-Augmented Generation (RAG)would allow the model to use verified databases such as Snopes, PolitiFact, </a:t>
            </a:r>
            <a:r>
              <a:rPr lang="en-US" sz="1400" dirty="0" err="1">
                <a:latin typeface="Times New Roman" panose="02020603050405020304" pitchFamily="18" charset="0"/>
                <a:cs typeface="Times New Roman" panose="02020603050405020304" pitchFamily="18" charset="0"/>
              </a:rPr>
              <a:t>andWikipedia</a:t>
            </a:r>
            <a:r>
              <a:rPr lang="en-US" sz="1400" dirty="0">
                <a:latin typeface="Times New Roman" panose="02020603050405020304" pitchFamily="18" charset="0"/>
                <a:cs typeface="Times New Roman" panose="02020603050405020304" pitchFamily="18" charset="0"/>
              </a:rPr>
              <a:t> to find evidence in real-time before classifying information into cate-</a:t>
            </a:r>
            <a:r>
              <a:rPr lang="en-US" sz="1400" dirty="0" err="1">
                <a:latin typeface="Times New Roman" panose="02020603050405020304" pitchFamily="18" charset="0"/>
                <a:cs typeface="Times New Roman" panose="02020603050405020304" pitchFamily="18" charset="0"/>
              </a:rPr>
              <a:t>gories</a:t>
            </a:r>
            <a:r>
              <a:rPr lang="en-US" sz="1400" dirty="0">
                <a:latin typeface="Times New Roman" panose="02020603050405020304" pitchFamily="18" charset="0"/>
                <a:cs typeface="Times New Roman" panose="02020603050405020304" pitchFamily="18" charset="0"/>
              </a:rPr>
              <a:t>. This would help increase the performance and reliability of the model incases where misinformation takes different complicated forms such as </a:t>
            </a:r>
            <a:r>
              <a:rPr lang="en-US" sz="1400" dirty="0" err="1">
                <a:latin typeface="Times New Roman" panose="02020603050405020304" pitchFamily="18" charset="0"/>
                <a:cs typeface="Times New Roman" panose="02020603050405020304" pitchFamily="18" charset="0"/>
              </a:rPr>
              <a:t>satires,propaganda</a:t>
            </a:r>
            <a:r>
              <a:rPr lang="en-US" sz="1400" dirty="0">
                <a:latin typeface="Times New Roman" panose="02020603050405020304" pitchFamily="18" charset="0"/>
                <a:cs typeface="Times New Roman" panose="02020603050405020304" pitchFamily="18" charset="0"/>
              </a:rPr>
              <a:t>, and contextual misinformation. The main limitation with </a:t>
            </a:r>
            <a:r>
              <a:rPr lang="en-US" sz="1400" dirty="0" err="1">
                <a:latin typeface="Times New Roman" panose="02020603050405020304" pitchFamily="18" charset="0"/>
                <a:cs typeface="Times New Roman" panose="02020603050405020304" pitchFamily="18" charset="0"/>
              </a:rPr>
              <a:t>deeplearning</a:t>
            </a:r>
            <a:r>
              <a:rPr lang="en-US" sz="1400" dirty="0">
                <a:latin typeface="Times New Roman" panose="02020603050405020304" pitchFamily="18" charset="0"/>
                <a:cs typeface="Times New Roman" panose="02020603050405020304" pitchFamily="18" charset="0"/>
              </a:rPr>
              <a:t>-based models is that they operate as black boxes, making it </a:t>
            </a:r>
            <a:r>
              <a:rPr lang="en-US" sz="1400" dirty="0" err="1">
                <a:latin typeface="Times New Roman" panose="02020603050405020304" pitchFamily="18" charset="0"/>
                <a:cs typeface="Times New Roman" panose="02020603050405020304" pitchFamily="18" charset="0"/>
              </a:rPr>
              <a:t>difficultfor</a:t>
            </a:r>
            <a:r>
              <a:rPr lang="en-US" sz="1400" dirty="0">
                <a:latin typeface="Times New Roman" panose="02020603050405020304" pitchFamily="18" charset="0"/>
                <a:cs typeface="Times New Roman" panose="02020603050405020304" pitchFamily="18" charset="0"/>
              </a:rPr>
              <a:t> users to understand why a certain decision was made by the model. In fu-</a:t>
            </a:r>
            <a:r>
              <a:rPr lang="en-US" sz="1400" dirty="0" err="1">
                <a:latin typeface="Times New Roman" panose="02020603050405020304" pitchFamily="18" charset="0"/>
                <a:cs typeface="Times New Roman" panose="02020603050405020304" pitchFamily="18" charset="0"/>
              </a:rPr>
              <a:t>ture</a:t>
            </a:r>
            <a:r>
              <a:rPr lang="en-US" sz="1400" dirty="0">
                <a:latin typeface="Times New Roman" panose="02020603050405020304" pitchFamily="18" charset="0"/>
                <a:cs typeface="Times New Roman" panose="02020603050405020304" pitchFamily="18" charset="0"/>
              </a:rPr>
              <a:t> work, incorporating </a:t>
            </a:r>
            <a:r>
              <a:rPr lang="en-US" sz="1400" dirty="0" err="1">
                <a:latin typeface="Times New Roman" panose="02020603050405020304" pitchFamily="18" charset="0"/>
                <a:cs typeface="Times New Roman" panose="02020603050405020304" pitchFamily="18" charset="0"/>
              </a:rPr>
              <a:t>eXplainable</a:t>
            </a:r>
            <a:r>
              <a:rPr lang="en-US" sz="1400" dirty="0">
                <a:latin typeface="Times New Roman" panose="02020603050405020304" pitchFamily="18" charset="0"/>
                <a:cs typeface="Times New Roman" panose="02020603050405020304" pitchFamily="18" charset="0"/>
              </a:rPr>
              <a:t> AI (XAI) approaches could be </a:t>
            </a:r>
            <a:r>
              <a:rPr lang="en-US" sz="1400" dirty="0" err="1">
                <a:latin typeface="Times New Roman" panose="02020603050405020304" pitchFamily="18" charset="0"/>
                <a:cs typeface="Times New Roman" panose="02020603050405020304" pitchFamily="18" charset="0"/>
              </a:rPr>
              <a:t>consideredfor</a:t>
            </a:r>
            <a:r>
              <a:rPr lang="en-US" sz="1400" dirty="0">
                <a:latin typeface="Times New Roman" panose="02020603050405020304" pitchFamily="18" charset="0"/>
                <a:cs typeface="Times New Roman" panose="02020603050405020304" pitchFamily="18" charset="0"/>
              </a:rPr>
              <a:t> transparency purposes. In such a framework, the input document can </a:t>
            </a:r>
            <a:r>
              <a:rPr lang="en-US" sz="1400" dirty="0" err="1">
                <a:latin typeface="Times New Roman" panose="02020603050405020304" pitchFamily="18" charset="0"/>
                <a:cs typeface="Times New Roman" panose="02020603050405020304" pitchFamily="18" charset="0"/>
              </a:rPr>
              <a:t>firstbe</a:t>
            </a:r>
            <a:r>
              <a:rPr lang="en-US" sz="1400" dirty="0">
                <a:latin typeface="Times New Roman" panose="02020603050405020304" pitchFamily="18" charset="0"/>
                <a:cs typeface="Times New Roman" panose="02020603050405020304" pitchFamily="18" charset="0"/>
              </a:rPr>
              <a:t> classified using an LLM, possibly with help from evidentiary </a:t>
            </a:r>
            <a:r>
              <a:rPr lang="en-US" sz="1400" dirty="0" err="1">
                <a:latin typeface="Times New Roman" panose="02020603050405020304" pitchFamily="18" charset="0"/>
                <a:cs typeface="Times New Roman" panose="02020603050405020304" pitchFamily="18" charset="0"/>
              </a:rPr>
              <a:t>mechanisms,followed</a:t>
            </a:r>
            <a:r>
              <a:rPr lang="en-US" sz="1400" dirty="0">
                <a:latin typeface="Times New Roman" panose="02020603050405020304" pitchFamily="18" charset="0"/>
                <a:cs typeface="Times New Roman" panose="02020603050405020304" pitchFamily="18" charset="0"/>
              </a:rPr>
              <a:t> by a layer for generating explanations that are easy to understand </a:t>
            </a:r>
            <a:r>
              <a:rPr lang="en-US" sz="1400" dirty="0" err="1">
                <a:latin typeface="Times New Roman" panose="02020603050405020304" pitchFamily="18" charset="0"/>
                <a:cs typeface="Times New Roman" panose="02020603050405020304" pitchFamily="18" charset="0"/>
              </a:rPr>
              <a:t>forhumans</a:t>
            </a:r>
            <a:r>
              <a:rPr lang="en-US" sz="1400" dirty="0">
                <a:latin typeface="Times New Roman" panose="02020603050405020304" pitchFamily="18" charset="0"/>
                <a:cs typeface="Times New Roman" panose="02020603050405020304" pitchFamily="18" charset="0"/>
              </a:rPr>
              <a:t> about how the model made its predictions. Such a strategy is </a:t>
            </a:r>
            <a:r>
              <a:rPr lang="en-US" sz="1400" dirty="0" err="1">
                <a:latin typeface="Times New Roman" panose="02020603050405020304" pitchFamily="18" charset="0"/>
                <a:cs typeface="Times New Roman" panose="02020603050405020304" pitchFamily="18" charset="0"/>
              </a:rPr>
              <a:t>expectedto</a:t>
            </a:r>
            <a:r>
              <a:rPr lang="en-US" sz="1400" dirty="0">
                <a:latin typeface="Times New Roman" panose="02020603050405020304" pitchFamily="18" charset="0"/>
                <a:cs typeface="Times New Roman" panose="02020603050405020304" pitchFamily="18" charset="0"/>
              </a:rPr>
              <a:t> offer both good accuracy as well as interpretability for human users, such </a:t>
            </a:r>
            <a:r>
              <a:rPr lang="en-US" sz="1400" dirty="0" err="1">
                <a:latin typeface="Times New Roman" panose="02020603050405020304" pitchFamily="18" charset="0"/>
                <a:cs typeface="Times New Roman" panose="02020603050405020304" pitchFamily="18" charset="0"/>
              </a:rPr>
              <a:t>asjournalists</a:t>
            </a:r>
            <a:r>
              <a:rPr lang="en-US" sz="1400" dirty="0">
                <a:latin typeface="Times New Roman" panose="02020603050405020304" pitchFamily="18" charset="0"/>
                <a:cs typeface="Times New Roman" panose="02020603050405020304" pitchFamily="18" charset="0"/>
              </a:rPr>
              <a:t> and fact-checkers. In future, we will focus on the issues related to de-</a:t>
            </a:r>
            <a:r>
              <a:rPr lang="en-US" sz="1400" dirty="0" err="1">
                <a:latin typeface="Times New Roman" panose="02020603050405020304" pitchFamily="18" charset="0"/>
                <a:cs typeface="Times New Roman" panose="02020603050405020304" pitchFamily="18" charset="0"/>
              </a:rPr>
              <a:t>ployment</a:t>
            </a:r>
            <a:r>
              <a:rPr lang="en-US" sz="1400" dirty="0">
                <a:latin typeface="Times New Roman" panose="02020603050405020304" pitchFamily="18" charset="0"/>
                <a:cs typeface="Times New Roman" panose="02020603050405020304" pitchFamily="18" charset="0"/>
              </a:rPr>
              <a:t> in terms of Multilingual Detection, Multi-modal Fake News </a:t>
            </a:r>
            <a:r>
              <a:rPr lang="en-US" sz="1400" dirty="0" err="1">
                <a:latin typeface="Times New Roman" panose="02020603050405020304" pitchFamily="18" charset="0"/>
                <a:cs typeface="Times New Roman" panose="02020603050405020304" pitchFamily="18" charset="0"/>
              </a:rPr>
              <a:t>Analysis,Federated</a:t>
            </a:r>
            <a:r>
              <a:rPr lang="en-US" sz="1400" dirty="0">
                <a:latin typeface="Times New Roman" panose="02020603050405020304" pitchFamily="18" charset="0"/>
                <a:cs typeface="Times New Roman" panose="02020603050405020304" pitchFamily="18" charset="0"/>
              </a:rPr>
              <a:t> Learning, and creating an API.</a:t>
            </a:r>
          </a:p>
        </p:txBody>
      </p:sp>
    </p:spTree>
    <p:extLst>
      <p:ext uri="{BB962C8B-B14F-4D97-AF65-F5344CB8AC3E}">
        <p14:creationId xmlns:p14="http://schemas.microsoft.com/office/powerpoint/2010/main" val="3074416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A326BF-8187-302B-AACE-B66A739E93CA}"/>
              </a:ext>
            </a:extLst>
          </p:cNvPr>
          <p:cNvSpPr txBox="1"/>
          <p:nvPr/>
        </p:nvSpPr>
        <p:spPr>
          <a:xfrm>
            <a:off x="2869403" y="2320409"/>
            <a:ext cx="6450013" cy="400110"/>
          </a:xfrm>
          <a:prstGeom prst="rect">
            <a:avLst/>
          </a:prstGeom>
          <a:noFill/>
        </p:spPr>
        <p:txBody>
          <a:bodyPr wrap="square">
            <a:spAutoFit/>
          </a:bodyPr>
          <a:lstStyle/>
          <a:p>
            <a:r>
              <a:rPr lang="en-US" b="1" u="sng" dirty="0">
                <a:latin typeface="Times New Roman" panose="02020603050405020304" pitchFamily="18" charset="0"/>
                <a:cs typeface="Times New Roman" panose="02020603050405020304" pitchFamily="18" charset="0"/>
              </a:rPr>
              <a:t>CONCLUSION AND </a:t>
            </a:r>
            <a:r>
              <a:rPr lang="en-US" sz="2000" b="1" u="sng" dirty="0">
                <a:latin typeface="Times New Roman" panose="02020603050405020304" pitchFamily="18" charset="0"/>
                <a:cs typeface="Times New Roman" panose="02020603050405020304" pitchFamily="18" charset="0"/>
              </a:rPr>
              <a:t>FUTURE</a:t>
            </a:r>
            <a:r>
              <a:rPr lang="en-US" b="1" u="sng" dirty="0">
                <a:latin typeface="Times New Roman" panose="02020603050405020304" pitchFamily="18" charset="0"/>
                <a:cs typeface="Times New Roman" panose="02020603050405020304" pitchFamily="18" charset="0"/>
              </a:rPr>
              <a:t> RESEARCH DIRECTIONS</a:t>
            </a:r>
          </a:p>
        </p:txBody>
      </p:sp>
      <p:sp>
        <p:nvSpPr>
          <p:cNvPr id="5" name="TextBox 4">
            <a:extLst>
              <a:ext uri="{FF2B5EF4-FFF2-40B4-BE49-F238E27FC236}">
                <a16:creationId xmlns:a16="http://schemas.microsoft.com/office/drawing/2014/main" id="{76673DDD-C80B-7B89-A84E-3FB52C260398}"/>
              </a:ext>
            </a:extLst>
          </p:cNvPr>
          <p:cNvSpPr txBox="1"/>
          <p:nvPr/>
        </p:nvSpPr>
        <p:spPr>
          <a:xfrm>
            <a:off x="917573" y="2951946"/>
            <a:ext cx="10353675" cy="954107"/>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study compares </a:t>
            </a:r>
            <a:r>
              <a:rPr lang="en-US" sz="1400" dirty="0" err="1">
                <a:latin typeface="Times New Roman" panose="02020603050405020304" pitchFamily="18" charset="0"/>
                <a:cs typeface="Times New Roman" panose="02020603050405020304" pitchFamily="18" charset="0"/>
              </a:rPr>
              <a:t>BiLSTM</a:t>
            </a:r>
            <a:r>
              <a:rPr lang="en-US" sz="1400" dirty="0">
                <a:latin typeface="Times New Roman" panose="02020603050405020304" pitchFamily="18" charset="0"/>
                <a:cs typeface="Times New Roman" panose="02020603050405020304" pitchFamily="18" charset="0"/>
              </a:rPr>
              <a:t>, BERT, and </a:t>
            </a:r>
            <a:r>
              <a:rPr lang="en-US" sz="1400" dirty="0" err="1">
                <a:latin typeface="Times New Roman" panose="02020603050405020304" pitchFamily="18" charset="0"/>
                <a:cs typeface="Times New Roman" panose="02020603050405020304" pitchFamily="18" charset="0"/>
              </a:rPr>
              <a:t>BERT+BiLSTM</a:t>
            </a:r>
            <a:r>
              <a:rPr lang="en-US" sz="1400" dirty="0">
                <a:latin typeface="Times New Roman" panose="02020603050405020304" pitchFamily="18" charset="0"/>
                <a:cs typeface="Times New Roman" panose="02020603050405020304" pitchFamily="18" charset="0"/>
              </a:rPr>
              <a:t> models for fake news detection. Experimental results show that BERT achieved the best performance with 95% accuracy and 0.9499 F1-score, while </a:t>
            </a:r>
            <a:r>
              <a:rPr lang="en-US" sz="1400" dirty="0" err="1">
                <a:latin typeface="Times New Roman" panose="02020603050405020304" pitchFamily="18" charset="0"/>
                <a:cs typeface="Times New Roman" panose="02020603050405020304" pitchFamily="18" charset="0"/>
              </a:rPr>
              <a:t>BiLSTM</a:t>
            </a:r>
            <a:r>
              <a:rPr lang="en-US" sz="1400" dirty="0">
                <a:latin typeface="Times New Roman" panose="02020603050405020304" pitchFamily="18" charset="0"/>
                <a:cs typeface="Times New Roman" panose="02020603050405020304" pitchFamily="18" charset="0"/>
              </a:rPr>
              <a:t> performed poorly. The hybrid </a:t>
            </a:r>
            <a:r>
              <a:rPr lang="en-US" sz="1400" dirty="0" err="1">
                <a:latin typeface="Times New Roman" panose="02020603050405020304" pitchFamily="18" charset="0"/>
                <a:cs typeface="Times New Roman" panose="02020603050405020304" pitchFamily="18" charset="0"/>
              </a:rPr>
              <a:t>BERT+BiLSTM</a:t>
            </a:r>
            <a:r>
              <a:rPr lang="en-US" sz="1400" dirty="0">
                <a:latin typeface="Times New Roman" panose="02020603050405020304" pitchFamily="18" charset="0"/>
                <a:cs typeface="Times New Roman" panose="02020603050405020304" pitchFamily="18" charset="0"/>
              </a:rPr>
              <a:t> model did not provide significant improvement over BERT alone. Therefore, BERT is considered the most effective and efficient model for fake news classification. Future work may include LLMs, explainable AI (XAI), multilingual support, multimodal detection, and federated learning.</a:t>
            </a:r>
          </a:p>
        </p:txBody>
      </p:sp>
    </p:spTree>
    <p:extLst>
      <p:ext uri="{BB962C8B-B14F-4D97-AF65-F5344CB8AC3E}">
        <p14:creationId xmlns:p14="http://schemas.microsoft.com/office/powerpoint/2010/main" val="2983857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c58536ff43_0_65"/>
          <p:cNvSpPr txBox="1"/>
          <p:nvPr/>
        </p:nvSpPr>
        <p:spPr>
          <a:xfrm>
            <a:off x="4298075" y="2905650"/>
            <a:ext cx="35928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5600">
                <a:solidFill>
                  <a:schemeClr val="dk1"/>
                </a:solidFill>
                <a:latin typeface="Pacifico"/>
                <a:ea typeface="Pacifico"/>
                <a:cs typeface="Pacifico"/>
                <a:sym typeface="Pacifico"/>
              </a:rPr>
              <a:t>Thank You</a:t>
            </a:r>
            <a:endParaRPr sz="5600">
              <a:solidFill>
                <a:schemeClr val="dk1"/>
              </a:solidFill>
              <a:latin typeface="Pacifico"/>
              <a:ea typeface="Pacifico"/>
              <a:cs typeface="Pacifico"/>
              <a:sym typeface="Pacifico"/>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0</TotalTime>
  <Words>2530</Words>
  <Application>Microsoft Office PowerPoint</Application>
  <PresentationFormat>Custom</PresentationFormat>
  <Paragraphs>281</Paragraphs>
  <Slides>18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Times New Roman</vt:lpstr>
      <vt:lpstr>Calibri</vt:lpstr>
      <vt:lpstr>Cambria Math</vt:lpstr>
      <vt:lpstr>Arial</vt:lpstr>
      <vt:lpstr>Garamond</vt:lpstr>
      <vt:lpstr>Pacifico</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OVERVIEW OF THE PROPOSED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ARKNOX</dc:creator>
  <cp:lastModifiedBy>ARKNOX</cp:lastModifiedBy>
  <cp:revision>3</cp:revision>
  <dcterms:created xsi:type="dcterms:W3CDTF">2013-01-27T09:14:16Z</dcterms:created>
  <dcterms:modified xsi:type="dcterms:W3CDTF">2026-05-09T22:02:32Z</dcterms:modified>
</cp:coreProperties>
</file>